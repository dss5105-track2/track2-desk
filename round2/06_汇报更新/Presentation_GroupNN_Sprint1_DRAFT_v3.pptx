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s] Good evening, we are Group NN. Our project is the Subcontracting Desk: it turns the chat message that sends a batch to an outside workshop into a verified, recorded decision.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 Today that decision is a chat message. Behind it are three questions: can the workshop make this product, can it take the batch now, is it allowed to? Get one wrong and the batch bounces back a day later; in a ten-day cycle that is the margin gone. So the desk reads the chat, decides on numbers, and leaves a record. The value: a verified recommendation for the dispatcher, fewer late batches for the factory, a date the customer can rely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 The language model only reads: order, pieces, date, constraint. Then code takes over, with three mechanisms. One, the text decides: every extracted value is checked against the message, and anything the message does not contain is dropped. Two, eligibility before ranking: three hard checks, then two dates per eligible shop, expected and if reworked, and only then a ranking by the objective. Three, traced, then booked: every number in the explanation comes from a tool output, and nothing is booked until the dispatcher confirms. The bottom row is one real message going through: the standing constraint recorded, four shops eligible, GiantWeave on time, a day late if reworked; the dispatcher sees both dates.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Our primary objective is to minimise late deliveries: the share of batches returned after their due date. Three reasons. Relevant: the due date is the one constraint every order carries, and quick response exists to protect it. Measurable: the simulator records when every batch returns. Controllable: lateness depends on queue, capacity and transport, exactly what the choice of workshop changes. The other objectives stay: defects and fairness as switchable settings, one hybrid, and robustness under the shock scenario. And we declare our tie-break up front: equal lateness, shorter turnaround.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 The loop runs end to end, and the first results are in. In simulation, on the official 120 orders, random allocation is 34 percent late. Our lateness setting is 1.7 percent, the same as a simple earliest-finish rule with no language model; we do not hide that tie. On 200 fresh order books the simple rule never saw, we are ahead: 0.9 against 1.7 percent, better on 72 of 100 sets. Where the simple rule still wins: it is a day faster, and it edges us in the shock run by one batch in ten. Beyond the allocator: 56 tests pass, every number in every reply traces to a tool output, all six of us labelled the 30 messages and froze the labels, and we measured the language model before trusting it: GPT-5 mini now reads all 30 official and 38 new messages right; the cheapest model started at 86.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Three risks. No clean language test yet: the 30 messages were used in development, the 38 new ones are AI-written; so four teammates who never touch the prompt are writing a held-out inbox, answers frozen before the first run. The simulator is kinder than reality: a seven-day week, and the estimator does not know when a workshop closes; we report a Sunday variant and will add closed-workshop detection. And our policy is not optimal: a hindsight search reaches zero late, but a dispatcher cannot see future orders. Our assumptions are on the bottom line.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Next: the held-out inbox, frozen before the first run. Closed-workshop detection, so the system notices a stuck queue. A user test with students from other groups, a public demo, and an evaluation draft with ten failure cases. Our criteria: under 2 percent late on the official orders, normal and shock; fewer late batches than the simple rule on fresh data; 90 percent right behaviour on the held-out inbox; and every promised rework date kept. Thank you.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full results table, seeds 5105 to 5114.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every request, coloured by the desk's decision.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behaviour accuracy by parser, before and after.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two dates per promise; Sundays off.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late batches, simple rule against ours, on the official orders and four kinds of data the rule was never shaped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use_slack against the earliest-finish tie-break, paired on the same data and seeds.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B3A"/>
        </a:solidFill>
        <a:effectLst/>
      </p:bgPr>
    </p:bg>
    <p:spTree>
      <p:nvGrpSpPr>
        <p:cNvPr id="1" name=""/>
        <p:cNvGrpSpPr/>
        <p:nvPr/>
      </p:nvGrpSpPr>
      <p:grpSpPr/>
      <p:sp>
        <p:nvSpPr>
          <p:cNvPr id="2" name="Eyebrow"/>
          <p:cNvSpPr txBox="1"/>
          <p:nvPr/>
        </p:nvSpPr>
        <p:spPr>
          <a:xfrm>
            <a:off x="731520" y="1051560"/>
            <a:ext cx="6583680" cy="320040"/>
          </a:xfrm>
          <a:prstGeom prst="rect">
            <a:avLst/>
          </a:prstGeom>
          <a:noFill/>
        </p:spPr>
        <p:txBody>
          <a:bodyPr wrap="square" lIns="0" rIns="0" tIns="0" bIns="0" anchor="t">
            <a:noAutofit/>
          </a:bodyPr>
          <a:lstStyle/>
          <a:p>
            <a:pPr algn="l">
              <a:lnSpc>
                <a:spcPct val="100000"/>
              </a:lnSpc>
              <a:spcBef>
                <a:spcPts val="0"/>
              </a:spcBef>
              <a:spcAft>
                <a:spcPts val="0"/>
              </a:spcAft>
            </a:pPr>
            <a:r>
              <a:rPr sz="1300" b="1" i="0">
                <a:solidFill>
                  <a:srgbClr val="AFC3D1"/>
                </a:solidFill>
                <a:latin typeface="Calibri"/>
              </a:rPr>
              <a:t>DSS5105 CAPSTONE  ·  TRACK 2  ·  SPRINT 1</a:t>
            </a:r>
          </a:p>
        </p:txBody>
      </p:sp>
      <p:sp>
        <p:nvSpPr>
          <p:cNvPr id="3" name="Title"/>
          <p:cNvSpPr txBox="1"/>
          <p:nvPr/>
        </p:nvSpPr>
        <p:spPr>
          <a:xfrm>
            <a:off x="731520" y="1554480"/>
            <a:ext cx="6766560" cy="914400"/>
          </a:xfrm>
          <a:prstGeom prst="rect">
            <a:avLst/>
          </a:prstGeom>
          <a:noFill/>
        </p:spPr>
        <p:txBody>
          <a:bodyPr wrap="square" lIns="0" rIns="0" tIns="0" bIns="0" anchor="t">
            <a:noAutofit/>
          </a:bodyPr>
          <a:lstStyle/>
          <a:p>
            <a:pPr algn="l">
              <a:lnSpc>
                <a:spcPct val="100000"/>
              </a:lnSpc>
              <a:spcBef>
                <a:spcPts val="0"/>
              </a:spcBef>
              <a:spcAft>
                <a:spcPts val="0"/>
              </a:spcAft>
            </a:pPr>
            <a:r>
              <a:rPr sz="4800" b="1" i="0">
                <a:solidFill>
                  <a:srgbClr val="FFFFFF"/>
                </a:solidFill>
                <a:latin typeface="Cambria"/>
              </a:rPr>
              <a:t>Subcontracting Desk</a:t>
            </a:r>
          </a:p>
        </p:txBody>
      </p:sp>
      <p:sp>
        <p:nvSpPr>
          <p:cNvPr id="4" name="Subtitle"/>
          <p:cNvSpPr txBox="1"/>
          <p:nvPr/>
        </p:nvSpPr>
        <p:spPr>
          <a:xfrm>
            <a:off x="731520" y="2606040"/>
            <a:ext cx="6400800" cy="1188720"/>
          </a:xfrm>
          <a:prstGeom prst="rect">
            <a:avLst/>
          </a:prstGeom>
          <a:noFill/>
        </p:spPr>
        <p:txBody>
          <a:bodyPr wrap="square" lIns="0" rIns="0" tIns="0" bIns="0" anchor="t">
            <a:noAutofit/>
          </a:bodyPr>
          <a:lstStyle/>
          <a:p>
            <a:pPr algn="l">
              <a:lnSpc>
                <a:spcPct val="100000"/>
              </a:lnSpc>
              <a:spcBef>
                <a:spcPts val="0"/>
              </a:spcBef>
              <a:spcAft>
                <a:spcPts val="0"/>
              </a:spcAft>
            </a:pPr>
            <a:r>
              <a:rPr sz="2200" b="0" i="0">
                <a:solidFill>
                  <a:srgbClr val="CADCFC"/>
                </a:solidFill>
                <a:latin typeface="Calibri"/>
              </a:rPr>
              <a:t>From informal chat decisions</a:t>
            </a:r>
            <a:br/>
            <a:r>
              <a:rPr sz="2200" b="0" i="0">
                <a:solidFill>
                  <a:srgbClr val="CADCFC"/>
                </a:solidFill>
                <a:latin typeface="Calibri"/>
              </a:rPr>
              <a:t>to verified, accountable outsourcing dispatch</a:t>
            </a:r>
          </a:p>
        </p:txBody>
      </p:sp>
      <p:sp>
        <p:nvSpPr>
          <p:cNvPr id="5" name="Team"/>
          <p:cNvSpPr txBox="1"/>
          <p:nvPr/>
        </p:nvSpPr>
        <p:spPr>
          <a:xfrm>
            <a:off x="731520" y="4343400"/>
            <a:ext cx="6675120" cy="1737360"/>
          </a:xfrm>
          <a:prstGeom prst="rect">
            <a:avLst/>
          </a:prstGeom>
          <a:noFill/>
        </p:spPr>
        <p:txBody>
          <a:bodyPr wrap="square" lIns="0" rIns="0" tIns="0" bIns="0" anchor="t">
            <a:noAutofit/>
          </a:bodyPr>
          <a:lstStyle/>
          <a:p>
            <a:pPr algn="l">
              <a:lnSpc>
                <a:spcPct val="100000"/>
              </a:lnSpc>
              <a:spcBef>
                <a:spcPts val="0"/>
              </a:spcBef>
              <a:spcAft>
                <a:spcPts val="600"/>
              </a:spcAft>
            </a:pPr>
            <a:r>
              <a:rPr sz="1700" b="1" i="0">
                <a:solidFill>
                  <a:srgbClr val="FFFFFF"/>
                </a:solidFill>
                <a:latin typeface="Calibri"/>
              </a:rPr>
              <a:t>Group NN</a:t>
            </a:r>
          </a:p>
          <a:p>
            <a:pPr algn="l">
              <a:lnSpc>
                <a:spcPct val="100000"/>
              </a:lnSpc>
              <a:spcBef>
                <a:spcPts val="0"/>
              </a:spcBef>
              <a:spcAft>
                <a:spcPts val="300"/>
              </a:spcAft>
            </a:pPr>
            <a:r>
              <a:rPr sz="1400" b="0" i="0">
                <a:solidFill>
                  <a:srgbClr val="CADCFC"/>
                </a:solidFill>
                <a:latin typeface="Calibri"/>
              </a:rPr>
              <a:t>屈妍玥 Qu Yanyue  ·  张锦若 Zhang Jinruo  ·  吴杰 Wu Jie</a:t>
            </a:r>
          </a:p>
          <a:p>
            <a:pPr algn="l">
              <a:lnSpc>
                <a:spcPct val="100000"/>
              </a:lnSpc>
              <a:spcBef>
                <a:spcPts val="0"/>
              </a:spcBef>
              <a:spcAft>
                <a:spcPts val="1000"/>
              </a:spcAft>
            </a:pPr>
            <a:r>
              <a:rPr sz="1400" b="0" i="0">
                <a:solidFill>
                  <a:srgbClr val="CADCFC"/>
                </a:solidFill>
                <a:latin typeface="Calibri"/>
              </a:rPr>
              <a:t>李岩 Li Yan  ·  吴若晗 Wu Ruohan  ·  许佩瑶 Xu Peiyao</a:t>
            </a:r>
          </a:p>
          <a:p>
            <a:pPr algn="l">
              <a:lnSpc>
                <a:spcPct val="100000"/>
              </a:lnSpc>
              <a:spcBef>
                <a:spcPts val="0"/>
              </a:spcBef>
              <a:spcAft>
                <a:spcPts val="0"/>
              </a:spcAft>
            </a:pPr>
            <a:r>
              <a:rPr sz="1300" b="0" i="0">
                <a:solidFill>
                  <a:srgbClr val="AFC3D1"/>
                </a:solidFill>
                <a:latin typeface="Calibri"/>
              </a:rPr>
              <a:t>github.com/dss5105-track2/track2-desk   ·   16 October 2026</a:t>
            </a:r>
          </a:p>
        </p:txBody>
      </p:sp>
      <p:sp>
        <p:nvSpPr>
          <p:cNvPr id="6" name="Chat bubble"/>
          <p:cNvSpPr/>
          <p:nvPr/>
        </p:nvSpPr>
        <p:spPr>
          <a:xfrm>
            <a:off x="7726679" y="1325880"/>
            <a:ext cx="3931920" cy="1417320"/>
          </a:xfrm>
          <a:prstGeom prst="roundRect">
            <a:avLst>
              <a:gd name="adj" fmla="val 9032"/>
            </a:avLst>
          </a:prstGeom>
          <a:solidFill>
            <a:srgbClr val="1639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0" bIns="0">
            <a:noAutofit/>
          </a:bodyPr>
          <a:lstStyle/>
          <a:p>
            <a:pPr algn="l">
              <a:lnSpc>
                <a:spcPct val="100000"/>
              </a:lnSpc>
              <a:spcBef>
                <a:spcPts val="0"/>
              </a:spcBef>
              <a:spcAft>
                <a:spcPts val="600"/>
              </a:spcAft>
            </a:pPr>
            <a:r>
              <a:rPr sz="1100" b="1" i="0">
                <a:solidFill>
                  <a:srgbClr val="AFC3D1"/>
                </a:solidFill>
                <a:latin typeface="Calibri"/>
              </a:rPr>
              <a:t>THE CHAT MESSAGE</a:t>
            </a:r>
          </a:p>
          <a:p>
            <a:pPr algn="l">
              <a:lnSpc>
                <a:spcPct val="100000"/>
              </a:lnSpc>
              <a:spcBef>
                <a:spcPts val="0"/>
              </a:spcBef>
              <a:spcAft>
                <a:spcPts val="0"/>
              </a:spcAft>
            </a:pPr>
            <a:r>
              <a:rPr sz="1700" b="0" i="1">
                <a:solidFill>
                  <a:srgbClr val="FFFFFF"/>
                </a:solidFill>
                <a:latin typeface="Calibri"/>
              </a:rPr>
              <a:t>“Send it to QuickStitch, need it back by the 19th.”</a:t>
            </a:r>
          </a:p>
        </p:txBody>
      </p:sp>
      <p:cxnSp>
        <p:nvCxnSpPr>
          <p:cNvPr id="7" name="Arrow"/>
          <p:cNvCxnSpPr/>
          <p:nvPr/>
        </p:nvCxnSpPr>
        <p:spPr>
          <a:xfrm>
            <a:off x="9692640" y="2852928"/>
            <a:ext cx="0" cy="548640"/>
          </a:xfrm>
          <a:prstGeom prst="line">
            <a:avLst/>
          </a:prstGeom>
          <a:ln w="25400">
            <a:solidFill>
              <a:srgbClr val="AFC3D1"/>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Answer card"/>
          <p:cNvSpPr/>
          <p:nvPr/>
        </p:nvSpPr>
        <p:spPr>
          <a:xfrm>
            <a:off x="7726679" y="3474720"/>
            <a:ext cx="3931920" cy="2514600"/>
          </a:xfrm>
          <a:prstGeom prst="roundRect">
            <a:avLst>
              <a:gd name="adj" fmla="val 509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0" bIns="0">
            <a:noAutofit/>
          </a:bodyPr>
          <a:lstStyle/>
          <a:p>
            <a:pPr algn="l">
              <a:lnSpc>
                <a:spcPct val="100000"/>
              </a:lnSpc>
              <a:spcBef>
                <a:spcPts val="0"/>
              </a:spcBef>
              <a:spcAft>
                <a:spcPts val="600"/>
              </a:spcAft>
            </a:pPr>
            <a:r>
              <a:rPr sz="1100" b="1" i="0">
                <a:solidFill>
                  <a:srgbClr val="52606B"/>
                </a:solidFill>
                <a:latin typeface="Calibri"/>
              </a:rPr>
              <a:t>THE DESK'S ANSWER</a:t>
            </a:r>
          </a:p>
          <a:p>
            <a:pPr algn="l">
              <a:lnSpc>
                <a:spcPct val="100000"/>
              </a:lnSpc>
              <a:spcBef>
                <a:spcPts val="0"/>
              </a:spcBef>
              <a:spcAft>
                <a:spcPts val="200"/>
              </a:spcAft>
            </a:pPr>
            <a:r>
              <a:rPr sz="2400" b="1" i="0">
                <a:solidFill>
                  <a:srgbClr val="14232E"/>
                </a:solidFill>
                <a:latin typeface="Calibri"/>
              </a:rPr>
              <a:t>GiantWeave</a:t>
            </a:r>
          </a:p>
          <a:p>
            <a:pPr algn="l">
              <a:lnSpc>
                <a:spcPct val="100000"/>
              </a:lnSpc>
              <a:spcBef>
                <a:spcPts val="0"/>
              </a:spcBef>
              <a:spcAft>
                <a:spcPts val="800"/>
              </a:spcAft>
            </a:pPr>
            <a:r>
              <a:rPr sz="1450" b="0" i="0">
                <a:solidFill>
                  <a:srgbClr val="14232E"/>
                </a:solidFill>
                <a:latin typeface="Calibri"/>
              </a:rPr>
              <a:t>back Fri 10 Apr, on time  ·  Sat 11 Apr if reworked</a:t>
            </a:r>
          </a:p>
          <a:p>
            <a:pPr algn="l">
              <a:lnSpc>
                <a:spcPct val="100000"/>
              </a:lnSpc>
              <a:spcBef>
                <a:spcPts val="0"/>
              </a:spcBef>
              <a:spcAft>
                <a:spcPts val="300"/>
              </a:spcAft>
            </a:pPr>
            <a:r>
              <a:rPr sz="1300" b="0" i="0">
                <a:solidFill>
                  <a:srgbClr val="52606B"/>
                </a:solidFill>
                <a:latin typeface="Calibri"/>
              </a:rPr>
              <a:t>QuickStitch not considered: excluded by Boss</a:t>
            </a:r>
          </a:p>
          <a:p>
            <a:pPr algn="l">
              <a:lnSpc>
                <a:spcPct val="100000"/>
              </a:lnSpc>
              <a:spcBef>
                <a:spcPts val="0"/>
              </a:spcBef>
              <a:spcAft>
                <a:spcPts val="0"/>
              </a:spcAft>
            </a:pPr>
            <a:r>
              <a:rPr sz="1300" b="0" i="0">
                <a:solidFill>
                  <a:srgbClr val="52606B"/>
                </a:solidFill>
                <a:latin typeface="Calibri"/>
              </a:rPr>
              <a:t>Every number traced to a tool output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94415" cy="1188720"/>
          </a:xfrm>
          <a:prstGeom prst="rect">
            <a:avLst/>
          </a:prstGeom>
          <a:noFill/>
        </p:spPr>
        <p:txBody>
          <a:bodyPr wrap="square" lIns="0" rIns="0" tIns="0" bIns="0" anchor="t">
            <a:noAutofit/>
          </a:bodyPr>
          <a:lstStyle/>
          <a:p>
            <a:pPr algn="l">
              <a:lnSpc>
                <a:spcPct val="98000"/>
              </a:lnSpc>
              <a:spcBef>
                <a:spcPts val="0"/>
              </a:spcBef>
              <a:spcAft>
                <a:spcPts val="0"/>
              </a:spcAft>
            </a:pPr>
            <a:r>
              <a:rPr sz="3400" b="1" i="0">
                <a:solidFill>
                  <a:srgbClr val="14232E"/>
                </a:solidFill>
                <a:latin typeface="Cambria"/>
              </a:rPr>
              <a:t>A batch goes outside on one chat message, unchecked and unrecorded</a:t>
            </a:r>
          </a:p>
        </p:txBody>
      </p:sp>
      <p:sp>
        <p:nvSpPr>
          <p:cNvPr id="3" name="Footer"/>
          <p:cNvSpPr txBox="1"/>
          <p:nvPr/>
        </p:nvSpPr>
        <p:spPr>
          <a:xfrm>
            <a:off x="548640" y="6446520"/>
            <a:ext cx="82296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2606B"/>
                </a:solidFill>
                <a:latin typeface="Calibri"/>
              </a:rPr>
              <a:t>DSS5105 Capstone  ·  Track 2  ·  Subcontracting Desk  ·  Sprint 1</a:t>
            </a:r>
          </a:p>
        </p:txBody>
      </p:sp>
      <p:sp>
        <p:nvSpPr>
          <p:cNvPr id="4" name="Slide number"/>
          <p:cNvSpPr txBox="1"/>
          <p:nvPr/>
        </p:nvSpPr>
        <p:spPr>
          <a:xfrm>
            <a:off x="10728655" y="6446520"/>
            <a:ext cx="9144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2606B"/>
                </a:solidFill>
                <a:latin typeface="Calibri"/>
              </a:rPr>
              <a:t>1</a:t>
            </a:r>
          </a:p>
        </p:txBody>
      </p:sp>
      <p:sp>
        <p:nvSpPr>
          <p:cNvPr id="5" name="Label"/>
          <p:cNvSpPr txBox="1"/>
          <p:nvPr/>
        </p:nvSpPr>
        <p:spPr>
          <a:xfrm>
            <a:off x="548640" y="1783080"/>
            <a:ext cx="27432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52606B"/>
                </a:solidFill>
                <a:latin typeface="Calibri"/>
              </a:rPr>
              <a:t>TODAY</a:t>
            </a:r>
          </a:p>
        </p:txBody>
      </p:sp>
      <p:sp>
        <p:nvSpPr>
          <p:cNvPr id="6" name="Chat bubble"/>
          <p:cNvSpPr/>
          <p:nvPr/>
        </p:nvSpPr>
        <p:spPr>
          <a:xfrm>
            <a:off x="548640" y="2084831"/>
            <a:ext cx="5394960" cy="868680"/>
          </a:xfrm>
          <a:prstGeom prst="roundRect">
            <a:avLst>
              <a:gd name="adj" fmla="val 14736"/>
            </a:avLst>
          </a:prstGeom>
          <a:solidFill>
            <a:srgbClr val="EF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0" bIns="0">
            <a:noAutofit/>
          </a:bodyPr>
          <a:lstStyle/>
          <a:p>
            <a:pPr algn="l">
              <a:lnSpc>
                <a:spcPct val="100000"/>
              </a:lnSpc>
              <a:spcBef>
                <a:spcPts val="0"/>
              </a:spcBef>
              <a:spcAft>
                <a:spcPts val="0"/>
              </a:spcAft>
            </a:pPr>
            <a:r>
              <a:rPr sz="1500" b="0" i="1">
                <a:solidFill>
                  <a:srgbClr val="14232E"/>
                </a:solidFill>
                <a:latin typeface="Calibri"/>
              </a:rPr>
              <a:t>“@Chen — order 042, 1,500 crewnecks. Send it to QuickStitch, need it back by the 19th.”</a:t>
            </a:r>
          </a:p>
        </p:txBody>
      </p:sp>
      <p:sp>
        <p:nvSpPr>
          <p:cNvPr id="7" name="Badge"/>
          <p:cNvSpPr/>
          <p:nvPr/>
        </p:nvSpPr>
        <p:spPr>
          <a:xfrm>
            <a:off x="548640" y="3154679"/>
            <a:ext cx="384048" cy="3840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spcBef>
                <a:spcPts val="0"/>
              </a:spcBef>
              <a:spcAft>
                <a:spcPts val="0"/>
              </a:spcAft>
            </a:pPr>
            <a:r>
              <a:rPr sz="1400" b="1" i="0">
                <a:solidFill>
                  <a:srgbClr val="FFFFFF"/>
                </a:solidFill>
                <a:latin typeface="Calibri"/>
              </a:rPr>
              <a:t>1</a:t>
            </a:r>
          </a:p>
        </p:txBody>
      </p:sp>
      <p:sp>
        <p:nvSpPr>
          <p:cNvPr id="8" name="Question 1"/>
          <p:cNvSpPr txBox="1"/>
          <p:nvPr/>
        </p:nvSpPr>
        <p:spPr>
          <a:xfrm>
            <a:off x="1097280" y="3127248"/>
            <a:ext cx="4846320" cy="603504"/>
          </a:xfrm>
          <a:prstGeom prst="rect">
            <a:avLst/>
          </a:prstGeom>
          <a:noFill/>
        </p:spPr>
        <p:txBody>
          <a:bodyPr wrap="square" lIns="0" rIns="0" tIns="0" bIns="0" anchor="t">
            <a:noAutofit/>
          </a:bodyPr>
          <a:lstStyle/>
          <a:p>
            <a:pPr algn="l">
              <a:lnSpc>
                <a:spcPct val="100000"/>
              </a:lnSpc>
              <a:spcBef>
                <a:spcPts val="0"/>
              </a:spcBef>
              <a:spcAft>
                <a:spcPts val="0"/>
              </a:spcAft>
            </a:pPr>
            <a:r>
              <a:rPr sz="1400" b="1" i="0">
                <a:solidFill>
                  <a:srgbClr val="14232E"/>
                </a:solidFill>
                <a:latin typeface="Calibri"/>
              </a:rPr>
              <a:t>Can they make it? </a:t>
            </a:r>
            <a:r>
              <a:rPr sz="1400" b="0" i="0">
                <a:solidFill>
                  <a:srgbClr val="14232E"/>
                </a:solidFill>
                <a:latin typeface="Calibri"/>
              </a:rPr>
              <a:t>Not every workshop makes every product.</a:t>
            </a:r>
          </a:p>
        </p:txBody>
      </p:sp>
      <p:sp>
        <p:nvSpPr>
          <p:cNvPr id="9" name="Badge"/>
          <p:cNvSpPr/>
          <p:nvPr/>
        </p:nvSpPr>
        <p:spPr>
          <a:xfrm>
            <a:off x="548640" y="3813048"/>
            <a:ext cx="384048" cy="3840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spcBef>
                <a:spcPts val="0"/>
              </a:spcBef>
              <a:spcAft>
                <a:spcPts val="0"/>
              </a:spcAft>
            </a:pPr>
            <a:r>
              <a:rPr sz="1400" b="1" i="0">
                <a:solidFill>
                  <a:srgbClr val="FFFFFF"/>
                </a:solidFill>
                <a:latin typeface="Calibri"/>
              </a:rPr>
              <a:t>2</a:t>
            </a:r>
          </a:p>
        </p:txBody>
      </p:sp>
      <p:sp>
        <p:nvSpPr>
          <p:cNvPr id="10" name="Question 2"/>
          <p:cNvSpPr txBox="1"/>
          <p:nvPr/>
        </p:nvSpPr>
        <p:spPr>
          <a:xfrm>
            <a:off x="1097280" y="3785615"/>
            <a:ext cx="4846320" cy="603504"/>
          </a:xfrm>
          <a:prstGeom prst="rect">
            <a:avLst/>
          </a:prstGeom>
          <a:noFill/>
        </p:spPr>
        <p:txBody>
          <a:bodyPr wrap="square" lIns="0" rIns="0" tIns="0" bIns="0" anchor="t">
            <a:noAutofit/>
          </a:bodyPr>
          <a:lstStyle/>
          <a:p>
            <a:pPr algn="l">
              <a:lnSpc>
                <a:spcPct val="100000"/>
              </a:lnSpc>
              <a:spcBef>
                <a:spcPts val="0"/>
              </a:spcBef>
              <a:spcAft>
                <a:spcPts val="0"/>
              </a:spcAft>
            </a:pPr>
            <a:r>
              <a:rPr sz="1400" b="1" i="0">
                <a:solidFill>
                  <a:srgbClr val="14232E"/>
                </a:solidFill>
                <a:latin typeface="Calibri"/>
              </a:rPr>
              <a:t>Can they take it now? </a:t>
            </a:r>
            <a:r>
              <a:rPr sz="1400" b="0" i="0">
                <a:solidFill>
                  <a:srgbClr val="14232E"/>
                </a:solidFill>
                <a:latin typeface="Calibri"/>
              </a:rPr>
              <a:t>A fast shop with a 3-day queue is not fast today.</a:t>
            </a:r>
          </a:p>
        </p:txBody>
      </p:sp>
      <p:sp>
        <p:nvSpPr>
          <p:cNvPr id="11" name="Badge"/>
          <p:cNvSpPr/>
          <p:nvPr/>
        </p:nvSpPr>
        <p:spPr>
          <a:xfrm>
            <a:off x="548640" y="4471416"/>
            <a:ext cx="384048" cy="3840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spcBef>
                <a:spcPts val="0"/>
              </a:spcBef>
              <a:spcAft>
                <a:spcPts val="0"/>
              </a:spcAft>
            </a:pPr>
            <a:r>
              <a:rPr sz="1400" b="1" i="0">
                <a:solidFill>
                  <a:srgbClr val="FFFFFF"/>
                </a:solidFill>
                <a:latin typeface="Calibri"/>
              </a:rPr>
              <a:t>3</a:t>
            </a:r>
          </a:p>
        </p:txBody>
      </p:sp>
      <p:sp>
        <p:nvSpPr>
          <p:cNvPr id="12" name="Question 3"/>
          <p:cNvSpPr txBox="1"/>
          <p:nvPr/>
        </p:nvSpPr>
        <p:spPr>
          <a:xfrm>
            <a:off x="1097280" y="4443983"/>
            <a:ext cx="4846320" cy="603504"/>
          </a:xfrm>
          <a:prstGeom prst="rect">
            <a:avLst/>
          </a:prstGeom>
          <a:noFill/>
        </p:spPr>
        <p:txBody>
          <a:bodyPr wrap="square" lIns="0" rIns="0" tIns="0" bIns="0" anchor="t">
            <a:noAutofit/>
          </a:bodyPr>
          <a:lstStyle/>
          <a:p>
            <a:pPr algn="l">
              <a:lnSpc>
                <a:spcPct val="100000"/>
              </a:lnSpc>
              <a:spcBef>
                <a:spcPts val="0"/>
              </a:spcBef>
              <a:spcAft>
                <a:spcPts val="0"/>
              </a:spcAft>
            </a:pPr>
            <a:r>
              <a:rPr sz="1400" b="1" i="0">
                <a:solidFill>
                  <a:srgbClr val="14232E"/>
                </a:solidFill>
                <a:latin typeface="Calibri"/>
              </a:rPr>
              <a:t>Are they allowed to? </a:t>
            </a:r>
            <a:r>
              <a:rPr sz="1400" b="0" i="0">
                <a:solidFill>
                  <a:srgbClr val="14232E"/>
                </a:solidFill>
                <a:latin typeface="Calibri"/>
              </a:rPr>
              <a:t>One shop is suspended after an audit; one is on trial, small batches only.</a:t>
            </a:r>
          </a:p>
        </p:txBody>
      </p:sp>
      <p:sp>
        <p:nvSpPr>
          <p:cNvPr id="13" name="Cost of error"/>
          <p:cNvSpPr txBox="1"/>
          <p:nvPr/>
        </p:nvSpPr>
        <p:spPr>
          <a:xfrm>
            <a:off x="548640" y="5138928"/>
            <a:ext cx="5394960" cy="502920"/>
          </a:xfrm>
          <a:prstGeom prst="rect">
            <a:avLst/>
          </a:prstGeom>
          <a:noFill/>
        </p:spPr>
        <p:txBody>
          <a:bodyPr wrap="square" lIns="0" rIns="0" tIns="0" bIns="0" anchor="t">
            <a:noAutofit/>
          </a:bodyPr>
          <a:lstStyle/>
          <a:p>
            <a:pPr algn="l">
              <a:lnSpc>
                <a:spcPct val="100000"/>
              </a:lnSpc>
              <a:spcBef>
                <a:spcPts val="0"/>
              </a:spcBef>
              <a:spcAft>
                <a:spcPts val="0"/>
              </a:spcAft>
            </a:pPr>
            <a:r>
              <a:rPr sz="1250" b="0" i="1">
                <a:solidFill>
                  <a:srgbClr val="52606B"/>
                </a:solidFill>
                <a:latin typeface="Calibri"/>
              </a:rPr>
              <a:t>Get one wrong and the batch bounces back a day later. In a ten-day cycle that is the margin gone.</a:t>
            </a:r>
          </a:p>
        </p:txBody>
      </p:sp>
      <p:sp>
        <p:nvSpPr>
          <p:cNvPr id="14" name="Decision"/>
          <p:cNvSpPr/>
          <p:nvPr/>
        </p:nvSpPr>
        <p:spPr>
          <a:xfrm>
            <a:off x="548640" y="5669280"/>
            <a:ext cx="5394960" cy="658368"/>
          </a:xfrm>
          <a:prstGeom prst="roundRect">
            <a:avLst>
              <a:gd name="adj" fmla="val 16666"/>
            </a:avLst>
          </a:prstGeom>
          <a:solidFill>
            <a:srgbClr val="E6F0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noAutofit/>
          </a:bodyPr>
          <a:lstStyle/>
          <a:p>
            <a:pPr algn="l">
              <a:lnSpc>
                <a:spcPct val="100000"/>
              </a:lnSpc>
              <a:spcBef>
                <a:spcPts val="0"/>
              </a:spcBef>
              <a:spcAft>
                <a:spcPts val="0"/>
              </a:spcAft>
            </a:pPr>
            <a:r>
              <a:rPr sz="1350" b="1" i="0">
                <a:solidFill>
                  <a:srgbClr val="1C5CAB"/>
                </a:solidFill>
                <a:latin typeface="Calibri"/>
              </a:rPr>
              <a:t>The decision: </a:t>
            </a:r>
            <a:r>
              <a:rPr sz="1350" b="0" i="0">
                <a:solidFill>
                  <a:srgbClr val="14232E"/>
                </a:solidFill>
                <a:latin typeface="Calibri"/>
              </a:rPr>
              <a:t>which eligible workshop, with capacity, returns the batch by its due date — and why.</a:t>
            </a:r>
          </a:p>
        </p:txBody>
      </p:sp>
      <p:sp>
        <p:nvSpPr>
          <p:cNvPr id="15" name="Label"/>
          <p:cNvSpPr txBox="1"/>
          <p:nvPr/>
        </p:nvSpPr>
        <p:spPr>
          <a:xfrm>
            <a:off x="6309360" y="1783080"/>
            <a:ext cx="45720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2A78D6"/>
                </a:solidFill>
                <a:latin typeface="Calibri"/>
              </a:rPr>
              <a:t>WHAT THE DESK MUST DO</a:t>
            </a:r>
          </a:p>
        </p:txBody>
      </p:sp>
      <p:sp>
        <p:nvSpPr>
          <p:cNvPr id="16" name="Read the chat"/>
          <p:cNvSpPr/>
          <p:nvPr/>
        </p:nvSpPr>
        <p:spPr>
          <a:xfrm>
            <a:off x="6309360" y="2084831"/>
            <a:ext cx="5330952" cy="841248"/>
          </a:xfrm>
          <a:prstGeom prst="roundRect">
            <a:avLst>
              <a:gd name="adj" fmla="val 13043"/>
            </a:avLst>
          </a:prstGeom>
          <a:solidFill>
            <a:srgbClr val="EF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l">
              <a:lnSpc>
                <a:spcPct val="100000"/>
              </a:lnSpc>
              <a:spcBef>
                <a:spcPts val="0"/>
              </a:spcBef>
              <a:spcAft>
                <a:spcPts val="0"/>
              </a:spcAft>
            </a:pPr>
            <a:r>
              <a:rPr sz="1200" b="1" i="0">
                <a:solidFill>
                  <a:srgbClr val="14232E"/>
                </a:solidFill>
                <a:latin typeface="Calibri"/>
              </a:rPr>
              <a:t>Read the chat. </a:t>
            </a:r>
            <a:r>
              <a:rPr sz="1200" b="0" i="0">
                <a:solidFill>
                  <a:srgbClr val="14232E"/>
                </a:solidFill>
                <a:latin typeface="Calibri"/>
              </a:rPr>
              <a:t>Extract the request; ask when it is ambiguous or incomplete; refuse, with a reason and an alternative, when the named workshop cannot take it; honour constraints and record who set them.</a:t>
            </a:r>
          </a:p>
        </p:txBody>
      </p:sp>
      <p:sp>
        <p:nvSpPr>
          <p:cNvPr id="17" name="Decide on numbers"/>
          <p:cNvSpPr/>
          <p:nvPr/>
        </p:nvSpPr>
        <p:spPr>
          <a:xfrm>
            <a:off x="6309360" y="2999232"/>
            <a:ext cx="5330952" cy="841248"/>
          </a:xfrm>
          <a:prstGeom prst="roundRect">
            <a:avLst>
              <a:gd name="adj" fmla="val 13043"/>
            </a:avLst>
          </a:prstGeom>
          <a:solidFill>
            <a:srgbClr val="EF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l">
              <a:lnSpc>
                <a:spcPct val="100000"/>
              </a:lnSpc>
              <a:spcBef>
                <a:spcPts val="0"/>
              </a:spcBef>
              <a:spcAft>
                <a:spcPts val="0"/>
              </a:spcAft>
            </a:pPr>
            <a:r>
              <a:rPr sz="1200" b="1" i="0">
                <a:solidFill>
                  <a:srgbClr val="14232E"/>
                </a:solidFill>
                <a:latin typeface="Calibri"/>
              </a:rPr>
              <a:t>Decide on numbers. </a:t>
            </a:r>
            <a:r>
              <a:rPr sz="1200" b="0" i="0">
                <a:solidFill>
                  <a:srgbClr val="14232E"/>
                </a:solidFill>
                <a:latin typeface="Calibri"/>
              </a:rPr>
              <a:t>Keep the workshop register; estimate a delivery date per candidate before committing; allocate with the reasoning attached; when nobody can make the date, say so and lay out the options.</a:t>
            </a:r>
          </a:p>
        </p:txBody>
      </p:sp>
      <p:sp>
        <p:nvSpPr>
          <p:cNvPr id="18" name="Leave a record"/>
          <p:cNvSpPr/>
          <p:nvPr/>
        </p:nvSpPr>
        <p:spPr>
          <a:xfrm>
            <a:off x="6309360" y="3913631"/>
            <a:ext cx="5330952" cy="841248"/>
          </a:xfrm>
          <a:prstGeom prst="roundRect">
            <a:avLst>
              <a:gd name="adj" fmla="val 13043"/>
            </a:avLst>
          </a:prstGeom>
          <a:solidFill>
            <a:srgbClr val="EF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l">
              <a:lnSpc>
                <a:spcPct val="100000"/>
              </a:lnSpc>
              <a:spcBef>
                <a:spcPts val="0"/>
              </a:spcBef>
              <a:spcAft>
                <a:spcPts val="0"/>
              </a:spcAft>
            </a:pPr>
            <a:r>
              <a:rPr sz="1200" b="1" i="0">
                <a:solidFill>
                  <a:srgbClr val="14232E"/>
                </a:solidFill>
                <a:latin typeface="Calibri"/>
              </a:rPr>
              <a:t>Leave a record. </a:t>
            </a:r>
            <a:r>
              <a:rPr sz="1200" b="0" i="0">
                <a:solidFill>
                  <a:srgbClr val="14232E"/>
                </a:solidFill>
                <a:latin typeface="Calibri"/>
              </a:rPr>
              <a:t>An auditable record of every decision — what the group chat never produced.</a:t>
            </a:r>
          </a:p>
        </p:txBody>
      </p:sp>
      <p:sp>
        <p:nvSpPr>
          <p:cNvPr id="19" name="Scope note"/>
          <p:cNvSpPr txBox="1"/>
          <p:nvPr/>
        </p:nvSpPr>
        <p:spPr>
          <a:xfrm>
            <a:off x="6309360" y="4828032"/>
            <a:ext cx="5330952" cy="457200"/>
          </a:xfrm>
          <a:prstGeom prst="rect">
            <a:avLst/>
          </a:prstGeom>
          <a:noFill/>
        </p:spPr>
        <p:txBody>
          <a:bodyPr wrap="square" lIns="0" rIns="0" tIns="0" bIns="0" anchor="t">
            <a:noAutofit/>
          </a:bodyPr>
          <a:lstStyle/>
          <a:p>
            <a:pPr algn="l">
              <a:lnSpc>
                <a:spcPct val="100000"/>
              </a:lnSpc>
              <a:spcBef>
                <a:spcPts val="0"/>
              </a:spcBef>
              <a:spcAft>
                <a:spcPts val="0"/>
              </a:spcAft>
            </a:pPr>
            <a:r>
              <a:rPr sz="1050" b="0" i="1">
                <a:solidFill>
                  <a:srgbClr val="52606B"/>
                </a:solidFill>
                <a:latin typeface="Calibri"/>
              </a:rPr>
              <a:t>Optional, assessed after Sprint 2: the stage extension (--stages). Not pursued: multi-agent negotiation — the mechanism is not graded.</a:t>
            </a:r>
          </a:p>
        </p:txBody>
      </p:sp>
      <p:sp>
        <p:nvSpPr>
          <p:cNvPr id="20" name="Label"/>
          <p:cNvSpPr txBox="1"/>
          <p:nvPr/>
        </p:nvSpPr>
        <p:spPr>
          <a:xfrm>
            <a:off x="6309360" y="5321808"/>
            <a:ext cx="45720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2A78D6"/>
                </a:solidFill>
                <a:latin typeface="Calibri"/>
              </a:rPr>
              <a:t>BUSINESS VALUE</a:t>
            </a:r>
          </a:p>
        </p:txBody>
      </p:sp>
      <p:sp>
        <p:nvSpPr>
          <p:cNvPr id="21" name="Value"/>
          <p:cNvSpPr txBox="1"/>
          <p:nvPr/>
        </p:nvSpPr>
        <p:spPr>
          <a:xfrm>
            <a:off x="6309360" y="5614416"/>
            <a:ext cx="5330952" cy="777240"/>
          </a:xfrm>
          <a:prstGeom prst="rect">
            <a:avLst/>
          </a:prstGeom>
          <a:noFill/>
        </p:spPr>
        <p:txBody>
          <a:bodyPr wrap="square" lIns="0" rIns="0" tIns="0" bIns="0" anchor="t">
            <a:noAutofit/>
          </a:bodyPr>
          <a:lstStyle/>
          <a:p>
            <a:pPr algn="l" marL="201168" indent="-201168">
              <a:lnSpc>
                <a:spcPct val="100000"/>
              </a:lnSpc>
              <a:spcBef>
                <a:spcPts val="0"/>
              </a:spcBef>
              <a:spcAft>
                <a:spcPts val="200"/>
              </a:spcAft>
              <a:buFont typeface="Arial"/>
              <a:buChar char="•"/>
            </a:pPr>
            <a:r>
              <a:rPr sz="1250" b="1" i="0">
                <a:solidFill>
                  <a:srgbClr val="14232E"/>
                </a:solidFill>
                <a:latin typeface="Calibri"/>
              </a:rPr>
              <a:t>Dispatcher: </a:t>
            </a:r>
            <a:r>
              <a:rPr sz="1250" b="0" i="0">
                <a:solidFill>
                  <a:srgbClr val="14232E"/>
                </a:solidFill>
                <a:latin typeface="Calibri"/>
              </a:rPr>
              <a:t>faster decisions with verified recommendations</a:t>
            </a:r>
          </a:p>
          <a:p>
            <a:pPr algn="l" marL="201168" indent="-201168">
              <a:lnSpc>
                <a:spcPct val="100000"/>
              </a:lnSpc>
              <a:spcBef>
                <a:spcPts val="0"/>
              </a:spcBef>
              <a:spcAft>
                <a:spcPts val="200"/>
              </a:spcAft>
              <a:buFont typeface="Arial"/>
              <a:buChar char="•"/>
            </a:pPr>
            <a:r>
              <a:rPr sz="1250" b="1" i="0">
                <a:solidFill>
                  <a:srgbClr val="14232E"/>
                </a:solidFill>
                <a:latin typeface="Calibri"/>
              </a:rPr>
              <a:t>Factory: </a:t>
            </a:r>
            <a:r>
              <a:rPr sz="1250" b="0" i="0">
                <a:solidFill>
                  <a:srgbClr val="14232E"/>
                </a:solidFill>
                <a:latin typeface="Calibri"/>
              </a:rPr>
              <a:t>fewer late deliveries, shown in simulation</a:t>
            </a:r>
          </a:p>
          <a:p>
            <a:pPr algn="l" marL="201168" indent="-201168">
              <a:lnSpc>
                <a:spcPct val="100000"/>
              </a:lnSpc>
              <a:spcBef>
                <a:spcPts val="0"/>
              </a:spcBef>
              <a:spcAft>
                <a:spcPts val="0"/>
              </a:spcAft>
              <a:buFont typeface="Arial"/>
              <a:buChar char="•"/>
            </a:pPr>
            <a:r>
              <a:rPr sz="1250" b="1" i="0">
                <a:solidFill>
                  <a:srgbClr val="14232E"/>
                </a:solidFill>
                <a:latin typeface="Calibri"/>
              </a:rPr>
              <a:t>Customer: </a:t>
            </a:r>
            <a:r>
              <a:rPr sz="1250" b="0" i="0">
                <a:solidFill>
                  <a:srgbClr val="14232E"/>
                </a:solidFill>
                <a:latin typeface="Calibri"/>
              </a:rPr>
              <a:t>more reliable delivery-date commitments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94415" cy="1188720"/>
          </a:xfrm>
          <a:prstGeom prst="rect">
            <a:avLst/>
          </a:prstGeom>
          <a:noFill/>
        </p:spPr>
        <p:txBody>
          <a:bodyPr wrap="square" lIns="0" rIns="0" tIns="0" bIns="0" anchor="t">
            <a:noAutofit/>
          </a:bodyPr>
          <a:lstStyle/>
          <a:p>
            <a:pPr algn="l">
              <a:lnSpc>
                <a:spcPct val="98000"/>
              </a:lnSpc>
              <a:spcBef>
                <a:spcPts val="0"/>
              </a:spcBef>
              <a:spcAft>
                <a:spcPts val="0"/>
              </a:spcAft>
            </a:pPr>
            <a:r>
              <a:rPr sz="3400" b="1" i="0">
                <a:solidFill>
                  <a:srgbClr val="14232E"/>
                </a:solidFill>
                <a:latin typeface="Cambria"/>
              </a:rPr>
              <a:t>The model reads, code decides, the dispatcher confirms</a:t>
            </a:r>
          </a:p>
        </p:txBody>
      </p:sp>
      <p:sp>
        <p:nvSpPr>
          <p:cNvPr id="3" name="Footer"/>
          <p:cNvSpPr txBox="1"/>
          <p:nvPr/>
        </p:nvSpPr>
        <p:spPr>
          <a:xfrm>
            <a:off x="548640" y="6446520"/>
            <a:ext cx="82296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2606B"/>
                </a:solidFill>
                <a:latin typeface="Calibri"/>
              </a:rPr>
              <a:t>DSS5105 Capstone  ·  Track 2  ·  Subcontracting Desk  ·  Sprint 1</a:t>
            </a:r>
          </a:p>
        </p:txBody>
      </p:sp>
      <p:sp>
        <p:nvSpPr>
          <p:cNvPr id="4" name="Slide number"/>
          <p:cNvSpPr txBox="1"/>
          <p:nvPr/>
        </p:nvSpPr>
        <p:spPr>
          <a:xfrm>
            <a:off x="10728655" y="6446520"/>
            <a:ext cx="9144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2606B"/>
                </a:solidFill>
                <a:latin typeface="Calibri"/>
              </a:rPr>
              <a:t>2</a:t>
            </a:r>
          </a:p>
        </p:txBody>
      </p:sp>
      <p:sp>
        <p:nvSpPr>
          <p:cNvPr id="5" name="Chat message"/>
          <p:cNvSpPr/>
          <p:nvPr/>
        </p:nvSpPr>
        <p:spPr>
          <a:xfrm>
            <a:off x="548640" y="1783080"/>
            <a:ext cx="2011680" cy="1828800"/>
          </a:xfrm>
          <a:prstGeom prst="roundRect">
            <a:avLst>
              <a:gd name="adj" fmla="val 7000"/>
            </a:avLst>
          </a:prstGeom>
          <a:solidFill>
            <a:srgbClr val="EFF2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0" bIns="0">
            <a:noAutofit/>
          </a:bodyPr>
          <a:lstStyle/>
          <a:p>
            <a:pPr algn="l">
              <a:lnSpc>
                <a:spcPct val="100000"/>
              </a:lnSpc>
              <a:spcBef>
                <a:spcPts val="800"/>
              </a:spcBef>
              <a:spcAft>
                <a:spcPts val="300"/>
              </a:spcAft>
            </a:pPr>
            <a:r>
              <a:rPr sz="1000" b="1" i="0">
                <a:solidFill>
                  <a:srgbClr val="52606B"/>
                </a:solidFill>
                <a:latin typeface="Calibri"/>
              </a:rPr>
              <a:t>INPUT</a:t>
            </a:r>
          </a:p>
          <a:p>
            <a:pPr algn="l">
              <a:lnSpc>
                <a:spcPct val="100000"/>
              </a:lnSpc>
              <a:spcBef>
                <a:spcPts val="0"/>
              </a:spcBef>
              <a:spcAft>
                <a:spcPts val="500"/>
              </a:spcAft>
            </a:pPr>
            <a:r>
              <a:rPr sz="1700" b="1" i="0">
                <a:solidFill>
                  <a:srgbClr val="14232E"/>
                </a:solidFill>
                <a:latin typeface="Calibri"/>
              </a:rPr>
              <a:t>Chat message</a:t>
            </a:r>
          </a:p>
          <a:p>
            <a:pPr algn="l">
              <a:lnSpc>
                <a:spcPct val="100000"/>
              </a:lnSpc>
              <a:spcBef>
                <a:spcPts val="0"/>
              </a:spcBef>
              <a:spcAft>
                <a:spcPts val="0"/>
              </a:spcAft>
            </a:pPr>
            <a:r>
              <a:rPr sz="1250" b="0" i="0">
                <a:solidFill>
                  <a:srgbClr val="14232E"/>
                </a:solidFill>
                <a:latin typeface="Calibri"/>
              </a:rPr>
              <a:t>Free text from five people, as they type it.</a:t>
            </a:r>
          </a:p>
        </p:txBody>
      </p:sp>
      <p:cxnSp>
        <p:nvCxnSpPr>
          <p:cNvPr id="6" name="Flow arrow"/>
          <p:cNvCxnSpPr/>
          <p:nvPr/>
        </p:nvCxnSpPr>
        <p:spPr>
          <a:xfrm>
            <a:off x="2587752" y="2697480"/>
            <a:ext cx="201168" cy="0"/>
          </a:xfrm>
          <a:prstGeom prst="line">
            <a:avLst/>
          </a:prstGeom>
          <a:ln w="25400">
            <a:solidFill>
              <a:srgbClr val="5260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Language layer"/>
          <p:cNvSpPr/>
          <p:nvPr/>
        </p:nvSpPr>
        <p:spPr>
          <a:xfrm>
            <a:off x="2816352" y="1783080"/>
            <a:ext cx="2011680" cy="1828800"/>
          </a:xfrm>
          <a:prstGeom prst="roundRect">
            <a:avLst>
              <a:gd name="adj" fmla="val 7000"/>
            </a:avLst>
          </a:prstGeom>
          <a:solidFill>
            <a:srgbClr val="E6F0F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0" bIns="0">
            <a:noAutofit/>
          </a:bodyPr>
          <a:lstStyle/>
          <a:p>
            <a:pPr algn="l">
              <a:lnSpc>
                <a:spcPct val="100000"/>
              </a:lnSpc>
              <a:spcBef>
                <a:spcPts val="800"/>
              </a:spcBef>
              <a:spcAft>
                <a:spcPts val="300"/>
              </a:spcAft>
            </a:pPr>
            <a:r>
              <a:rPr sz="1000" b="1" i="0">
                <a:solidFill>
                  <a:srgbClr val="1C5CAB"/>
                </a:solidFill>
                <a:latin typeface="Calibri"/>
              </a:rPr>
              <a:t>LANGUAGE MODEL + CHECK</a:t>
            </a:r>
          </a:p>
          <a:p>
            <a:pPr algn="l">
              <a:lnSpc>
                <a:spcPct val="100000"/>
              </a:lnSpc>
              <a:spcBef>
                <a:spcPts val="0"/>
              </a:spcBef>
              <a:spcAft>
                <a:spcPts val="500"/>
              </a:spcAft>
            </a:pPr>
            <a:r>
              <a:rPr sz="1700" b="1" i="0">
                <a:solidFill>
                  <a:srgbClr val="14232E"/>
                </a:solidFill>
                <a:latin typeface="Calibri"/>
              </a:rPr>
              <a:t>Language layer</a:t>
            </a:r>
          </a:p>
          <a:p>
            <a:pPr algn="l">
              <a:lnSpc>
                <a:spcPct val="100000"/>
              </a:lnSpc>
              <a:spcBef>
                <a:spcPts val="0"/>
              </a:spcBef>
              <a:spcAft>
                <a:spcPts val="0"/>
              </a:spcAft>
            </a:pPr>
            <a:r>
              <a:rPr sz="1250" b="0" i="0">
                <a:solidFill>
                  <a:srgbClr val="14232E"/>
                </a:solidFill>
                <a:latin typeface="Calibri"/>
              </a:rPr>
              <a:t>The model extracts order, pieces, date, constraint. Code checks each value against the text.</a:t>
            </a:r>
          </a:p>
        </p:txBody>
      </p:sp>
      <p:cxnSp>
        <p:nvCxnSpPr>
          <p:cNvPr id="8" name="Flow arrow"/>
          <p:cNvCxnSpPr/>
          <p:nvPr/>
        </p:nvCxnSpPr>
        <p:spPr>
          <a:xfrm>
            <a:off x="4855464" y="2697480"/>
            <a:ext cx="201168" cy="0"/>
          </a:xfrm>
          <a:prstGeom prst="line">
            <a:avLst/>
          </a:prstGeom>
          <a:ln w="25400">
            <a:solidFill>
              <a:srgbClr val="5260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Kernel"/>
          <p:cNvSpPr/>
          <p:nvPr/>
        </p:nvSpPr>
        <p:spPr>
          <a:xfrm>
            <a:off x="5084064" y="1783080"/>
            <a:ext cx="2011680" cy="1828800"/>
          </a:xfrm>
          <a:prstGeom prst="roundRect">
            <a:avLst>
              <a:gd name="adj" fmla="val 7000"/>
            </a:avLst>
          </a:prstGeom>
          <a:solidFill>
            <a:srgbClr val="0F2B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0" bIns="0">
            <a:noAutofit/>
          </a:bodyPr>
          <a:lstStyle/>
          <a:p>
            <a:pPr algn="l">
              <a:lnSpc>
                <a:spcPct val="100000"/>
              </a:lnSpc>
              <a:spcBef>
                <a:spcPts val="800"/>
              </a:spcBef>
              <a:spcAft>
                <a:spcPts val="300"/>
              </a:spcAft>
            </a:pPr>
            <a:r>
              <a:rPr sz="1000" b="1" i="0">
                <a:solidFill>
                  <a:srgbClr val="7ED9B8"/>
                </a:solidFill>
                <a:latin typeface="Calibri"/>
              </a:rPr>
              <a:t>CODE · NO LLM</a:t>
            </a:r>
          </a:p>
          <a:p>
            <a:pPr algn="l">
              <a:lnSpc>
                <a:spcPct val="100000"/>
              </a:lnSpc>
              <a:spcBef>
                <a:spcPts val="0"/>
              </a:spcBef>
              <a:spcAft>
                <a:spcPts val="500"/>
              </a:spcAft>
            </a:pPr>
            <a:r>
              <a:rPr sz="1700" b="1" i="0">
                <a:solidFill>
                  <a:srgbClr val="FFFFFF"/>
                </a:solidFill>
                <a:latin typeface="Calibri"/>
              </a:rPr>
              <a:t>Kernel</a:t>
            </a:r>
          </a:p>
          <a:p>
            <a:pPr algn="l">
              <a:lnSpc>
                <a:spcPct val="100000"/>
              </a:lnSpc>
              <a:spcBef>
                <a:spcPts val="0"/>
              </a:spcBef>
              <a:spcAft>
                <a:spcPts val="0"/>
              </a:spcAft>
            </a:pPr>
            <a:r>
              <a:rPr sz="1250" b="0" i="0">
                <a:solidFill>
                  <a:srgbClr val="FFFFFF"/>
                </a:solidFill>
                <a:latin typeface="Calibri"/>
              </a:rPr>
              <a:t>Register: make it, take it, allowed? Estimator: two dates per shop. Allocator: the objective is a setting.</a:t>
            </a:r>
          </a:p>
        </p:txBody>
      </p:sp>
      <p:cxnSp>
        <p:nvCxnSpPr>
          <p:cNvPr id="10" name="Flow arrow"/>
          <p:cNvCxnSpPr/>
          <p:nvPr/>
        </p:nvCxnSpPr>
        <p:spPr>
          <a:xfrm>
            <a:off x="7123176" y="2697480"/>
            <a:ext cx="201168" cy="0"/>
          </a:xfrm>
          <a:prstGeom prst="line">
            <a:avLst/>
          </a:prstGeom>
          <a:ln w="25400">
            <a:solidFill>
              <a:srgbClr val="5260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Explain and check"/>
          <p:cNvSpPr/>
          <p:nvPr/>
        </p:nvSpPr>
        <p:spPr>
          <a:xfrm>
            <a:off x="7351776" y="1783080"/>
            <a:ext cx="2011680" cy="1828800"/>
          </a:xfrm>
          <a:prstGeom prst="roundRect">
            <a:avLst>
              <a:gd name="adj" fmla="val 7000"/>
            </a:avLst>
          </a:prstGeom>
          <a:solidFill>
            <a:srgbClr val="E3F6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0" bIns="0">
            <a:noAutofit/>
          </a:bodyPr>
          <a:lstStyle/>
          <a:p>
            <a:pPr algn="l">
              <a:lnSpc>
                <a:spcPct val="100000"/>
              </a:lnSpc>
              <a:spcBef>
                <a:spcPts val="800"/>
              </a:spcBef>
              <a:spcAft>
                <a:spcPts val="300"/>
              </a:spcAft>
            </a:pPr>
            <a:r>
              <a:rPr sz="1000" b="1" i="0">
                <a:solidFill>
                  <a:srgbClr val="0B7A52"/>
                </a:solidFill>
                <a:latin typeface="Calibri"/>
              </a:rPr>
              <a:t>CODE</a:t>
            </a:r>
          </a:p>
          <a:p>
            <a:pPr algn="l">
              <a:lnSpc>
                <a:spcPct val="100000"/>
              </a:lnSpc>
              <a:spcBef>
                <a:spcPts val="0"/>
              </a:spcBef>
              <a:spcAft>
                <a:spcPts val="500"/>
              </a:spcAft>
            </a:pPr>
            <a:r>
              <a:rPr sz="1700" b="1" i="0">
                <a:solidFill>
                  <a:srgbClr val="14232E"/>
                </a:solidFill>
                <a:latin typeface="Calibri"/>
              </a:rPr>
              <a:t>Explain and check</a:t>
            </a:r>
          </a:p>
          <a:p>
            <a:pPr algn="l">
              <a:lnSpc>
                <a:spcPct val="100000"/>
              </a:lnSpc>
              <a:spcBef>
                <a:spcPts val="0"/>
              </a:spcBef>
              <a:spcAft>
                <a:spcPts val="0"/>
              </a:spcAft>
            </a:pPr>
            <a:r>
              <a:rPr sz="1250" b="0" i="0">
                <a:solidFill>
                  <a:srgbClr val="14232E"/>
                </a:solidFill>
                <a:latin typeface="Calibri"/>
              </a:rPr>
              <a:t>Writes the reason from tool outputs. Flags any number that is not in one.</a:t>
            </a:r>
          </a:p>
        </p:txBody>
      </p:sp>
      <p:cxnSp>
        <p:nvCxnSpPr>
          <p:cNvPr id="12" name="Flow arrow"/>
          <p:cNvCxnSpPr/>
          <p:nvPr/>
        </p:nvCxnSpPr>
        <p:spPr>
          <a:xfrm>
            <a:off x="9390888" y="2697480"/>
            <a:ext cx="201168" cy="0"/>
          </a:xfrm>
          <a:prstGeom prst="line">
            <a:avLst/>
          </a:prstGeom>
          <a:ln w="25400">
            <a:solidFill>
              <a:srgbClr val="5260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Dispatcher"/>
          <p:cNvSpPr/>
          <p:nvPr/>
        </p:nvSpPr>
        <p:spPr>
          <a:xfrm>
            <a:off x="9619488" y="1783080"/>
            <a:ext cx="2011680" cy="1828800"/>
          </a:xfrm>
          <a:prstGeom prst="roundRect">
            <a:avLst>
              <a:gd name="adj" fmla="val 7000"/>
            </a:avLst>
          </a:prstGeom>
          <a:solidFill>
            <a:srgbClr val="FDEB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0" bIns="0">
            <a:noAutofit/>
          </a:bodyPr>
          <a:lstStyle/>
          <a:p>
            <a:pPr algn="l">
              <a:lnSpc>
                <a:spcPct val="100000"/>
              </a:lnSpc>
              <a:spcBef>
                <a:spcPts val="800"/>
              </a:spcBef>
              <a:spcAft>
                <a:spcPts val="300"/>
              </a:spcAft>
            </a:pPr>
            <a:r>
              <a:rPr sz="1000" b="1" i="0">
                <a:solidFill>
                  <a:srgbClr val="A3410F"/>
                </a:solidFill>
                <a:latin typeface="Calibri"/>
              </a:rPr>
              <a:t>HUMAN</a:t>
            </a:r>
          </a:p>
          <a:p>
            <a:pPr algn="l">
              <a:lnSpc>
                <a:spcPct val="100000"/>
              </a:lnSpc>
              <a:spcBef>
                <a:spcPts val="0"/>
              </a:spcBef>
              <a:spcAft>
                <a:spcPts val="500"/>
              </a:spcAft>
            </a:pPr>
            <a:r>
              <a:rPr sz="1700" b="1" i="0">
                <a:solidFill>
                  <a:srgbClr val="14232E"/>
                </a:solidFill>
                <a:latin typeface="Calibri"/>
              </a:rPr>
              <a:t>Dispatcher</a:t>
            </a:r>
          </a:p>
          <a:p>
            <a:pPr algn="l">
              <a:lnSpc>
                <a:spcPct val="100000"/>
              </a:lnSpc>
              <a:spcBef>
                <a:spcPts val="0"/>
              </a:spcBef>
              <a:spcAft>
                <a:spcPts val="0"/>
              </a:spcAft>
            </a:pPr>
            <a:r>
              <a:rPr sz="1250" b="0" i="0">
                <a:solidFill>
                  <a:srgbClr val="14232E"/>
                </a:solidFill>
                <a:latin typeface="Calibri"/>
              </a:rPr>
              <a:t>Confirms, changes or escalates. Only then is capacity booked and the audit record written.</a:t>
            </a:r>
          </a:p>
        </p:txBody>
      </p:sp>
      <p:sp>
        <p:nvSpPr>
          <p:cNvPr id="14" name="Badge"/>
          <p:cNvSpPr/>
          <p:nvPr/>
        </p:nvSpPr>
        <p:spPr>
          <a:xfrm>
            <a:off x="3666744" y="3666744"/>
            <a:ext cx="310896" cy="310896"/>
          </a:xfrm>
          <a:prstGeom prst="ellipse">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spcBef>
                <a:spcPts val="0"/>
              </a:spcBef>
              <a:spcAft>
                <a:spcPts val="0"/>
              </a:spcAft>
            </a:pPr>
            <a:r>
              <a:rPr sz="1200" b="1" i="0">
                <a:solidFill>
                  <a:srgbClr val="FFFFFF"/>
                </a:solidFill>
                <a:latin typeface="Calibri"/>
              </a:rPr>
              <a:t>1</a:t>
            </a:r>
          </a:p>
        </p:txBody>
      </p:sp>
      <p:sp>
        <p:nvSpPr>
          <p:cNvPr id="15" name="Badge"/>
          <p:cNvSpPr/>
          <p:nvPr/>
        </p:nvSpPr>
        <p:spPr>
          <a:xfrm>
            <a:off x="5934456" y="3666744"/>
            <a:ext cx="310896" cy="310896"/>
          </a:xfrm>
          <a:prstGeom prst="ellipse">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spcBef>
                <a:spcPts val="0"/>
              </a:spcBef>
              <a:spcAft>
                <a:spcPts val="0"/>
              </a:spcAft>
            </a:pPr>
            <a:r>
              <a:rPr sz="1200" b="1" i="0">
                <a:solidFill>
                  <a:srgbClr val="FFFFFF"/>
                </a:solidFill>
                <a:latin typeface="Calibri"/>
              </a:rPr>
              <a:t>2</a:t>
            </a:r>
          </a:p>
        </p:txBody>
      </p:sp>
      <p:sp>
        <p:nvSpPr>
          <p:cNvPr id="16" name="Badge"/>
          <p:cNvSpPr/>
          <p:nvPr/>
        </p:nvSpPr>
        <p:spPr>
          <a:xfrm>
            <a:off x="8202168" y="3666744"/>
            <a:ext cx="310896" cy="310896"/>
          </a:xfrm>
          <a:prstGeom prst="ellipse">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spcBef>
                <a:spcPts val="0"/>
              </a:spcBef>
              <a:spcAft>
                <a:spcPts val="0"/>
              </a:spcAft>
            </a:pPr>
            <a:r>
              <a:rPr sz="1200" b="1" i="0">
                <a:solidFill>
                  <a:srgbClr val="FFFFFF"/>
                </a:solidFill>
                <a:latin typeface="Calibri"/>
              </a:rPr>
              <a:t>3</a:t>
            </a:r>
          </a:p>
        </p:txBody>
      </p:sp>
      <p:sp>
        <p:nvSpPr>
          <p:cNvPr id="17" name="Mechanism 1"/>
          <p:cNvSpPr/>
          <p:nvPr/>
        </p:nvSpPr>
        <p:spPr>
          <a:xfrm>
            <a:off x="548640" y="4114800"/>
            <a:ext cx="3575304" cy="1024128"/>
          </a:xfrm>
          <a:prstGeom prst="roundRect">
            <a:avLst>
              <a:gd name="adj" fmla="val 10714"/>
            </a:avLst>
          </a:prstGeom>
          <a:solidFill>
            <a:srgbClr val="FFFFFF"/>
          </a:solidFill>
          <a:ln w="15875">
            <a:solidFill>
              <a:srgbClr val="1C5CAB"/>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0" bIns="0">
            <a:noAutofit/>
          </a:bodyPr>
          <a:lstStyle/>
          <a:p>
            <a:pPr algn="l">
              <a:lnSpc>
                <a:spcPct val="100000"/>
              </a:lnSpc>
              <a:spcBef>
                <a:spcPts val="0"/>
              </a:spcBef>
              <a:spcAft>
                <a:spcPts val="0"/>
              </a:spcAft>
            </a:pPr>
            <a:r>
              <a:rPr sz="1150" b="1" i="0">
                <a:solidFill>
                  <a:srgbClr val="1C5CAB"/>
                </a:solidFill>
                <a:latin typeface="Calibri"/>
              </a:rPr>
              <a:t>1  </a:t>
            </a:r>
            <a:r>
              <a:rPr sz="1150" b="1" i="0">
                <a:solidFill>
                  <a:srgbClr val="14232E"/>
                </a:solidFill>
                <a:latin typeface="Calibri"/>
              </a:rPr>
              <a:t>Text decides. </a:t>
            </a:r>
            <a:r>
              <a:rPr sz="1150" b="0" i="0">
                <a:solidFill>
                  <a:srgbClr val="14232E"/>
                </a:solidFill>
                <a:latin typeface="Calibri"/>
              </a:rPr>
              <a:t>Every value the model extracts is checked against the message; anything the message does not contain is dropped.</a:t>
            </a:r>
          </a:p>
        </p:txBody>
      </p:sp>
      <p:sp>
        <p:nvSpPr>
          <p:cNvPr id="18" name="Mechanism 2"/>
          <p:cNvSpPr/>
          <p:nvPr/>
        </p:nvSpPr>
        <p:spPr>
          <a:xfrm>
            <a:off x="4306824" y="4114800"/>
            <a:ext cx="3575304" cy="1024128"/>
          </a:xfrm>
          <a:prstGeom prst="roundRect">
            <a:avLst>
              <a:gd name="adj" fmla="val 10714"/>
            </a:avLst>
          </a:prstGeom>
          <a:solidFill>
            <a:srgbClr val="FFFFFF"/>
          </a:solidFill>
          <a:ln w="15875">
            <a:solidFill>
              <a:srgbClr val="1C5CAB"/>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0" bIns="0">
            <a:noAutofit/>
          </a:bodyPr>
          <a:lstStyle/>
          <a:p>
            <a:pPr algn="l">
              <a:lnSpc>
                <a:spcPct val="100000"/>
              </a:lnSpc>
              <a:spcBef>
                <a:spcPts val="0"/>
              </a:spcBef>
              <a:spcAft>
                <a:spcPts val="0"/>
              </a:spcAft>
            </a:pPr>
            <a:r>
              <a:rPr sz="1150" b="1" i="0">
                <a:solidFill>
                  <a:srgbClr val="1C5CAB"/>
                </a:solidFill>
                <a:latin typeface="Calibri"/>
              </a:rPr>
              <a:t>2  </a:t>
            </a:r>
            <a:r>
              <a:rPr sz="1150" b="1" i="0">
                <a:solidFill>
                  <a:srgbClr val="14232E"/>
                </a:solidFill>
                <a:latin typeface="Calibri"/>
              </a:rPr>
              <a:t>Eligibility before ranking. </a:t>
            </a:r>
            <a:r>
              <a:rPr sz="1150" b="0" i="0">
                <a:solidFill>
                  <a:srgbClr val="14232E"/>
                </a:solidFill>
                <a:latin typeface="Calibri"/>
              </a:rPr>
              <a:t>Three hard checks first; then every eligible shop gets two dates — expected, and if the batch is reworked — and the ranking follows the chosen objective.</a:t>
            </a:r>
          </a:p>
        </p:txBody>
      </p:sp>
      <p:sp>
        <p:nvSpPr>
          <p:cNvPr id="19" name="Mechanism 3"/>
          <p:cNvSpPr/>
          <p:nvPr/>
        </p:nvSpPr>
        <p:spPr>
          <a:xfrm>
            <a:off x="8065008" y="4114800"/>
            <a:ext cx="3575304" cy="1024128"/>
          </a:xfrm>
          <a:prstGeom prst="roundRect">
            <a:avLst>
              <a:gd name="adj" fmla="val 10714"/>
            </a:avLst>
          </a:prstGeom>
          <a:solidFill>
            <a:srgbClr val="FFFFFF"/>
          </a:solidFill>
          <a:ln w="15875">
            <a:solidFill>
              <a:srgbClr val="1C5CAB"/>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0" bIns="0">
            <a:noAutofit/>
          </a:bodyPr>
          <a:lstStyle/>
          <a:p>
            <a:pPr algn="l">
              <a:lnSpc>
                <a:spcPct val="100000"/>
              </a:lnSpc>
              <a:spcBef>
                <a:spcPts val="0"/>
              </a:spcBef>
              <a:spcAft>
                <a:spcPts val="0"/>
              </a:spcAft>
            </a:pPr>
            <a:r>
              <a:rPr sz="1150" b="1" i="0">
                <a:solidFill>
                  <a:srgbClr val="1C5CAB"/>
                </a:solidFill>
                <a:latin typeface="Calibri"/>
              </a:rPr>
              <a:t>3  </a:t>
            </a:r>
            <a:r>
              <a:rPr sz="1150" b="1" i="0">
                <a:solidFill>
                  <a:srgbClr val="14232E"/>
                </a:solidFill>
                <a:latin typeface="Calibri"/>
              </a:rPr>
              <a:t>Traced, then booked. </a:t>
            </a:r>
            <a:r>
              <a:rPr sz="1150" b="0" i="0">
                <a:solidFill>
                  <a:srgbClr val="14232E"/>
                </a:solidFill>
                <a:latin typeface="Calibri"/>
              </a:rPr>
              <a:t>Every number in the explanation must come from a tool output; capacity is booked and the audit record written only after the dispatcher confirms.</a:t>
            </a:r>
          </a:p>
        </p:txBody>
      </p:sp>
      <p:sp>
        <p:nvSpPr>
          <p:cNvPr id="20" name="Label"/>
          <p:cNvSpPr txBox="1"/>
          <p:nvPr/>
        </p:nvSpPr>
        <p:spPr>
          <a:xfrm>
            <a:off x="548640" y="5266944"/>
            <a:ext cx="73152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52606B"/>
                </a:solidFill>
                <a:latin typeface="Calibri"/>
              </a:rPr>
              <a:t>ONE REAL MESSAGE, R12, THROUGH THE FIVE STAGES</a:t>
            </a:r>
          </a:p>
        </p:txBody>
      </p:sp>
      <p:sp>
        <p:nvSpPr>
          <p:cNvPr id="21" name="Trace 1"/>
          <p:cNvSpPr txBox="1"/>
          <p:nvPr/>
        </p:nvSpPr>
        <p:spPr>
          <a:xfrm>
            <a:off x="548640" y="5532120"/>
            <a:ext cx="2011680" cy="868680"/>
          </a:xfrm>
          <a:prstGeom prst="rect">
            <a:avLst/>
          </a:prstGeom>
          <a:noFill/>
        </p:spPr>
        <p:txBody>
          <a:bodyPr wrap="square" lIns="0" rIns="0" tIns="0" bIns="0" anchor="t">
            <a:noAutofit/>
          </a:bodyPr>
          <a:lstStyle/>
          <a:p>
            <a:pPr algn="l">
              <a:lnSpc>
                <a:spcPct val="100000"/>
              </a:lnSpc>
              <a:spcBef>
                <a:spcPts val="0"/>
              </a:spcBef>
              <a:spcAft>
                <a:spcPts val="0"/>
              </a:spcAft>
            </a:pPr>
            <a:r>
              <a:rPr sz="1050" b="0" i="1">
                <a:solidFill>
                  <a:srgbClr val="14232E"/>
                </a:solidFill>
                <a:latin typeface="Calibri"/>
              </a:rPr>
              <a:t>“ORD-053 — 800 polo shirts for UrbanThread, due Apr 10. Boss says nothing new to QuickStitch this week.”</a:t>
            </a:r>
          </a:p>
        </p:txBody>
      </p:sp>
      <p:sp>
        <p:nvSpPr>
          <p:cNvPr id="22" name="Trace 2"/>
          <p:cNvSpPr txBox="1"/>
          <p:nvPr/>
        </p:nvSpPr>
        <p:spPr>
          <a:xfrm>
            <a:off x="2816352" y="5532120"/>
            <a:ext cx="2011680" cy="868680"/>
          </a:xfrm>
          <a:prstGeom prst="rect">
            <a:avLst/>
          </a:prstGeom>
          <a:noFill/>
        </p:spPr>
        <p:txBody>
          <a:bodyPr wrap="square" lIns="0" rIns="0" tIns="0" bIns="0" anchor="t">
            <a:noAutofit/>
          </a:bodyPr>
          <a:lstStyle/>
          <a:p>
            <a:pPr algn="l">
              <a:lnSpc>
                <a:spcPct val="100000"/>
              </a:lnSpc>
              <a:spcBef>
                <a:spcPts val="0"/>
              </a:spcBef>
              <a:spcAft>
                <a:spcPts val="0"/>
              </a:spcAft>
            </a:pPr>
            <a:r>
              <a:rPr sz="1050" b="0" i="0">
                <a:solidFill>
                  <a:srgbClr val="14232E"/>
                </a:solidFill>
                <a:latin typeface="Calibri"/>
              </a:rPr>
              <a:t>ORD-053 · 800 pcs · due 10 Apr · constraint: QuickStitch excluded — standing, set by Boss</a:t>
            </a:r>
          </a:p>
        </p:txBody>
      </p:sp>
      <p:sp>
        <p:nvSpPr>
          <p:cNvPr id="23" name="Trace 3"/>
          <p:cNvSpPr txBox="1"/>
          <p:nvPr/>
        </p:nvSpPr>
        <p:spPr>
          <a:xfrm>
            <a:off x="5084064" y="5532120"/>
            <a:ext cx="2011680" cy="868680"/>
          </a:xfrm>
          <a:prstGeom prst="rect">
            <a:avLst/>
          </a:prstGeom>
          <a:noFill/>
        </p:spPr>
        <p:txBody>
          <a:bodyPr wrap="square" lIns="0" rIns="0" tIns="0" bIns="0" anchor="t">
            <a:noAutofit/>
          </a:bodyPr>
          <a:lstStyle/>
          <a:p>
            <a:pPr algn="l">
              <a:lnSpc>
                <a:spcPct val="100000"/>
              </a:lnSpc>
              <a:spcBef>
                <a:spcPts val="0"/>
              </a:spcBef>
              <a:spcAft>
                <a:spcPts val="0"/>
              </a:spcAft>
            </a:pPr>
            <a:r>
              <a:rPr sz="1050" b="0" i="0">
                <a:solidFill>
                  <a:srgbClr val="14232E"/>
                </a:solidFill>
                <a:latin typeface="Calibri"/>
              </a:rPr>
              <a:t>4 shops eligible. GiantWeave back Fri 10 Apr, on time; Sat 11 Apr if reworked, a day late</a:t>
            </a:r>
          </a:p>
        </p:txBody>
      </p:sp>
      <p:sp>
        <p:nvSpPr>
          <p:cNvPr id="24" name="Trace 4"/>
          <p:cNvSpPr txBox="1"/>
          <p:nvPr/>
        </p:nvSpPr>
        <p:spPr>
          <a:xfrm>
            <a:off x="7351776" y="5532120"/>
            <a:ext cx="2011680" cy="868680"/>
          </a:xfrm>
          <a:prstGeom prst="rect">
            <a:avLst/>
          </a:prstGeom>
          <a:noFill/>
        </p:spPr>
        <p:txBody>
          <a:bodyPr wrap="square" lIns="0" rIns="0" tIns="0" bIns="0" anchor="t">
            <a:noAutofit/>
          </a:bodyPr>
          <a:lstStyle/>
          <a:p>
            <a:pPr algn="l">
              <a:lnSpc>
                <a:spcPct val="100000"/>
              </a:lnSpc>
              <a:spcBef>
                <a:spcPts val="0"/>
              </a:spcBef>
              <a:spcAft>
                <a:spcPts val="0"/>
              </a:spcAft>
            </a:pPr>
            <a:r>
              <a:rPr sz="1050" b="0" i="1">
                <a:solidFill>
                  <a:srgbClr val="14232E"/>
                </a:solidFill>
                <a:latin typeface="Calibri"/>
              </a:rPr>
              <a:t>“GiantWeave: on time; it only makes tops, so the two shops that also make accessories stay free for tighter batches.”</a:t>
            </a:r>
          </a:p>
        </p:txBody>
      </p:sp>
      <p:sp>
        <p:nvSpPr>
          <p:cNvPr id="25" name="Trace 5"/>
          <p:cNvSpPr txBox="1"/>
          <p:nvPr/>
        </p:nvSpPr>
        <p:spPr>
          <a:xfrm>
            <a:off x="9619488" y="5532120"/>
            <a:ext cx="2011680" cy="868680"/>
          </a:xfrm>
          <a:prstGeom prst="rect">
            <a:avLst/>
          </a:prstGeom>
          <a:noFill/>
        </p:spPr>
        <p:txBody>
          <a:bodyPr wrap="square" lIns="0" rIns="0" tIns="0" bIns="0" anchor="t">
            <a:noAutofit/>
          </a:bodyPr>
          <a:lstStyle/>
          <a:p>
            <a:pPr algn="l">
              <a:lnSpc>
                <a:spcPct val="100000"/>
              </a:lnSpc>
              <a:spcBef>
                <a:spcPts val="0"/>
              </a:spcBef>
              <a:spcAft>
                <a:spcPts val="0"/>
              </a:spcAft>
            </a:pPr>
            <a:r>
              <a:rPr sz="1050" b="0" i="0">
                <a:solidFill>
                  <a:srgbClr val="14232E"/>
                </a:solidFill>
                <a:latin typeface="Calibri"/>
              </a:rPr>
              <a:t>Confirmed → ledger updated, audit record A0004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94415" cy="1188720"/>
          </a:xfrm>
          <a:prstGeom prst="rect">
            <a:avLst/>
          </a:prstGeom>
          <a:noFill/>
        </p:spPr>
        <p:txBody>
          <a:bodyPr wrap="square" lIns="0" rIns="0" tIns="0" bIns="0" anchor="t">
            <a:noAutofit/>
          </a:bodyPr>
          <a:lstStyle/>
          <a:p>
            <a:pPr algn="l">
              <a:lnSpc>
                <a:spcPct val="98000"/>
              </a:lnSpc>
              <a:spcBef>
                <a:spcPts val="0"/>
              </a:spcBef>
              <a:spcAft>
                <a:spcPts val="0"/>
              </a:spcAft>
            </a:pPr>
            <a:r>
              <a:rPr sz="3400" b="1" i="0">
                <a:solidFill>
                  <a:srgbClr val="14232E"/>
                </a:solidFill>
                <a:latin typeface="Cambria"/>
              </a:rPr>
              <a:t>Primary objective: minimise late deliveries</a:t>
            </a:r>
          </a:p>
        </p:txBody>
      </p:sp>
      <p:sp>
        <p:nvSpPr>
          <p:cNvPr id="3" name="Footer"/>
          <p:cNvSpPr txBox="1"/>
          <p:nvPr/>
        </p:nvSpPr>
        <p:spPr>
          <a:xfrm>
            <a:off x="548640" y="6446520"/>
            <a:ext cx="82296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2606B"/>
                </a:solidFill>
                <a:latin typeface="Calibri"/>
              </a:rPr>
              <a:t>DSS5105 Capstone  ·  Track 2  ·  Subcontracting Desk  ·  Sprint 1</a:t>
            </a:r>
          </a:p>
        </p:txBody>
      </p:sp>
      <p:sp>
        <p:nvSpPr>
          <p:cNvPr id="4" name="Slide number"/>
          <p:cNvSpPr txBox="1"/>
          <p:nvPr/>
        </p:nvSpPr>
        <p:spPr>
          <a:xfrm>
            <a:off x="10728655" y="6446520"/>
            <a:ext cx="9144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2606B"/>
                </a:solidFill>
                <a:latin typeface="Calibri"/>
              </a:rPr>
              <a:t>3</a:t>
            </a:r>
          </a:p>
        </p:txBody>
      </p:sp>
      <p:sp>
        <p:nvSpPr>
          <p:cNvPr id="5" name="Definition"/>
          <p:cNvSpPr/>
          <p:nvPr/>
        </p:nvSpPr>
        <p:spPr>
          <a:xfrm>
            <a:off x="548640" y="1737360"/>
            <a:ext cx="11091672" cy="548640"/>
          </a:xfrm>
          <a:prstGeom prst="roundRect">
            <a:avLst>
              <a:gd name="adj" fmla="val 16666"/>
            </a:avLst>
          </a:prstGeom>
          <a:solidFill>
            <a:srgbClr val="EF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0" bIns="0">
            <a:noAutofit/>
          </a:bodyPr>
          <a:lstStyle/>
          <a:p>
            <a:pPr algn="l">
              <a:lnSpc>
                <a:spcPct val="100000"/>
              </a:lnSpc>
              <a:spcBef>
                <a:spcPts val="0"/>
              </a:spcBef>
              <a:spcAft>
                <a:spcPts val="0"/>
              </a:spcAft>
            </a:pPr>
            <a:r>
              <a:rPr sz="1300" b="1" i="0">
                <a:solidFill>
                  <a:srgbClr val="14232E"/>
                </a:solidFill>
                <a:latin typeface="Calibri"/>
              </a:rPr>
              <a:t>Late-delivery rate </a:t>
            </a:r>
            <a:r>
              <a:rPr sz="1300" b="0" i="0">
                <a:solidFill>
                  <a:srgbClr val="14232E"/>
                </a:solidFill>
                <a:latin typeface="Calibri"/>
              </a:rPr>
              <a:t>= batches returned after their due date ÷ all batches.   Also reported: mean days late (0 when on time).   Both are the simulator's own metrics.</a:t>
            </a:r>
          </a:p>
        </p:txBody>
      </p:sp>
      <p:sp>
        <p:nvSpPr>
          <p:cNvPr id="6" name="Label"/>
          <p:cNvSpPr txBox="1"/>
          <p:nvPr/>
        </p:nvSpPr>
        <p:spPr>
          <a:xfrm>
            <a:off x="548640" y="2487168"/>
            <a:ext cx="36576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2A78D6"/>
                </a:solidFill>
                <a:latin typeface="Calibri"/>
              </a:rPr>
              <a:t>WHY THIS ONE</a:t>
            </a:r>
          </a:p>
        </p:txBody>
      </p:sp>
      <p:sp>
        <p:nvSpPr>
          <p:cNvPr id="7" name="Badge"/>
          <p:cNvSpPr/>
          <p:nvPr/>
        </p:nvSpPr>
        <p:spPr>
          <a:xfrm>
            <a:off x="548640" y="2834639"/>
            <a:ext cx="384048" cy="3840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spcBef>
                <a:spcPts val="0"/>
              </a:spcBef>
              <a:spcAft>
                <a:spcPts val="0"/>
              </a:spcAft>
            </a:pPr>
            <a:r>
              <a:rPr sz="1400" b="1" i="0">
                <a:solidFill>
                  <a:srgbClr val="FFFFFF"/>
                </a:solidFill>
                <a:latin typeface="Calibri"/>
              </a:rPr>
              <a:t>1</a:t>
            </a:r>
          </a:p>
        </p:txBody>
      </p:sp>
      <p:sp>
        <p:nvSpPr>
          <p:cNvPr id="8" name="Reason 1"/>
          <p:cNvSpPr txBox="1"/>
          <p:nvPr/>
        </p:nvSpPr>
        <p:spPr>
          <a:xfrm>
            <a:off x="1097280" y="2807208"/>
            <a:ext cx="5257800" cy="804672"/>
          </a:xfrm>
          <a:prstGeom prst="rect">
            <a:avLst/>
          </a:prstGeom>
          <a:noFill/>
        </p:spPr>
        <p:txBody>
          <a:bodyPr wrap="square" lIns="0" rIns="0" tIns="0" bIns="0" anchor="t">
            <a:noAutofit/>
          </a:bodyPr>
          <a:lstStyle/>
          <a:p>
            <a:pPr algn="l">
              <a:lnSpc>
                <a:spcPct val="100000"/>
              </a:lnSpc>
              <a:spcBef>
                <a:spcPts val="0"/>
              </a:spcBef>
              <a:spcAft>
                <a:spcPts val="0"/>
              </a:spcAft>
            </a:pPr>
            <a:r>
              <a:rPr sz="1300" b="1" i="0">
                <a:solidFill>
                  <a:srgbClr val="14232E"/>
                </a:solidFill>
                <a:latin typeface="Calibri"/>
              </a:rPr>
              <a:t>Relevant. </a:t>
            </a:r>
            <a:r>
              <a:rPr sz="1300" b="0" i="0">
                <a:solidFill>
                  <a:srgbClr val="14232E"/>
                </a:solidFill>
                <a:latin typeface="Calibri"/>
              </a:rPr>
              <a:t>The due date is the one constraint every order carries; quick response exists to protect it — “the factory that farms out a batch today beats the one that decides on Thursday.”</a:t>
            </a:r>
          </a:p>
        </p:txBody>
      </p:sp>
      <p:sp>
        <p:nvSpPr>
          <p:cNvPr id="9" name="Badge"/>
          <p:cNvSpPr/>
          <p:nvPr/>
        </p:nvSpPr>
        <p:spPr>
          <a:xfrm>
            <a:off x="548640" y="3675887"/>
            <a:ext cx="384048" cy="3840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spcBef>
                <a:spcPts val="0"/>
              </a:spcBef>
              <a:spcAft>
                <a:spcPts val="0"/>
              </a:spcAft>
            </a:pPr>
            <a:r>
              <a:rPr sz="1400" b="1" i="0">
                <a:solidFill>
                  <a:srgbClr val="FFFFFF"/>
                </a:solidFill>
                <a:latin typeface="Calibri"/>
              </a:rPr>
              <a:t>2</a:t>
            </a:r>
          </a:p>
        </p:txBody>
      </p:sp>
      <p:sp>
        <p:nvSpPr>
          <p:cNvPr id="10" name="Reason 2"/>
          <p:cNvSpPr txBox="1"/>
          <p:nvPr/>
        </p:nvSpPr>
        <p:spPr>
          <a:xfrm>
            <a:off x="1097280" y="3648456"/>
            <a:ext cx="5257800" cy="804672"/>
          </a:xfrm>
          <a:prstGeom prst="rect">
            <a:avLst/>
          </a:prstGeom>
          <a:noFill/>
        </p:spPr>
        <p:txBody>
          <a:bodyPr wrap="square" lIns="0" rIns="0" tIns="0" bIns="0" anchor="t">
            <a:noAutofit/>
          </a:bodyPr>
          <a:lstStyle/>
          <a:p>
            <a:pPr algn="l">
              <a:lnSpc>
                <a:spcPct val="100000"/>
              </a:lnSpc>
              <a:spcBef>
                <a:spcPts val="0"/>
              </a:spcBef>
              <a:spcAft>
                <a:spcPts val="0"/>
              </a:spcAft>
            </a:pPr>
            <a:r>
              <a:rPr sz="1300" b="1" i="0">
                <a:solidFill>
                  <a:srgbClr val="14232E"/>
                </a:solidFill>
                <a:latin typeface="Calibri"/>
              </a:rPr>
              <a:t>Measurable. </a:t>
            </a:r>
            <a:r>
              <a:rPr sz="1300" b="0" i="0">
                <a:solidFill>
                  <a:srgbClr val="14232E"/>
                </a:solidFill>
                <a:latin typeface="Calibri"/>
              </a:rPr>
              <a:t>The simulator records when every batch returns, so lateness is computed, not estimated.</a:t>
            </a:r>
          </a:p>
        </p:txBody>
      </p:sp>
      <p:sp>
        <p:nvSpPr>
          <p:cNvPr id="11" name="Badge"/>
          <p:cNvSpPr/>
          <p:nvPr/>
        </p:nvSpPr>
        <p:spPr>
          <a:xfrm>
            <a:off x="548640" y="4517136"/>
            <a:ext cx="384048" cy="3840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spcBef>
                <a:spcPts val="0"/>
              </a:spcBef>
              <a:spcAft>
                <a:spcPts val="0"/>
              </a:spcAft>
            </a:pPr>
            <a:r>
              <a:rPr sz="1400" b="1" i="0">
                <a:solidFill>
                  <a:srgbClr val="FFFFFF"/>
                </a:solidFill>
                <a:latin typeface="Calibri"/>
              </a:rPr>
              <a:t>3</a:t>
            </a:r>
          </a:p>
        </p:txBody>
      </p:sp>
      <p:sp>
        <p:nvSpPr>
          <p:cNvPr id="12" name="Reason 3"/>
          <p:cNvSpPr txBox="1"/>
          <p:nvPr/>
        </p:nvSpPr>
        <p:spPr>
          <a:xfrm>
            <a:off x="1097280" y="4489704"/>
            <a:ext cx="5257800" cy="804672"/>
          </a:xfrm>
          <a:prstGeom prst="rect">
            <a:avLst/>
          </a:prstGeom>
          <a:noFill/>
        </p:spPr>
        <p:txBody>
          <a:bodyPr wrap="square" lIns="0" rIns="0" tIns="0" bIns="0" anchor="t">
            <a:noAutofit/>
          </a:bodyPr>
          <a:lstStyle/>
          <a:p>
            <a:pPr algn="l">
              <a:lnSpc>
                <a:spcPct val="100000"/>
              </a:lnSpc>
              <a:spcBef>
                <a:spcPts val="0"/>
              </a:spcBef>
              <a:spcAft>
                <a:spcPts val="0"/>
              </a:spcAft>
            </a:pPr>
            <a:r>
              <a:rPr sz="1300" b="1" i="0">
                <a:solidFill>
                  <a:srgbClr val="14232E"/>
                </a:solidFill>
                <a:latin typeface="Calibri"/>
              </a:rPr>
              <a:t>Controllable. </a:t>
            </a:r>
            <a:r>
              <a:rPr sz="1300" b="0" i="0">
                <a:solidFill>
                  <a:srgbClr val="14232E"/>
                </a:solidFill>
                <a:latin typeface="Calibri"/>
              </a:rPr>
              <a:t>Lateness depends on queue, capacity and transport — exactly what the choice of workshop changes.</a:t>
            </a:r>
          </a:p>
        </p:txBody>
      </p:sp>
      <p:sp>
        <p:nvSpPr>
          <p:cNvPr id="13" name="Baselines note"/>
          <p:cNvSpPr txBox="1"/>
          <p:nvPr/>
        </p:nvSpPr>
        <p:spPr>
          <a:xfrm>
            <a:off x="548640" y="5349240"/>
            <a:ext cx="5806440" cy="365760"/>
          </a:xfrm>
          <a:prstGeom prst="rect">
            <a:avLst/>
          </a:prstGeom>
          <a:noFill/>
        </p:spPr>
        <p:txBody>
          <a:bodyPr wrap="square" lIns="0" rIns="0" tIns="0" bIns="0" anchor="t">
            <a:noAutofit/>
          </a:bodyPr>
          <a:lstStyle/>
          <a:p>
            <a:pPr algn="l">
              <a:lnSpc>
                <a:spcPct val="100000"/>
              </a:lnSpc>
              <a:spcBef>
                <a:spcPts val="0"/>
              </a:spcBef>
              <a:spcAft>
                <a:spcPts val="0"/>
              </a:spcAft>
            </a:pPr>
            <a:r>
              <a:rPr sz="1100" b="0" i="1">
                <a:solidFill>
                  <a:srgbClr val="52606B"/>
                </a:solidFill>
                <a:latin typeface="Calibri"/>
              </a:rPr>
              <a:t>The three baselines are 34–92% late in simulation: the largest gap, but supporting evidence, not the reason.</a:t>
            </a:r>
          </a:p>
        </p:txBody>
      </p:sp>
      <p:sp>
        <p:nvSpPr>
          <p:cNvPr id="14" name="Label"/>
          <p:cNvSpPr txBox="1"/>
          <p:nvPr/>
        </p:nvSpPr>
        <p:spPr>
          <a:xfrm>
            <a:off x="6675120" y="2487168"/>
            <a:ext cx="45720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2A78D6"/>
                </a:solidFill>
                <a:latin typeface="Calibri"/>
              </a:rPr>
              <a:t>THE OTHER THREE</a:t>
            </a:r>
          </a:p>
        </p:txBody>
      </p:sp>
      <p:sp>
        <p:nvSpPr>
          <p:cNvPr id="15" name="Defects, fairness"/>
          <p:cNvSpPr/>
          <p:nvPr/>
        </p:nvSpPr>
        <p:spPr>
          <a:xfrm>
            <a:off x="6675120" y="2807208"/>
            <a:ext cx="4965192" cy="768096"/>
          </a:xfrm>
          <a:prstGeom prst="roundRect">
            <a:avLst>
              <a:gd name="adj" fmla="val 14285"/>
            </a:avLst>
          </a:prstGeom>
          <a:solidFill>
            <a:srgbClr val="EF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0" bIns="0">
            <a:noAutofit/>
          </a:bodyPr>
          <a:lstStyle/>
          <a:p>
            <a:pPr algn="l">
              <a:lnSpc>
                <a:spcPct val="100000"/>
              </a:lnSpc>
              <a:spcBef>
                <a:spcPts val="0"/>
              </a:spcBef>
              <a:spcAft>
                <a:spcPts val="0"/>
              </a:spcAft>
            </a:pPr>
            <a:r>
              <a:rPr sz="1200" b="1" i="0">
                <a:solidFill>
                  <a:srgbClr val="14232E"/>
                </a:solidFill>
                <a:latin typeface="Calibri"/>
              </a:rPr>
              <a:t>Defects, fairness. </a:t>
            </a:r>
            <a:r>
              <a:rPr sz="1200" b="0" i="0">
                <a:solidFill>
                  <a:srgbClr val="14232E"/>
                </a:solidFill>
                <a:latin typeface="Calibri"/>
              </a:rPr>
              <a:t>Switchable settings of the same allocator; results reported on the same 120 orders.</a:t>
            </a:r>
          </a:p>
        </p:txBody>
      </p:sp>
      <p:sp>
        <p:nvSpPr>
          <p:cNvPr id="16" name="Hybrid"/>
          <p:cNvSpPr/>
          <p:nvPr/>
        </p:nvSpPr>
        <p:spPr>
          <a:xfrm>
            <a:off x="6675120" y="3648456"/>
            <a:ext cx="4965192" cy="768096"/>
          </a:xfrm>
          <a:prstGeom prst="roundRect">
            <a:avLst>
              <a:gd name="adj" fmla="val 14285"/>
            </a:avLst>
          </a:prstGeom>
          <a:solidFill>
            <a:srgbClr val="EF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0" bIns="0">
            <a:noAutofit/>
          </a:bodyPr>
          <a:lstStyle/>
          <a:p>
            <a:pPr algn="l">
              <a:lnSpc>
                <a:spcPct val="100000"/>
              </a:lnSpc>
              <a:spcBef>
                <a:spcPts val="0"/>
              </a:spcBef>
              <a:spcAft>
                <a:spcPts val="0"/>
              </a:spcAft>
            </a:pPr>
            <a:r>
              <a:rPr sz="1200" b="1" i="0">
                <a:solidFill>
                  <a:srgbClr val="14232E"/>
                </a:solidFill>
                <a:latin typeface="Calibri"/>
              </a:rPr>
              <a:t>Hybrid. </a:t>
            </a:r>
            <a:r>
              <a:rPr sz="1200" b="0" i="0">
                <a:solidFill>
                  <a:srgbClr val="14232E"/>
                </a:solidFill>
                <a:latin typeface="Calibri"/>
              </a:rPr>
              <a:t>One weighted setting (late 1.0, finish 0.3, defect 0.25, load 0.5). Metrics scaled 0–1 first; weights at the knee of the lateness–defect curve, checked on held-out seeds.</a:t>
            </a:r>
          </a:p>
        </p:txBody>
      </p:sp>
      <p:sp>
        <p:nvSpPr>
          <p:cNvPr id="17" name="Robust to failure"/>
          <p:cNvSpPr/>
          <p:nvPr/>
        </p:nvSpPr>
        <p:spPr>
          <a:xfrm>
            <a:off x="6675120" y="4489704"/>
            <a:ext cx="4965192" cy="768096"/>
          </a:xfrm>
          <a:prstGeom prst="roundRect">
            <a:avLst>
              <a:gd name="adj" fmla="val 14285"/>
            </a:avLst>
          </a:prstGeom>
          <a:solidFill>
            <a:srgbClr val="EF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0" bIns="0">
            <a:noAutofit/>
          </a:bodyPr>
          <a:lstStyle/>
          <a:p>
            <a:pPr algn="l">
              <a:lnSpc>
                <a:spcPct val="100000"/>
              </a:lnSpc>
              <a:spcBef>
                <a:spcPts val="0"/>
              </a:spcBef>
              <a:spcAft>
                <a:spcPts val="0"/>
              </a:spcAft>
            </a:pPr>
            <a:r>
              <a:rPr sz="1200" b="1" i="0">
                <a:solidFill>
                  <a:srgbClr val="14232E"/>
                </a:solidFill>
                <a:latin typeface="Calibri"/>
              </a:rPr>
              <a:t>Robust to failure. </a:t>
            </a:r>
            <a:r>
              <a:rPr sz="1200" b="0" i="0">
                <a:solidFill>
                  <a:srgbClr val="14232E"/>
                </a:solidFill>
                <a:latin typeface="Calibri"/>
              </a:rPr>
              <a:t>Tested with the shock scenario; guardrail: lateness no worse than random.</a:t>
            </a:r>
          </a:p>
        </p:txBody>
      </p:sp>
      <p:sp>
        <p:nvSpPr>
          <p:cNvPr id="18" name="Tie-break"/>
          <p:cNvSpPr/>
          <p:nvPr/>
        </p:nvSpPr>
        <p:spPr>
          <a:xfrm>
            <a:off x="548640" y="5760720"/>
            <a:ext cx="11091672" cy="566928"/>
          </a:xfrm>
          <a:prstGeom prst="roundRect">
            <a:avLst>
              <a:gd name="adj" fmla="val 16129"/>
            </a:avLst>
          </a:prstGeom>
          <a:solidFill>
            <a:srgbClr val="E6F0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0" bIns="0">
            <a:noAutofit/>
          </a:bodyPr>
          <a:lstStyle/>
          <a:p>
            <a:pPr algn="l">
              <a:lnSpc>
                <a:spcPct val="100000"/>
              </a:lnSpc>
              <a:spcBef>
                <a:spcPts val="0"/>
              </a:spcBef>
              <a:spcAft>
                <a:spcPts val="0"/>
              </a:spcAft>
            </a:pPr>
            <a:r>
              <a:rPr sz="1250" b="0" i="0">
                <a:solidFill>
                  <a:srgbClr val="14232E"/>
                </a:solidFill>
                <a:latin typeface="Calibri"/>
              </a:rPr>
              <a:t>Declared tie-break: when two settings are equally late, we take the shorter turnaround — the track names turnaround days as the business impact.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94415" cy="1188720"/>
          </a:xfrm>
          <a:prstGeom prst="rect">
            <a:avLst/>
          </a:prstGeom>
          <a:noFill/>
        </p:spPr>
        <p:txBody>
          <a:bodyPr wrap="square" lIns="0" rIns="0" tIns="0" bIns="0" anchor="t">
            <a:noAutofit/>
          </a:bodyPr>
          <a:lstStyle/>
          <a:p>
            <a:pPr algn="l">
              <a:lnSpc>
                <a:spcPct val="98000"/>
              </a:lnSpc>
              <a:spcBef>
                <a:spcPts val="0"/>
              </a:spcBef>
              <a:spcAft>
                <a:spcPts val="0"/>
              </a:spcAft>
            </a:pPr>
            <a:r>
              <a:rPr sz="3400" b="1" i="0">
                <a:solidFill>
                  <a:srgbClr val="14232E"/>
                </a:solidFill>
                <a:latin typeface="Cambria"/>
              </a:rPr>
              <a:t>The loop runs end to end, and the first results are in</a:t>
            </a:r>
          </a:p>
        </p:txBody>
      </p:sp>
      <p:sp>
        <p:nvSpPr>
          <p:cNvPr id="3" name="Footer"/>
          <p:cNvSpPr txBox="1"/>
          <p:nvPr/>
        </p:nvSpPr>
        <p:spPr>
          <a:xfrm>
            <a:off x="548640" y="6446520"/>
            <a:ext cx="82296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2606B"/>
                </a:solidFill>
                <a:latin typeface="Calibri"/>
              </a:rPr>
              <a:t>DSS5105 Capstone  ·  Track 2  ·  Subcontracting Desk  ·  Sprint 1</a:t>
            </a:r>
          </a:p>
        </p:txBody>
      </p:sp>
      <p:sp>
        <p:nvSpPr>
          <p:cNvPr id="4" name="Slide number"/>
          <p:cNvSpPr txBox="1"/>
          <p:nvPr/>
        </p:nvSpPr>
        <p:spPr>
          <a:xfrm>
            <a:off x="10728655" y="6446520"/>
            <a:ext cx="9144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2606B"/>
                </a:solidFill>
                <a:latin typeface="Calibri"/>
              </a:rPr>
              <a:t>4</a:t>
            </a:r>
          </a:p>
        </p:txBody>
      </p:sp>
      <p:pic>
        <p:nvPicPr>
          <p:cNvPr id="5" name="Picture" descr="Screenshot of the dispatcher interface: inbox grouped by next step with a one-click confirm, and the decision card for R12"/>
          <p:cNvPicPr>
            <a:picLocks noChangeAspect="1"/>
          </p:cNvPicPr>
          <p:nvPr/>
        </p:nvPicPr>
        <p:blipFill>
          <a:blip r:embed="rId2"/>
          <a:stretch>
            <a:fillRect/>
          </a:stretch>
        </p:blipFill>
        <p:spPr>
          <a:xfrm>
            <a:off x="548640" y="1783080"/>
            <a:ext cx="5120640" cy="4169663"/>
          </a:xfrm>
          <a:prstGeom prst="rect">
            <a:avLst/>
          </a:prstGeom>
        </p:spPr>
      </p:pic>
      <p:sp>
        <p:nvSpPr>
          <p:cNvPr id="6" name="Screenshot frame"/>
          <p:cNvSpPr/>
          <p:nvPr/>
        </p:nvSpPr>
        <p:spPr>
          <a:xfrm>
            <a:off x="548640" y="1783080"/>
            <a:ext cx="5120640" cy="4169663"/>
          </a:xfrm>
          <a:prstGeom prst="rect">
            <a:avLst/>
          </a:prstGeom>
          <a:noFill/>
          <a:ln w="12700">
            <a:solidFill>
              <a:srgbClr val="CBD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ption"/>
          <p:cNvSpPr txBox="1"/>
          <p:nvPr/>
        </p:nvSpPr>
        <p:spPr>
          <a:xfrm>
            <a:off x="548640" y="5998464"/>
            <a:ext cx="5120640" cy="411480"/>
          </a:xfrm>
          <a:prstGeom prst="rect">
            <a:avLst/>
          </a:prstGeom>
          <a:noFill/>
        </p:spPr>
        <p:txBody>
          <a:bodyPr wrap="square" lIns="0" rIns="0" tIns="0" bIns="0" anchor="t">
            <a:noAutofit/>
          </a:bodyPr>
          <a:lstStyle/>
          <a:p>
            <a:pPr algn="l">
              <a:lnSpc>
                <a:spcPct val="100000"/>
              </a:lnSpc>
              <a:spcBef>
                <a:spcPts val="0"/>
              </a:spcBef>
              <a:spcAft>
                <a:spcPts val="0"/>
              </a:spcAft>
            </a:pPr>
            <a:r>
              <a:rPr sz="1100" b="0" i="0">
                <a:solidFill>
                  <a:srgbClr val="52606B"/>
                </a:solidFill>
                <a:latin typeface="Calibri"/>
              </a:rPr>
              <a:t>One message in, one recommendation with two dates and a reason, one click to confirm, one audit record.</a:t>
            </a:r>
          </a:p>
        </p:txBody>
      </p:sp>
      <p:sp>
        <p:nvSpPr>
          <p:cNvPr id="8" name="Label"/>
          <p:cNvSpPr txBox="1"/>
          <p:nvPr/>
        </p:nvSpPr>
        <p:spPr>
          <a:xfrm>
            <a:off x="5989320" y="1783080"/>
            <a:ext cx="566928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52606B"/>
                </a:solidFill>
                <a:latin typeface="Calibri"/>
              </a:rPr>
              <a:t>IN SIMULATION · OFFICIAL 120 ORDERS · MEAN OF 10 SEEDS</a:t>
            </a:r>
          </a:p>
        </p:txBody>
      </p:sp>
      <p:graphicFrame>
        <p:nvGraphicFramePr>
          <p:cNvPr id="9" name="Results"/>
          <p:cNvGraphicFramePr>
            <a:graphicFrameLocks noGrp="1"/>
          </p:cNvGraphicFramePr>
          <p:nvPr/>
        </p:nvGraphicFramePr>
        <p:xfrm>
          <a:off x="5989320" y="2103120"/>
          <a:ext cx="5650992" cy="1828800"/>
        </p:xfrm>
        <a:graphic>
          <a:graphicData uri="http://schemas.openxmlformats.org/drawingml/2006/table">
            <a:tbl>
              <a:tblPr>
                <a:tableStyleId>{2D5ABB26-0587-4C30-8999-92F81FD0307C}</a:tableStyleId>
              </a:tblPr>
              <a:tblGrid>
                <a:gridCol w="3200400"/>
                <a:gridCol w="1188720"/>
                <a:gridCol w="1261872"/>
              </a:tblGrid>
              <a:tr h="365760">
                <a:tc>
                  <a:txBody>
                    <a:bodyPr wrap="square"/>
                    <a:lstStyle/>
                    <a:p>
                      <a:pPr algn="l"/>
                      <a:r>
                        <a:rPr sz="1250" b="1">
                          <a:solidFill>
                            <a:srgbClr val="FFFFFF"/>
                          </a:solidFill>
                          <a:latin typeface="Calibri"/>
                        </a:rPr>
                        <a:t>Policy</a:t>
                      </a:r>
                    </a:p>
                  </a:txBody>
                  <a:tcPr marL="73152" marR="73152" marT="18288" marB="18288" anchor="ctr">
                    <a:solidFill>
                      <a:srgbClr val="0F2B3A"/>
                    </a:solidFill>
                  </a:tcPr>
                </a:tc>
                <a:tc>
                  <a:txBody>
                    <a:bodyPr wrap="square"/>
                    <a:lstStyle/>
                    <a:p>
                      <a:pPr algn="r"/>
                      <a:r>
                        <a:rPr sz="1250" b="1">
                          <a:solidFill>
                            <a:srgbClr val="FFFFFF"/>
                          </a:solidFill>
                          <a:latin typeface="Calibri"/>
                        </a:rPr>
                        <a:t>Late batches</a:t>
                      </a:r>
                    </a:p>
                  </a:txBody>
                  <a:tcPr marL="73152" marR="73152" marT="18288" marB="18288" anchor="ctr">
                    <a:solidFill>
                      <a:srgbClr val="0F2B3A"/>
                    </a:solidFill>
                  </a:tcPr>
                </a:tc>
                <a:tc>
                  <a:txBody>
                    <a:bodyPr wrap="square"/>
                    <a:lstStyle/>
                    <a:p>
                      <a:pPr algn="r"/>
                      <a:r>
                        <a:rPr sz="1250" b="1">
                          <a:solidFill>
                            <a:srgbClr val="FFFFFF"/>
                          </a:solidFill>
                          <a:latin typeface="Calibri"/>
                        </a:rPr>
                        <a:t>Mean days late</a:t>
                      </a:r>
                    </a:p>
                  </a:txBody>
                  <a:tcPr marL="73152" marR="73152" marT="18288" marB="18288" anchor="ctr">
                    <a:solidFill>
                      <a:srgbClr val="0F2B3A"/>
                    </a:solidFill>
                  </a:tcPr>
                </a:tc>
              </a:tr>
              <a:tr h="365760">
                <a:tc>
                  <a:txBody>
                    <a:bodyPr wrap="square"/>
                    <a:lstStyle/>
                    <a:p>
                      <a:pPr algn="l"/>
                      <a:r>
                        <a:rPr sz="1250" b="0">
                          <a:solidFill>
                            <a:srgbClr val="14232E"/>
                          </a:solidFill>
                          <a:latin typeface="Calibri"/>
                        </a:rPr>
                        <a:t>random  (baseline)</a:t>
                      </a:r>
                    </a:p>
                  </a:txBody>
                  <a:tcPr marL="73152" marR="73152" marT="18288" marB="18288" anchor="ctr">
                    <a:solidFill>
                      <a:srgbClr val="FFFFFF"/>
                    </a:solidFill>
                  </a:tcPr>
                </a:tc>
                <a:tc>
                  <a:txBody>
                    <a:bodyPr wrap="square"/>
                    <a:lstStyle/>
                    <a:p>
                      <a:pPr algn="r"/>
                      <a:r>
                        <a:rPr sz="1250" b="0">
                          <a:solidFill>
                            <a:srgbClr val="14232E"/>
                          </a:solidFill>
                          <a:latin typeface="Calibri"/>
                        </a:rPr>
                        <a:t>34.2%</a:t>
                      </a:r>
                    </a:p>
                  </a:txBody>
                  <a:tcPr marL="73152" marR="73152" marT="18288" marB="18288" anchor="ctr">
                    <a:solidFill>
                      <a:srgbClr val="FFFFFF"/>
                    </a:solidFill>
                  </a:tcPr>
                </a:tc>
                <a:tc>
                  <a:txBody>
                    <a:bodyPr wrap="square"/>
                    <a:lstStyle/>
                    <a:p>
                      <a:pPr algn="r"/>
                      <a:r>
                        <a:rPr sz="1250" b="0">
                          <a:solidFill>
                            <a:srgbClr val="14232E"/>
                          </a:solidFill>
                          <a:latin typeface="Calibri"/>
                        </a:rPr>
                        <a:t>6.13</a:t>
                      </a:r>
                    </a:p>
                  </a:txBody>
                  <a:tcPr marL="73152" marR="73152" marT="18288" marB="18288" anchor="ctr">
                    <a:solidFill>
                      <a:srgbClr val="FFFFFF"/>
                    </a:solidFill>
                  </a:tcPr>
                </a:tc>
              </a:tr>
              <a:tr h="365760">
                <a:tc>
                  <a:txBody>
                    <a:bodyPr wrap="square"/>
                    <a:lstStyle/>
                    <a:p>
                      <a:pPr algn="l"/>
                      <a:r>
                        <a:rPr sz="1250" b="0">
                          <a:solidFill>
                            <a:srgbClr val="14232E"/>
                          </a:solidFill>
                          <a:latin typeface="Calibri"/>
                        </a:rPr>
                        <a:t>cheapest  (baseline)</a:t>
                      </a:r>
                    </a:p>
                  </a:txBody>
                  <a:tcPr marL="73152" marR="73152" marT="18288" marB="18288" anchor="ctr">
                    <a:solidFill>
                      <a:srgbClr val="FFFFFF"/>
                    </a:solidFill>
                  </a:tcPr>
                </a:tc>
                <a:tc>
                  <a:txBody>
                    <a:bodyPr wrap="square"/>
                    <a:lstStyle/>
                    <a:p>
                      <a:pPr algn="r"/>
                      <a:r>
                        <a:rPr sz="1250" b="0">
                          <a:solidFill>
                            <a:srgbClr val="14232E"/>
                          </a:solidFill>
                          <a:latin typeface="Calibri"/>
                        </a:rPr>
                        <a:t>91.8%</a:t>
                      </a:r>
                    </a:p>
                  </a:txBody>
                  <a:tcPr marL="73152" marR="73152" marT="18288" marB="18288" anchor="ctr">
                    <a:solidFill>
                      <a:srgbClr val="FFFFFF"/>
                    </a:solidFill>
                  </a:tcPr>
                </a:tc>
                <a:tc>
                  <a:txBody>
                    <a:bodyPr wrap="square"/>
                    <a:lstStyle/>
                    <a:p>
                      <a:pPr algn="r"/>
                      <a:r>
                        <a:rPr sz="1250" b="0">
                          <a:solidFill>
                            <a:srgbClr val="14232E"/>
                          </a:solidFill>
                          <a:latin typeface="Calibri"/>
                        </a:rPr>
                        <a:t>81.9</a:t>
                      </a:r>
                    </a:p>
                  </a:txBody>
                  <a:tcPr marL="73152" marR="73152" marT="18288" marB="18288" anchor="ctr">
                    <a:solidFill>
                      <a:srgbClr val="FFFFFF"/>
                    </a:solidFill>
                  </a:tcPr>
                </a:tc>
              </a:tr>
              <a:tr h="365760">
                <a:tc>
                  <a:txBody>
                    <a:bodyPr wrap="square"/>
                    <a:lstStyle/>
                    <a:p>
                      <a:pPr algn="l"/>
                      <a:r>
                        <a:rPr sz="1250" b="0">
                          <a:solidFill>
                            <a:srgbClr val="14232E"/>
                          </a:solidFill>
                          <a:latin typeface="Calibri"/>
                        </a:rPr>
                        <a:t>earliest-finish  (simple rule, no LLM)</a:t>
                      </a:r>
                    </a:p>
                  </a:txBody>
                  <a:tcPr marL="73152" marR="73152" marT="18288" marB="18288" anchor="ctr">
                    <a:solidFill>
                      <a:srgbClr val="FDEBE3"/>
                    </a:solidFill>
                  </a:tcPr>
                </a:tc>
                <a:tc>
                  <a:txBody>
                    <a:bodyPr wrap="square"/>
                    <a:lstStyle/>
                    <a:p>
                      <a:pPr algn="r"/>
                      <a:r>
                        <a:rPr sz="1250" b="0">
                          <a:solidFill>
                            <a:srgbClr val="14232E"/>
                          </a:solidFill>
                          <a:latin typeface="Calibri"/>
                        </a:rPr>
                        <a:t>1.7%</a:t>
                      </a:r>
                    </a:p>
                  </a:txBody>
                  <a:tcPr marL="73152" marR="73152" marT="18288" marB="18288" anchor="ctr">
                    <a:solidFill>
                      <a:srgbClr val="FDEBE3"/>
                    </a:solidFill>
                  </a:tcPr>
                </a:tc>
                <a:tc>
                  <a:txBody>
                    <a:bodyPr wrap="square"/>
                    <a:lstStyle/>
                    <a:p>
                      <a:pPr algn="r"/>
                      <a:r>
                        <a:rPr sz="1250" b="0">
                          <a:solidFill>
                            <a:srgbClr val="14232E"/>
                          </a:solidFill>
                          <a:latin typeface="Calibri"/>
                        </a:rPr>
                        <a:t>0.18</a:t>
                      </a:r>
                    </a:p>
                  </a:txBody>
                  <a:tcPr marL="73152" marR="73152" marT="18288" marB="18288" anchor="ctr">
                    <a:solidFill>
                      <a:srgbClr val="FDEBE3"/>
                    </a:solidFill>
                  </a:tcPr>
                </a:tc>
              </a:tr>
              <a:tr h="365760">
                <a:tc>
                  <a:txBody>
                    <a:bodyPr wrap="square"/>
                    <a:lstStyle/>
                    <a:p>
                      <a:pPr algn="l"/>
                      <a:r>
                        <a:rPr sz="1250" b="1">
                          <a:solidFill>
                            <a:srgbClr val="14232E"/>
                          </a:solidFill>
                          <a:latin typeface="Calibri"/>
                        </a:rPr>
                        <a:t>ours (lateness setting)</a:t>
                      </a:r>
                    </a:p>
                  </a:txBody>
                  <a:tcPr marL="73152" marR="73152" marT="18288" marB="18288" anchor="ctr">
                    <a:solidFill>
                      <a:srgbClr val="E6F0FC"/>
                    </a:solidFill>
                  </a:tcPr>
                </a:tc>
                <a:tc>
                  <a:txBody>
                    <a:bodyPr wrap="square"/>
                    <a:lstStyle/>
                    <a:p>
                      <a:pPr algn="r"/>
                      <a:r>
                        <a:rPr sz="1250" b="1">
                          <a:solidFill>
                            <a:srgbClr val="14232E"/>
                          </a:solidFill>
                          <a:latin typeface="Calibri"/>
                        </a:rPr>
                        <a:t>1.7%</a:t>
                      </a:r>
                    </a:p>
                  </a:txBody>
                  <a:tcPr marL="73152" marR="73152" marT="18288" marB="18288" anchor="ctr">
                    <a:solidFill>
                      <a:srgbClr val="E6F0FC"/>
                    </a:solidFill>
                  </a:tcPr>
                </a:tc>
                <a:tc>
                  <a:txBody>
                    <a:bodyPr wrap="square"/>
                    <a:lstStyle/>
                    <a:p>
                      <a:pPr algn="r"/>
                      <a:r>
                        <a:rPr sz="1250" b="1">
                          <a:solidFill>
                            <a:srgbClr val="14232E"/>
                          </a:solidFill>
                          <a:latin typeface="Calibri"/>
                        </a:rPr>
                        <a:t>0.09</a:t>
                      </a:r>
                    </a:p>
                  </a:txBody>
                  <a:tcPr marL="73152" marR="73152" marT="18288" marB="18288" anchor="ctr">
                    <a:solidFill>
                      <a:srgbClr val="E6F0FC"/>
                    </a:solidFill>
                  </a:tcPr>
                </a:tc>
              </a:tr>
            </a:tbl>
          </a:graphicData>
        </a:graphic>
      </p:graphicFrame>
      <p:sp>
        <p:nvSpPr>
          <p:cNvPr id="10" name="Fresh data"/>
          <p:cNvSpPr txBox="1"/>
          <p:nvPr/>
        </p:nvSpPr>
        <p:spPr>
          <a:xfrm>
            <a:off x="5989320" y="4041648"/>
            <a:ext cx="5650992" cy="822960"/>
          </a:xfrm>
          <a:prstGeom prst="rect">
            <a:avLst/>
          </a:prstGeom>
          <a:noFill/>
        </p:spPr>
        <p:txBody>
          <a:bodyPr wrap="square" lIns="0" rIns="0" tIns="0" bIns="0" anchor="t">
            <a:noAutofit/>
          </a:bodyPr>
          <a:lstStyle/>
          <a:p>
            <a:pPr algn="l">
              <a:lnSpc>
                <a:spcPct val="100000"/>
              </a:lnSpc>
              <a:spcBef>
                <a:spcPts val="0"/>
              </a:spcBef>
              <a:spcAft>
                <a:spcPts val="0"/>
              </a:spcAft>
            </a:pPr>
            <a:r>
              <a:rPr sz="1150" b="0" i="0">
                <a:solidFill>
                  <a:srgbClr val="14232E"/>
                </a:solidFill>
                <a:latin typeface="Calibri"/>
              </a:rPr>
              <a:t>On 200 fresh order books the simple rule never saw, ours is ahead: 0.9% vs 1.7% late on 100 jittered sets (better on 72, worse on 3). Under shock the simple rule still edges us, 1.9% vs 2.0%: one batch in ten runs. Source: simulate.py v3, commit 1c6cb61.</a:t>
            </a:r>
          </a:p>
        </p:txBody>
      </p:sp>
      <p:sp>
        <p:nvSpPr>
          <p:cNvPr id="11" name="Progress"/>
          <p:cNvSpPr txBox="1"/>
          <p:nvPr/>
        </p:nvSpPr>
        <p:spPr>
          <a:xfrm>
            <a:off x="5989320" y="4937760"/>
            <a:ext cx="5650992" cy="1828800"/>
          </a:xfrm>
          <a:prstGeom prst="rect">
            <a:avLst/>
          </a:prstGeom>
          <a:noFill/>
        </p:spPr>
        <p:txBody>
          <a:bodyPr wrap="square" lIns="0" rIns="0" tIns="0" bIns="0" anchor="t">
            <a:noAutofit/>
          </a:bodyPr>
          <a:lstStyle/>
          <a:p>
            <a:pPr algn="l" marL="201168" indent="-201168">
              <a:lnSpc>
                <a:spcPct val="100000"/>
              </a:lnSpc>
              <a:spcBef>
                <a:spcPts val="0"/>
              </a:spcBef>
              <a:spcAft>
                <a:spcPts val="400"/>
              </a:spcAft>
              <a:buFont typeface="Arial"/>
              <a:buChar char="•"/>
            </a:pPr>
            <a:r>
              <a:rPr sz="1200" b="1" i="0">
                <a:solidFill>
                  <a:srgbClr val="14232E"/>
                </a:solidFill>
                <a:latin typeface="Calibri"/>
              </a:rPr>
              <a:t>56 automated tests pass; </a:t>
            </a:r>
            <a:r>
              <a:rPr sz="1200" b="0" i="0">
                <a:solidFill>
                  <a:srgbClr val="14232E"/>
                </a:solidFill>
                <a:latin typeface="Calibri"/>
              </a:rPr>
              <a:t>every number in every reply on the 30-message inbox traces to a tool output.</a:t>
            </a:r>
          </a:p>
          <a:p>
            <a:pPr algn="l" marL="201168" indent="-201168">
              <a:lnSpc>
                <a:spcPct val="100000"/>
              </a:lnSpc>
              <a:spcBef>
                <a:spcPts val="0"/>
              </a:spcBef>
              <a:spcAft>
                <a:spcPts val="400"/>
              </a:spcAft>
              <a:buFont typeface="Arial"/>
              <a:buChar char="•"/>
            </a:pPr>
            <a:r>
              <a:rPr sz="1200" b="1" i="0">
                <a:solidFill>
                  <a:srgbClr val="14232E"/>
                </a:solidFill>
                <a:latin typeface="Calibri"/>
              </a:rPr>
              <a:t>All six of us labelled the 30 messages independently </a:t>
            </a:r>
            <a:r>
              <a:rPr sz="1200" b="0" i="0">
                <a:solidFill>
                  <a:srgbClr val="14232E"/>
                </a:solidFill>
                <a:latin typeface="Calibri"/>
              </a:rPr>
              <a:t>(κ 0.70); labels frozen on 7 Oct; counts per kind match the instructor's mix.</a:t>
            </a:r>
          </a:p>
          <a:p>
            <a:pPr algn="l" marL="201168" indent="-201168">
              <a:lnSpc>
                <a:spcPct val="100000"/>
              </a:lnSpc>
              <a:spcBef>
                <a:spcPts val="0"/>
              </a:spcBef>
              <a:spcAft>
                <a:spcPts val="400"/>
              </a:spcAft>
              <a:buFont typeface="Arial"/>
              <a:buChar char="•"/>
            </a:pPr>
            <a:r>
              <a:rPr sz="1200" b="1" i="0">
                <a:solidFill>
                  <a:srgbClr val="14232E"/>
                </a:solidFill>
                <a:latin typeface="Calibri"/>
              </a:rPr>
              <a:t>The language model was measured, then corrected: </a:t>
            </a:r>
            <a:r>
              <a:rPr sz="1200" b="0" i="0">
                <a:solidFill>
                  <a:srgbClr val="14232E"/>
                </a:solidFill>
                <a:latin typeface="Calibri"/>
              </a:rPr>
              <a:t>GPT-5 mini now reads all 30 official and 38 new messages right; the cheapest model started at 86%.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94415" cy="1188720"/>
          </a:xfrm>
          <a:prstGeom prst="rect">
            <a:avLst/>
          </a:prstGeom>
          <a:noFill/>
        </p:spPr>
        <p:txBody>
          <a:bodyPr wrap="square" lIns="0" rIns="0" tIns="0" bIns="0" anchor="t">
            <a:noAutofit/>
          </a:bodyPr>
          <a:lstStyle/>
          <a:p>
            <a:pPr algn="l">
              <a:lnSpc>
                <a:spcPct val="98000"/>
              </a:lnSpc>
              <a:spcBef>
                <a:spcPts val="0"/>
              </a:spcBef>
              <a:spcAft>
                <a:spcPts val="0"/>
              </a:spcAft>
            </a:pPr>
            <a:r>
              <a:rPr sz="3400" b="1" i="0">
                <a:solidFill>
                  <a:srgbClr val="14232E"/>
                </a:solidFill>
                <a:latin typeface="Cambria"/>
              </a:rPr>
              <a:t>What could go wrong, and what we are assuming</a:t>
            </a:r>
          </a:p>
        </p:txBody>
      </p:sp>
      <p:sp>
        <p:nvSpPr>
          <p:cNvPr id="3" name="Footer"/>
          <p:cNvSpPr txBox="1"/>
          <p:nvPr/>
        </p:nvSpPr>
        <p:spPr>
          <a:xfrm>
            <a:off x="548640" y="6446520"/>
            <a:ext cx="82296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2606B"/>
                </a:solidFill>
                <a:latin typeface="Calibri"/>
              </a:rPr>
              <a:t>DSS5105 Capstone  ·  Track 2  ·  Subcontracting Desk  ·  Sprint 1</a:t>
            </a:r>
          </a:p>
        </p:txBody>
      </p:sp>
      <p:sp>
        <p:nvSpPr>
          <p:cNvPr id="4" name="Slide number"/>
          <p:cNvSpPr txBox="1"/>
          <p:nvPr/>
        </p:nvSpPr>
        <p:spPr>
          <a:xfrm>
            <a:off x="10728655" y="6446520"/>
            <a:ext cx="9144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2606B"/>
                </a:solidFill>
                <a:latin typeface="Calibri"/>
              </a:rPr>
              <a:t>5</a:t>
            </a:r>
          </a:p>
        </p:txBody>
      </p:sp>
      <p:sp>
        <p:nvSpPr>
          <p:cNvPr id="5" name="Label"/>
          <p:cNvSpPr txBox="1"/>
          <p:nvPr/>
        </p:nvSpPr>
        <p:spPr>
          <a:xfrm>
            <a:off x="548640" y="1755648"/>
            <a:ext cx="379476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A3410F"/>
                </a:solidFill>
                <a:latin typeface="Calibri"/>
              </a:rPr>
              <a:t>RISK</a:t>
            </a:r>
          </a:p>
        </p:txBody>
      </p:sp>
      <p:sp>
        <p:nvSpPr>
          <p:cNvPr id="6" name="Label"/>
          <p:cNvSpPr txBox="1"/>
          <p:nvPr/>
        </p:nvSpPr>
        <p:spPr>
          <a:xfrm>
            <a:off x="4480560" y="1755648"/>
            <a:ext cx="233172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52606B"/>
                </a:solidFill>
                <a:latin typeface="Calibri"/>
              </a:rPr>
              <a:t>IMPACT</a:t>
            </a:r>
          </a:p>
        </p:txBody>
      </p:sp>
      <p:sp>
        <p:nvSpPr>
          <p:cNvPr id="7" name="Label"/>
          <p:cNvSpPr txBox="1"/>
          <p:nvPr/>
        </p:nvSpPr>
        <p:spPr>
          <a:xfrm>
            <a:off x="6949440" y="1755648"/>
            <a:ext cx="4690872"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1C5CAB"/>
                </a:solidFill>
                <a:latin typeface="Calibri"/>
              </a:rPr>
              <a:t>MITIGATION</a:t>
            </a:r>
          </a:p>
        </p:txBody>
      </p:sp>
      <p:sp>
        <p:nvSpPr>
          <p:cNvPr id="8" name="Risk 1"/>
          <p:cNvSpPr/>
          <p:nvPr/>
        </p:nvSpPr>
        <p:spPr>
          <a:xfrm>
            <a:off x="548640" y="2057400"/>
            <a:ext cx="3794760" cy="1078992"/>
          </a:xfrm>
          <a:prstGeom prst="roundRect">
            <a:avLst>
              <a:gd name="adj" fmla="val 8474"/>
            </a:avLst>
          </a:prstGeom>
          <a:solidFill>
            <a:srgbClr val="FDEB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0" bIns="0">
            <a:noAutofit/>
          </a:bodyPr>
          <a:lstStyle/>
          <a:p>
            <a:pPr algn="l">
              <a:lnSpc>
                <a:spcPct val="100000"/>
              </a:lnSpc>
              <a:spcBef>
                <a:spcPts val="0"/>
              </a:spcBef>
              <a:spcAft>
                <a:spcPts val="0"/>
              </a:spcAft>
            </a:pPr>
            <a:r>
              <a:rPr sz="1200" b="1" i="0">
                <a:solidFill>
                  <a:srgbClr val="14232E"/>
                </a:solidFill>
                <a:latin typeface="Calibri"/>
              </a:rPr>
              <a:t>No clean language test yet. </a:t>
            </a:r>
            <a:r>
              <a:rPr sz="1200" b="0" i="0">
                <a:solidFill>
                  <a:srgbClr val="14232E"/>
                </a:solidFill>
                <a:latin typeface="Calibri"/>
              </a:rPr>
              <a:t>The 30 official messages were used in development; the 38 new ones are AI-written.</a:t>
            </a:r>
          </a:p>
        </p:txBody>
      </p:sp>
      <p:sp>
        <p:nvSpPr>
          <p:cNvPr id="9" name="Impact 1"/>
          <p:cNvSpPr/>
          <p:nvPr/>
        </p:nvSpPr>
        <p:spPr>
          <a:xfrm>
            <a:off x="4480560" y="2057400"/>
            <a:ext cx="2331720" cy="1078992"/>
          </a:xfrm>
          <a:prstGeom prst="roundRect">
            <a:avLst>
              <a:gd name="adj" fmla="val 8474"/>
            </a:avLst>
          </a:prstGeom>
          <a:solidFill>
            <a:srgbClr val="EF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0" bIns="0">
            <a:noAutofit/>
          </a:bodyPr>
          <a:lstStyle/>
          <a:p>
            <a:pPr algn="l">
              <a:lnSpc>
                <a:spcPct val="100000"/>
              </a:lnSpc>
              <a:spcBef>
                <a:spcPts val="0"/>
              </a:spcBef>
              <a:spcAft>
                <a:spcPts val="0"/>
              </a:spcAft>
            </a:pPr>
            <a:r>
              <a:rPr sz="1200" b="0" i="0">
                <a:solidFill>
                  <a:srgbClr val="14232E"/>
                </a:solidFill>
                <a:latin typeface="Calibri"/>
              </a:rPr>
              <a:t>We may overstate how well the model reads.</a:t>
            </a:r>
          </a:p>
        </p:txBody>
      </p:sp>
      <p:sp>
        <p:nvSpPr>
          <p:cNvPr id="10" name="Mitigation 1"/>
          <p:cNvSpPr/>
          <p:nvPr/>
        </p:nvSpPr>
        <p:spPr>
          <a:xfrm>
            <a:off x="6949440" y="2057400"/>
            <a:ext cx="4690872" cy="1078992"/>
          </a:xfrm>
          <a:prstGeom prst="roundRect">
            <a:avLst>
              <a:gd name="adj" fmla="val 8474"/>
            </a:avLst>
          </a:prstGeom>
          <a:solidFill>
            <a:srgbClr val="E6F0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0" bIns="0">
            <a:noAutofit/>
          </a:bodyPr>
          <a:lstStyle/>
          <a:p>
            <a:pPr algn="l">
              <a:lnSpc>
                <a:spcPct val="100000"/>
              </a:lnSpc>
              <a:spcBef>
                <a:spcPts val="0"/>
              </a:spcBef>
              <a:spcAft>
                <a:spcPts val="0"/>
              </a:spcAft>
            </a:pPr>
            <a:r>
              <a:rPr sz="1200" b="0" i="0">
                <a:solidFill>
                  <a:srgbClr val="14232E"/>
                </a:solidFill>
                <a:latin typeface="Calibri"/>
              </a:rPr>
              <a:t>Held-out inbox: 44 messages written by four teammates who do not touch the prompt; answers frozen before the first run (frozen 14 Oct, first run 15 Oct).</a:t>
            </a:r>
          </a:p>
        </p:txBody>
      </p:sp>
      <p:sp>
        <p:nvSpPr>
          <p:cNvPr id="11" name="Risk 2"/>
          <p:cNvSpPr/>
          <p:nvPr/>
        </p:nvSpPr>
        <p:spPr>
          <a:xfrm>
            <a:off x="548640" y="3246120"/>
            <a:ext cx="3794760" cy="1078992"/>
          </a:xfrm>
          <a:prstGeom prst="roundRect">
            <a:avLst>
              <a:gd name="adj" fmla="val 8474"/>
            </a:avLst>
          </a:prstGeom>
          <a:solidFill>
            <a:srgbClr val="FDEB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0" bIns="0">
            <a:noAutofit/>
          </a:bodyPr>
          <a:lstStyle/>
          <a:p>
            <a:pPr algn="l">
              <a:lnSpc>
                <a:spcPct val="100000"/>
              </a:lnSpc>
              <a:spcBef>
                <a:spcPts val="0"/>
              </a:spcBef>
              <a:spcAft>
                <a:spcPts val="0"/>
              </a:spcAft>
            </a:pPr>
            <a:r>
              <a:rPr sz="1200" b="1" i="0">
                <a:solidFill>
                  <a:srgbClr val="14232E"/>
                </a:solidFill>
                <a:latin typeface="Calibri"/>
              </a:rPr>
              <a:t>The simulator is kinder than reality. </a:t>
            </a:r>
            <a:r>
              <a:rPr sz="1200" b="0" i="0">
                <a:solidFill>
                  <a:srgbClr val="14232E"/>
                </a:solidFill>
                <a:latin typeface="Calibri"/>
              </a:rPr>
              <a:t>Seven-day week; the estimator does not know when a workshop closes.</a:t>
            </a:r>
          </a:p>
        </p:txBody>
      </p:sp>
      <p:sp>
        <p:nvSpPr>
          <p:cNvPr id="12" name="Impact 2"/>
          <p:cNvSpPr/>
          <p:nvPr/>
        </p:nvSpPr>
        <p:spPr>
          <a:xfrm>
            <a:off x="4480560" y="3246120"/>
            <a:ext cx="2331720" cy="1078992"/>
          </a:xfrm>
          <a:prstGeom prst="roundRect">
            <a:avLst>
              <a:gd name="adj" fmla="val 8474"/>
            </a:avLst>
          </a:prstGeom>
          <a:solidFill>
            <a:srgbClr val="EF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0" bIns="0">
            <a:noAutofit/>
          </a:bodyPr>
          <a:lstStyle/>
          <a:p>
            <a:pPr algn="l">
              <a:lnSpc>
                <a:spcPct val="100000"/>
              </a:lnSpc>
              <a:spcBef>
                <a:spcPts val="0"/>
              </a:spcBef>
              <a:spcAft>
                <a:spcPts val="0"/>
              </a:spcAft>
            </a:pPr>
            <a:r>
              <a:rPr sz="1200" b="0" i="0">
                <a:solidFill>
                  <a:srgbClr val="14232E"/>
                </a:solidFill>
                <a:latin typeface="Calibri"/>
              </a:rPr>
              <a:t>Lateness looks better than it would be.</a:t>
            </a:r>
          </a:p>
        </p:txBody>
      </p:sp>
      <p:sp>
        <p:nvSpPr>
          <p:cNvPr id="13" name="Mitigation 2"/>
          <p:cNvSpPr/>
          <p:nvPr/>
        </p:nvSpPr>
        <p:spPr>
          <a:xfrm>
            <a:off x="6949440" y="3246120"/>
            <a:ext cx="4690872" cy="1078992"/>
          </a:xfrm>
          <a:prstGeom prst="roundRect">
            <a:avLst>
              <a:gd name="adj" fmla="val 8474"/>
            </a:avLst>
          </a:prstGeom>
          <a:solidFill>
            <a:srgbClr val="E6F0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0" bIns="0">
            <a:noAutofit/>
          </a:bodyPr>
          <a:lstStyle/>
          <a:p>
            <a:pPr algn="l">
              <a:lnSpc>
                <a:spcPct val="100000"/>
              </a:lnSpc>
              <a:spcBef>
                <a:spcPts val="0"/>
              </a:spcBef>
              <a:spcAft>
                <a:spcPts val="0"/>
              </a:spcAft>
            </a:pPr>
            <a:r>
              <a:rPr sz="1200" b="0" i="0">
                <a:solidFill>
                  <a:srgbClr val="14232E"/>
                </a:solidFill>
                <a:latin typeface="Calibri"/>
              </a:rPr>
              <a:t>Sunday variant reported separately (simple rule 1.7 → 3.7%, ours → 2.1%); closed-workshop detection in Sprint 2.</a:t>
            </a:r>
          </a:p>
        </p:txBody>
      </p:sp>
      <p:sp>
        <p:nvSpPr>
          <p:cNvPr id="14" name="Risk 3"/>
          <p:cNvSpPr/>
          <p:nvPr/>
        </p:nvSpPr>
        <p:spPr>
          <a:xfrm>
            <a:off x="548640" y="4434840"/>
            <a:ext cx="3794760" cy="1078992"/>
          </a:xfrm>
          <a:prstGeom prst="roundRect">
            <a:avLst>
              <a:gd name="adj" fmla="val 8474"/>
            </a:avLst>
          </a:prstGeom>
          <a:solidFill>
            <a:srgbClr val="FDEB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0" bIns="0">
            <a:noAutofit/>
          </a:bodyPr>
          <a:lstStyle/>
          <a:p>
            <a:pPr algn="l">
              <a:lnSpc>
                <a:spcPct val="100000"/>
              </a:lnSpc>
              <a:spcBef>
                <a:spcPts val="0"/>
              </a:spcBef>
              <a:spcAft>
                <a:spcPts val="0"/>
              </a:spcAft>
            </a:pPr>
            <a:r>
              <a:rPr sz="1200" b="1" i="0">
                <a:solidFill>
                  <a:srgbClr val="14232E"/>
                </a:solidFill>
                <a:latin typeface="Calibri"/>
              </a:rPr>
              <a:t>Our online policy is not globally optimal. </a:t>
            </a:r>
            <a:r>
              <a:rPr sz="1200" b="0" i="0">
                <a:solidFill>
                  <a:srgbClr val="14232E"/>
                </a:solidFill>
                <a:latin typeface="Calibri"/>
              </a:rPr>
              <a:t>A hindsight search that knows every order in advance reaches 0% late in the tested setting.</a:t>
            </a:r>
          </a:p>
        </p:txBody>
      </p:sp>
      <p:sp>
        <p:nvSpPr>
          <p:cNvPr id="15" name="Impact 3"/>
          <p:cNvSpPr/>
          <p:nvPr/>
        </p:nvSpPr>
        <p:spPr>
          <a:xfrm>
            <a:off x="4480560" y="4434840"/>
            <a:ext cx="2331720" cy="1078992"/>
          </a:xfrm>
          <a:prstGeom prst="roundRect">
            <a:avLst>
              <a:gd name="adj" fmla="val 8474"/>
            </a:avLst>
          </a:prstGeom>
          <a:solidFill>
            <a:srgbClr val="EF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0" bIns="0">
            <a:noAutofit/>
          </a:bodyPr>
          <a:lstStyle/>
          <a:p>
            <a:pPr algn="l">
              <a:lnSpc>
                <a:spcPct val="100000"/>
              </a:lnSpc>
              <a:spcBef>
                <a:spcPts val="0"/>
              </a:spcBef>
              <a:spcAft>
                <a:spcPts val="0"/>
              </a:spcAft>
            </a:pPr>
            <a:r>
              <a:rPr sz="1200" b="0" i="0">
                <a:solidFill>
                  <a:srgbClr val="14232E"/>
                </a:solidFill>
                <a:latin typeface="Calibri"/>
              </a:rPr>
              <a:t>Room we have not captured.</a:t>
            </a:r>
          </a:p>
        </p:txBody>
      </p:sp>
      <p:sp>
        <p:nvSpPr>
          <p:cNvPr id="16" name="Mitigation 3"/>
          <p:cNvSpPr/>
          <p:nvPr/>
        </p:nvSpPr>
        <p:spPr>
          <a:xfrm>
            <a:off x="6949440" y="4434840"/>
            <a:ext cx="4690872" cy="1078992"/>
          </a:xfrm>
          <a:prstGeom prst="roundRect">
            <a:avLst>
              <a:gd name="adj" fmla="val 8474"/>
            </a:avLst>
          </a:prstGeom>
          <a:solidFill>
            <a:srgbClr val="E6F0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0" bIns="0">
            <a:noAutofit/>
          </a:bodyPr>
          <a:lstStyle/>
          <a:p>
            <a:pPr algn="l">
              <a:lnSpc>
                <a:spcPct val="100000"/>
              </a:lnSpc>
              <a:spcBef>
                <a:spcPts val="0"/>
              </a:spcBef>
              <a:spcAft>
                <a:spcPts val="0"/>
              </a:spcAft>
            </a:pPr>
            <a:r>
              <a:rPr sz="1200" b="0" i="0">
                <a:solidFill>
                  <a:srgbClr val="14232E"/>
                </a:solidFill>
                <a:latin typeface="Calibri"/>
              </a:rPr>
              <a:t>A dispatcher cannot see future orders; we report the gap and keep the rule simple enough to explain.</a:t>
            </a:r>
          </a:p>
        </p:txBody>
      </p:sp>
      <p:sp>
        <p:nvSpPr>
          <p:cNvPr id="17" name="Assumptions"/>
          <p:cNvSpPr txBox="1"/>
          <p:nvPr/>
        </p:nvSpPr>
        <p:spPr>
          <a:xfrm>
            <a:off x="548640" y="5687568"/>
            <a:ext cx="11091672" cy="685800"/>
          </a:xfrm>
          <a:prstGeom prst="rect">
            <a:avLst/>
          </a:prstGeom>
          <a:noFill/>
        </p:spPr>
        <p:txBody>
          <a:bodyPr wrap="square" lIns="0" rIns="0" tIns="0" bIns="0" anchor="t">
            <a:noAutofit/>
          </a:bodyPr>
          <a:lstStyle/>
          <a:p>
            <a:pPr algn="l">
              <a:lnSpc>
                <a:spcPct val="100000"/>
              </a:lnSpc>
              <a:spcBef>
                <a:spcPts val="0"/>
              </a:spcBef>
              <a:spcAft>
                <a:spcPts val="0"/>
              </a:spcAft>
            </a:pPr>
            <a:r>
              <a:rPr sz="1100" b="1" i="0">
                <a:solidFill>
                  <a:srgbClr val="52606B"/>
                </a:solidFill>
                <a:latin typeface="Calibri"/>
              </a:rPr>
              <a:t>Assumptions:  </a:t>
            </a:r>
            <a:r>
              <a:rPr sz="1100" b="0" i="0">
                <a:solidFill>
                  <a:srgbClr val="52606B"/>
                </a:solidFill>
                <a:latin typeface="Calibri"/>
              </a:rPr>
              <a:t>requests arrive in time order and a confirmed dispatch occupies capacity  ·  a standing constraint (“nothing new to QuickStitch this week”) applies to every later request  ·  a reworked batch takes half as long again (simulator rule)  ·  the data holds no customer prices and no history, so those questions are declined.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94415" cy="1188720"/>
          </a:xfrm>
          <a:prstGeom prst="rect">
            <a:avLst/>
          </a:prstGeom>
          <a:noFill/>
        </p:spPr>
        <p:txBody>
          <a:bodyPr wrap="square" lIns="0" rIns="0" tIns="0" bIns="0" anchor="t">
            <a:noAutofit/>
          </a:bodyPr>
          <a:lstStyle/>
          <a:p>
            <a:pPr algn="l">
              <a:lnSpc>
                <a:spcPct val="98000"/>
              </a:lnSpc>
              <a:spcBef>
                <a:spcPts val="0"/>
              </a:spcBef>
              <a:spcAft>
                <a:spcPts val="0"/>
              </a:spcAft>
            </a:pPr>
            <a:r>
              <a:rPr sz="3400" b="1" i="0">
                <a:solidFill>
                  <a:srgbClr val="14232E"/>
                </a:solidFill>
                <a:latin typeface="Cambria"/>
              </a:rPr>
              <a:t>Sprint 2 (30 Oct) and Sprint 3 (13 Nov): from a working loop to evidence we can defend</a:t>
            </a:r>
          </a:p>
        </p:txBody>
      </p:sp>
      <p:sp>
        <p:nvSpPr>
          <p:cNvPr id="3" name="Footer"/>
          <p:cNvSpPr txBox="1"/>
          <p:nvPr/>
        </p:nvSpPr>
        <p:spPr>
          <a:xfrm>
            <a:off x="548640" y="6446520"/>
            <a:ext cx="82296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2606B"/>
                </a:solidFill>
                <a:latin typeface="Calibri"/>
              </a:rPr>
              <a:t>DSS5105 Capstone  ·  Track 2  ·  Subcontracting Desk  ·  Sprint 1</a:t>
            </a:r>
          </a:p>
        </p:txBody>
      </p:sp>
      <p:sp>
        <p:nvSpPr>
          <p:cNvPr id="4" name="Slide number"/>
          <p:cNvSpPr txBox="1"/>
          <p:nvPr/>
        </p:nvSpPr>
        <p:spPr>
          <a:xfrm>
            <a:off x="10728655" y="6446520"/>
            <a:ext cx="9144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2606B"/>
                </a:solidFill>
                <a:latin typeface="Calibri"/>
              </a:rPr>
              <a:t>6</a:t>
            </a:r>
          </a:p>
        </p:txBody>
      </p:sp>
      <p:sp>
        <p:nvSpPr>
          <p:cNvPr id="5" name="Label"/>
          <p:cNvSpPr txBox="1"/>
          <p:nvPr/>
        </p:nvSpPr>
        <p:spPr>
          <a:xfrm>
            <a:off x="548640" y="1719072"/>
            <a:ext cx="224028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52606B"/>
                </a:solidFill>
                <a:latin typeface="Calibri"/>
              </a:rPr>
              <a:t>WORK</a:t>
            </a:r>
          </a:p>
        </p:txBody>
      </p:sp>
      <p:sp>
        <p:nvSpPr>
          <p:cNvPr id="6" name="Label"/>
          <p:cNvSpPr txBox="1"/>
          <p:nvPr/>
        </p:nvSpPr>
        <p:spPr>
          <a:xfrm>
            <a:off x="2926080" y="1719072"/>
            <a:ext cx="43434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52606B"/>
                </a:solidFill>
                <a:latin typeface="Calibri"/>
              </a:rPr>
              <a:t>ACCEPTANCE</a:t>
            </a:r>
          </a:p>
        </p:txBody>
      </p:sp>
      <p:sp>
        <p:nvSpPr>
          <p:cNvPr id="7" name="Label"/>
          <p:cNvSpPr txBox="1"/>
          <p:nvPr/>
        </p:nvSpPr>
        <p:spPr>
          <a:xfrm>
            <a:off x="7406640" y="1719072"/>
            <a:ext cx="224028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52606B"/>
                </a:solidFill>
                <a:latin typeface="Calibri"/>
              </a:rPr>
              <a:t>OWNER</a:t>
            </a:r>
          </a:p>
        </p:txBody>
      </p:sp>
      <p:sp>
        <p:nvSpPr>
          <p:cNvPr id="8" name="Label"/>
          <p:cNvSpPr txBox="1"/>
          <p:nvPr/>
        </p:nvSpPr>
        <p:spPr>
          <a:xfrm>
            <a:off x="9784080" y="1719072"/>
            <a:ext cx="1856231"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52606B"/>
                </a:solidFill>
                <a:latin typeface="Calibri"/>
              </a:rPr>
              <a:t>WHEN</a:t>
            </a:r>
          </a:p>
        </p:txBody>
      </p:sp>
      <p:sp>
        <p:nvSpPr>
          <p:cNvPr id="9" name="Road 1"/>
          <p:cNvSpPr txBox="1"/>
          <p:nvPr/>
        </p:nvSpPr>
        <p:spPr>
          <a:xfrm>
            <a:off x="548640" y="1993392"/>
            <a:ext cx="2148840" cy="512064"/>
          </a:xfrm>
          <a:prstGeom prst="rect">
            <a:avLst/>
          </a:prstGeom>
          <a:noFill/>
        </p:spPr>
        <p:txBody>
          <a:bodyPr wrap="square" lIns="0" rIns="0" tIns="0" bIns="0" anchor="ctr">
            <a:noAutofit/>
          </a:bodyPr>
          <a:lstStyle/>
          <a:p>
            <a:pPr algn="l">
              <a:lnSpc>
                <a:spcPct val="100000"/>
              </a:lnSpc>
              <a:spcBef>
                <a:spcPts val="0"/>
              </a:spcBef>
              <a:spcAft>
                <a:spcPts val="0"/>
              </a:spcAft>
            </a:pPr>
            <a:r>
              <a:rPr sz="1150" b="1" i="0">
                <a:solidFill>
                  <a:srgbClr val="14232E"/>
                </a:solidFill>
                <a:latin typeface="Calibri"/>
              </a:rPr>
              <a:t>Held-out inbox</a:t>
            </a:r>
          </a:p>
        </p:txBody>
      </p:sp>
      <p:sp>
        <p:nvSpPr>
          <p:cNvPr id="10" name="Road 1"/>
          <p:cNvSpPr txBox="1"/>
          <p:nvPr/>
        </p:nvSpPr>
        <p:spPr>
          <a:xfrm>
            <a:off x="2926080" y="1993392"/>
            <a:ext cx="4251960" cy="512064"/>
          </a:xfrm>
          <a:prstGeom prst="rect">
            <a:avLst/>
          </a:prstGeom>
          <a:noFill/>
        </p:spPr>
        <p:txBody>
          <a:bodyPr wrap="square" lIns="0" rIns="0" tIns="0" bIns="0" anchor="ctr">
            <a:noAutofit/>
          </a:bodyPr>
          <a:lstStyle/>
          <a:p>
            <a:pPr algn="l">
              <a:lnSpc>
                <a:spcPct val="100000"/>
              </a:lnSpc>
              <a:spcBef>
                <a:spcPts val="0"/>
              </a:spcBef>
              <a:spcAft>
                <a:spcPts val="0"/>
              </a:spcAft>
            </a:pPr>
            <a:r>
              <a:rPr sz="1150" b="0" i="0">
                <a:solidFill>
                  <a:srgbClr val="14232E"/>
                </a:solidFill>
                <a:latin typeface="Calibri"/>
              </a:rPr>
              <a:t>44 hand-written messages, answers frozen first, ≥ 90% right behaviour</a:t>
            </a:r>
          </a:p>
        </p:txBody>
      </p:sp>
      <p:sp>
        <p:nvSpPr>
          <p:cNvPr id="11" name="Road 1"/>
          <p:cNvSpPr txBox="1"/>
          <p:nvPr/>
        </p:nvSpPr>
        <p:spPr>
          <a:xfrm>
            <a:off x="7406640" y="1993392"/>
            <a:ext cx="2148840" cy="512064"/>
          </a:xfrm>
          <a:prstGeom prst="rect">
            <a:avLst/>
          </a:prstGeom>
          <a:noFill/>
        </p:spPr>
        <p:txBody>
          <a:bodyPr wrap="square" lIns="0" rIns="0" tIns="0" bIns="0" anchor="ctr">
            <a:noAutofit/>
          </a:bodyPr>
          <a:lstStyle/>
          <a:p>
            <a:pPr algn="l">
              <a:lnSpc>
                <a:spcPct val="100000"/>
              </a:lnSpc>
              <a:spcBef>
                <a:spcPts val="0"/>
              </a:spcBef>
              <a:spcAft>
                <a:spcPts val="0"/>
              </a:spcAft>
            </a:pPr>
            <a:r>
              <a:rPr sz="1150" b="0" i="0">
                <a:solidFill>
                  <a:srgbClr val="14232E"/>
                </a:solidFill>
                <a:latin typeface="Calibri"/>
              </a:rPr>
              <a:t>张锦若 freezes; 李岩, 吴若晗 run</a:t>
            </a:r>
          </a:p>
        </p:txBody>
      </p:sp>
      <p:sp>
        <p:nvSpPr>
          <p:cNvPr id="12" name="Road 1"/>
          <p:cNvSpPr txBox="1"/>
          <p:nvPr/>
        </p:nvSpPr>
        <p:spPr>
          <a:xfrm>
            <a:off x="9784080" y="1993392"/>
            <a:ext cx="1764791" cy="512064"/>
          </a:xfrm>
          <a:prstGeom prst="rect">
            <a:avLst/>
          </a:prstGeom>
          <a:noFill/>
        </p:spPr>
        <p:txBody>
          <a:bodyPr wrap="square" lIns="0" rIns="0" tIns="0" bIns="0" anchor="ctr">
            <a:noAutofit/>
          </a:bodyPr>
          <a:lstStyle/>
          <a:p>
            <a:pPr algn="l">
              <a:lnSpc>
                <a:spcPct val="100000"/>
              </a:lnSpc>
              <a:spcBef>
                <a:spcPts val="0"/>
              </a:spcBef>
              <a:spcAft>
                <a:spcPts val="0"/>
              </a:spcAft>
            </a:pPr>
            <a:r>
              <a:rPr sz="1150" b="0" i="0">
                <a:solidFill>
                  <a:srgbClr val="14232E"/>
                </a:solidFill>
                <a:latin typeface="Calibri"/>
              </a:rPr>
              <a:t>written 9–11 Oct; frozen 14 Oct; first run 15 Oct</a:t>
            </a:r>
          </a:p>
        </p:txBody>
      </p:sp>
      <p:cxnSp>
        <p:nvCxnSpPr>
          <p:cNvPr id="13" name="Rule"/>
          <p:cNvCxnSpPr/>
          <p:nvPr/>
        </p:nvCxnSpPr>
        <p:spPr>
          <a:xfrm>
            <a:off x="548640" y="2523744"/>
            <a:ext cx="11094415" cy="0"/>
          </a:xfrm>
          <a:prstGeom prst="line">
            <a:avLst/>
          </a:prstGeom>
          <a:ln w="9525">
            <a:solidFill>
              <a:srgbClr val="CBD3DA"/>
            </a:solidFill>
          </a:ln>
        </p:spPr>
        <p:style>
          <a:lnRef idx="2">
            <a:schemeClr val="accent1"/>
          </a:lnRef>
          <a:fillRef idx="0">
            <a:schemeClr val="accent1"/>
          </a:fillRef>
          <a:effectRef idx="1">
            <a:schemeClr val="accent1"/>
          </a:effectRef>
          <a:fontRef idx="minor">
            <a:schemeClr val="tx1"/>
          </a:fontRef>
        </p:style>
      </p:cxnSp>
      <p:sp>
        <p:nvSpPr>
          <p:cNvPr id="14" name="Road 2"/>
          <p:cNvSpPr txBox="1"/>
          <p:nvPr/>
        </p:nvSpPr>
        <p:spPr>
          <a:xfrm>
            <a:off x="548640" y="2542032"/>
            <a:ext cx="2148840" cy="512064"/>
          </a:xfrm>
          <a:prstGeom prst="rect">
            <a:avLst/>
          </a:prstGeom>
          <a:noFill/>
        </p:spPr>
        <p:txBody>
          <a:bodyPr wrap="square" lIns="0" rIns="0" tIns="0" bIns="0" anchor="ctr">
            <a:noAutofit/>
          </a:bodyPr>
          <a:lstStyle/>
          <a:p>
            <a:pPr algn="l">
              <a:lnSpc>
                <a:spcPct val="100000"/>
              </a:lnSpc>
              <a:spcBef>
                <a:spcPts val="0"/>
              </a:spcBef>
              <a:spcAft>
                <a:spcPts val="0"/>
              </a:spcAft>
            </a:pPr>
            <a:r>
              <a:rPr sz="1150" b="1" i="0">
                <a:solidFill>
                  <a:srgbClr val="14232E"/>
                </a:solidFill>
                <a:latin typeface="Calibri"/>
              </a:rPr>
              <a:t>Closed-workshop detection</a:t>
            </a:r>
          </a:p>
        </p:txBody>
      </p:sp>
      <p:sp>
        <p:nvSpPr>
          <p:cNvPr id="15" name="Road 2"/>
          <p:cNvSpPr txBox="1"/>
          <p:nvPr/>
        </p:nvSpPr>
        <p:spPr>
          <a:xfrm>
            <a:off x="2926080" y="2542032"/>
            <a:ext cx="4251960" cy="512064"/>
          </a:xfrm>
          <a:prstGeom prst="rect">
            <a:avLst/>
          </a:prstGeom>
          <a:noFill/>
        </p:spPr>
        <p:txBody>
          <a:bodyPr wrap="square" lIns="0" rIns="0" tIns="0" bIns="0" anchor="ctr">
            <a:noAutofit/>
          </a:bodyPr>
          <a:lstStyle/>
          <a:p>
            <a:pPr algn="l">
              <a:lnSpc>
                <a:spcPct val="100000"/>
              </a:lnSpc>
              <a:spcBef>
                <a:spcPts val="0"/>
              </a:spcBef>
              <a:spcAft>
                <a:spcPts val="0"/>
              </a:spcAft>
            </a:pPr>
            <a:r>
              <a:rPr sz="1150" b="0" i="0">
                <a:solidFill>
                  <a:srgbClr val="14232E"/>
                </a:solidFill>
                <a:latin typeface="Calibri"/>
              </a:rPr>
              <a:t>In the shock run the closed shop is detected and gets no new batches; shock lateness no worse than normal</a:t>
            </a:r>
          </a:p>
        </p:txBody>
      </p:sp>
      <p:sp>
        <p:nvSpPr>
          <p:cNvPr id="16" name="Road 2"/>
          <p:cNvSpPr txBox="1"/>
          <p:nvPr/>
        </p:nvSpPr>
        <p:spPr>
          <a:xfrm>
            <a:off x="7406640" y="2542032"/>
            <a:ext cx="2148840" cy="512064"/>
          </a:xfrm>
          <a:prstGeom prst="rect">
            <a:avLst/>
          </a:prstGeom>
          <a:noFill/>
        </p:spPr>
        <p:txBody>
          <a:bodyPr wrap="square" lIns="0" rIns="0" tIns="0" bIns="0" anchor="ctr">
            <a:noAutofit/>
          </a:bodyPr>
          <a:lstStyle/>
          <a:p>
            <a:pPr algn="l">
              <a:lnSpc>
                <a:spcPct val="100000"/>
              </a:lnSpc>
              <a:spcBef>
                <a:spcPts val="0"/>
              </a:spcBef>
              <a:spcAft>
                <a:spcPts val="0"/>
              </a:spcAft>
            </a:pPr>
            <a:r>
              <a:rPr sz="1150" b="0" i="0">
                <a:solidFill>
                  <a:srgbClr val="14232E"/>
                </a:solidFill>
                <a:latin typeface="Calibri"/>
              </a:rPr>
              <a:t>吴若晗</a:t>
            </a:r>
          </a:p>
        </p:txBody>
      </p:sp>
      <p:sp>
        <p:nvSpPr>
          <p:cNvPr id="17" name="Road 2"/>
          <p:cNvSpPr txBox="1"/>
          <p:nvPr/>
        </p:nvSpPr>
        <p:spPr>
          <a:xfrm>
            <a:off x="9784080" y="2542032"/>
            <a:ext cx="1764791" cy="512064"/>
          </a:xfrm>
          <a:prstGeom prst="rect">
            <a:avLst/>
          </a:prstGeom>
          <a:noFill/>
        </p:spPr>
        <p:txBody>
          <a:bodyPr wrap="square" lIns="0" rIns="0" tIns="0" bIns="0" anchor="ctr">
            <a:noAutofit/>
          </a:bodyPr>
          <a:lstStyle/>
          <a:p>
            <a:pPr algn="l">
              <a:lnSpc>
                <a:spcPct val="100000"/>
              </a:lnSpc>
              <a:spcBef>
                <a:spcPts val="0"/>
              </a:spcBef>
              <a:spcAft>
                <a:spcPts val="0"/>
              </a:spcAft>
            </a:pPr>
            <a:r>
              <a:rPr sz="1150" b="0" i="0">
                <a:solidFill>
                  <a:srgbClr val="14232E"/>
                </a:solidFill>
                <a:latin typeface="Calibri"/>
              </a:rPr>
              <a:t>design 14 Oct; done 27 Oct</a:t>
            </a:r>
          </a:p>
        </p:txBody>
      </p:sp>
      <p:cxnSp>
        <p:nvCxnSpPr>
          <p:cNvPr id="18" name="Rule"/>
          <p:cNvCxnSpPr/>
          <p:nvPr/>
        </p:nvCxnSpPr>
        <p:spPr>
          <a:xfrm>
            <a:off x="548640" y="3072384"/>
            <a:ext cx="11094415" cy="0"/>
          </a:xfrm>
          <a:prstGeom prst="line">
            <a:avLst/>
          </a:prstGeom>
          <a:ln w="9525">
            <a:solidFill>
              <a:srgbClr val="CBD3DA"/>
            </a:solidFill>
          </a:ln>
        </p:spPr>
        <p:style>
          <a:lnRef idx="2">
            <a:schemeClr val="accent1"/>
          </a:lnRef>
          <a:fillRef idx="0">
            <a:schemeClr val="accent1"/>
          </a:fillRef>
          <a:effectRef idx="1">
            <a:schemeClr val="accent1"/>
          </a:effectRef>
          <a:fontRef idx="minor">
            <a:schemeClr val="tx1"/>
          </a:fontRef>
        </p:style>
      </p:cxnSp>
      <p:sp>
        <p:nvSpPr>
          <p:cNvPr id="19" name="Road 3"/>
          <p:cNvSpPr txBox="1"/>
          <p:nvPr/>
        </p:nvSpPr>
        <p:spPr>
          <a:xfrm>
            <a:off x="548640" y="3090672"/>
            <a:ext cx="2148840" cy="512064"/>
          </a:xfrm>
          <a:prstGeom prst="rect">
            <a:avLst/>
          </a:prstGeom>
          <a:noFill/>
        </p:spPr>
        <p:txBody>
          <a:bodyPr wrap="square" lIns="0" rIns="0" tIns="0" bIns="0" anchor="ctr">
            <a:noAutofit/>
          </a:bodyPr>
          <a:lstStyle/>
          <a:p>
            <a:pPr algn="l">
              <a:lnSpc>
                <a:spcPct val="100000"/>
              </a:lnSpc>
              <a:spcBef>
                <a:spcPts val="0"/>
              </a:spcBef>
              <a:spcAft>
                <a:spcPts val="0"/>
              </a:spcAft>
            </a:pPr>
            <a:r>
              <a:rPr sz="1150" b="1" i="0">
                <a:solidFill>
                  <a:srgbClr val="14232E"/>
                </a:solidFill>
                <a:latin typeface="Calibri"/>
              </a:rPr>
              <a:t>User test</a:t>
            </a:r>
          </a:p>
        </p:txBody>
      </p:sp>
      <p:sp>
        <p:nvSpPr>
          <p:cNvPr id="20" name="Road 3"/>
          <p:cNvSpPr txBox="1"/>
          <p:nvPr/>
        </p:nvSpPr>
        <p:spPr>
          <a:xfrm>
            <a:off x="2926080" y="3090672"/>
            <a:ext cx="4251960" cy="512064"/>
          </a:xfrm>
          <a:prstGeom prst="rect">
            <a:avLst/>
          </a:prstGeom>
          <a:noFill/>
        </p:spPr>
        <p:txBody>
          <a:bodyPr wrap="square" lIns="0" rIns="0" tIns="0" bIns="0" anchor="ctr">
            <a:noAutofit/>
          </a:bodyPr>
          <a:lstStyle/>
          <a:p>
            <a:pPr algn="l">
              <a:lnSpc>
                <a:spcPct val="100000"/>
              </a:lnSpc>
              <a:spcBef>
                <a:spcPts val="0"/>
              </a:spcBef>
              <a:spcAft>
                <a:spcPts val="0"/>
              </a:spcAft>
            </a:pPr>
            <a:r>
              <a:rPr sz="1150" b="0" i="0">
                <a:solidFill>
                  <a:srgbClr val="14232E"/>
                </a:solidFill>
                <a:latin typeface="Calibri"/>
              </a:rPr>
              <a:t>2–3 students from other groups complete the 9 tasks</a:t>
            </a:r>
          </a:p>
        </p:txBody>
      </p:sp>
      <p:sp>
        <p:nvSpPr>
          <p:cNvPr id="21" name="Road 3"/>
          <p:cNvSpPr txBox="1"/>
          <p:nvPr/>
        </p:nvSpPr>
        <p:spPr>
          <a:xfrm>
            <a:off x="7406640" y="3090672"/>
            <a:ext cx="2148840" cy="512064"/>
          </a:xfrm>
          <a:prstGeom prst="rect">
            <a:avLst/>
          </a:prstGeom>
          <a:noFill/>
        </p:spPr>
        <p:txBody>
          <a:bodyPr wrap="square" lIns="0" rIns="0" tIns="0" bIns="0" anchor="ctr">
            <a:noAutofit/>
          </a:bodyPr>
          <a:lstStyle/>
          <a:p>
            <a:pPr algn="l">
              <a:lnSpc>
                <a:spcPct val="100000"/>
              </a:lnSpc>
              <a:spcBef>
                <a:spcPts val="0"/>
              </a:spcBef>
              <a:spcAft>
                <a:spcPts val="0"/>
              </a:spcAft>
            </a:pPr>
            <a:r>
              <a:rPr sz="1150" b="0" i="0">
                <a:solidFill>
                  <a:srgbClr val="14232E"/>
                </a:solidFill>
                <a:latin typeface="Calibri"/>
              </a:rPr>
              <a:t>李岩, 屈妍玥</a:t>
            </a:r>
          </a:p>
        </p:txBody>
      </p:sp>
      <p:sp>
        <p:nvSpPr>
          <p:cNvPr id="22" name="Road 3"/>
          <p:cNvSpPr txBox="1"/>
          <p:nvPr/>
        </p:nvSpPr>
        <p:spPr>
          <a:xfrm>
            <a:off x="9784080" y="3090672"/>
            <a:ext cx="1764791" cy="512064"/>
          </a:xfrm>
          <a:prstGeom prst="rect">
            <a:avLst/>
          </a:prstGeom>
          <a:noFill/>
        </p:spPr>
        <p:txBody>
          <a:bodyPr wrap="square" lIns="0" rIns="0" tIns="0" bIns="0" anchor="ctr">
            <a:noAutofit/>
          </a:bodyPr>
          <a:lstStyle/>
          <a:p>
            <a:pPr algn="l">
              <a:lnSpc>
                <a:spcPct val="100000"/>
              </a:lnSpc>
              <a:spcBef>
                <a:spcPts val="0"/>
              </a:spcBef>
              <a:spcAft>
                <a:spcPts val="0"/>
              </a:spcAft>
            </a:pPr>
            <a:r>
              <a:rPr sz="1150" b="0" i="0">
                <a:solidFill>
                  <a:srgbClr val="14232E"/>
                </a:solidFill>
                <a:latin typeface="Calibri"/>
              </a:rPr>
              <a:t>by 28 Oct</a:t>
            </a:r>
          </a:p>
        </p:txBody>
      </p:sp>
      <p:cxnSp>
        <p:nvCxnSpPr>
          <p:cNvPr id="23" name="Rule"/>
          <p:cNvCxnSpPr/>
          <p:nvPr/>
        </p:nvCxnSpPr>
        <p:spPr>
          <a:xfrm>
            <a:off x="548640" y="3621024"/>
            <a:ext cx="11094415" cy="0"/>
          </a:xfrm>
          <a:prstGeom prst="line">
            <a:avLst/>
          </a:prstGeom>
          <a:ln w="9525">
            <a:solidFill>
              <a:srgbClr val="CBD3DA"/>
            </a:solidFill>
          </a:ln>
        </p:spPr>
        <p:style>
          <a:lnRef idx="2">
            <a:schemeClr val="accent1"/>
          </a:lnRef>
          <a:fillRef idx="0">
            <a:schemeClr val="accent1"/>
          </a:fillRef>
          <a:effectRef idx="1">
            <a:schemeClr val="accent1"/>
          </a:effectRef>
          <a:fontRef idx="minor">
            <a:schemeClr val="tx1"/>
          </a:fontRef>
        </p:style>
      </p:cxnSp>
      <p:sp>
        <p:nvSpPr>
          <p:cNvPr id="24" name="Road 4"/>
          <p:cNvSpPr txBox="1"/>
          <p:nvPr/>
        </p:nvSpPr>
        <p:spPr>
          <a:xfrm>
            <a:off x="548640" y="3639312"/>
            <a:ext cx="2148840" cy="512064"/>
          </a:xfrm>
          <a:prstGeom prst="rect">
            <a:avLst/>
          </a:prstGeom>
          <a:noFill/>
        </p:spPr>
        <p:txBody>
          <a:bodyPr wrap="square" lIns="0" rIns="0" tIns="0" bIns="0" anchor="ctr">
            <a:noAutofit/>
          </a:bodyPr>
          <a:lstStyle/>
          <a:p>
            <a:pPr algn="l">
              <a:lnSpc>
                <a:spcPct val="100000"/>
              </a:lnSpc>
              <a:spcBef>
                <a:spcPts val="0"/>
              </a:spcBef>
              <a:spcAft>
                <a:spcPts val="0"/>
              </a:spcAft>
            </a:pPr>
            <a:r>
              <a:rPr sz="1150" b="1" i="0">
                <a:solidFill>
                  <a:srgbClr val="14232E"/>
                </a:solidFill>
                <a:latin typeface="Calibri"/>
              </a:rPr>
              <a:t>Public demo</a:t>
            </a:r>
          </a:p>
        </p:txBody>
      </p:sp>
      <p:sp>
        <p:nvSpPr>
          <p:cNvPr id="25" name="Road 4"/>
          <p:cNvSpPr txBox="1"/>
          <p:nvPr/>
        </p:nvSpPr>
        <p:spPr>
          <a:xfrm>
            <a:off x="2926080" y="3639312"/>
            <a:ext cx="4251960" cy="512064"/>
          </a:xfrm>
          <a:prstGeom prst="rect">
            <a:avLst/>
          </a:prstGeom>
          <a:noFill/>
        </p:spPr>
        <p:txBody>
          <a:bodyPr wrap="square" lIns="0" rIns="0" tIns="0" bIns="0" anchor="ctr">
            <a:noAutofit/>
          </a:bodyPr>
          <a:lstStyle/>
          <a:p>
            <a:pPr algn="l">
              <a:lnSpc>
                <a:spcPct val="100000"/>
              </a:lnSpc>
              <a:spcBef>
                <a:spcPts val="0"/>
              </a:spcBef>
              <a:spcAft>
                <a:spcPts val="0"/>
              </a:spcAft>
            </a:pPr>
            <a:r>
              <a:rPr sz="1150" b="0" i="0">
                <a:solidFill>
                  <a:srgbClr val="14232E"/>
                </a:solidFill>
                <a:latin typeface="Calibri"/>
              </a:rPr>
              <a:t>Reachable from an outside browser; one dispatch completed</a:t>
            </a:r>
          </a:p>
        </p:txBody>
      </p:sp>
      <p:sp>
        <p:nvSpPr>
          <p:cNvPr id="26" name="Road 4"/>
          <p:cNvSpPr txBox="1"/>
          <p:nvPr/>
        </p:nvSpPr>
        <p:spPr>
          <a:xfrm>
            <a:off x="7406640" y="3639312"/>
            <a:ext cx="2148840" cy="512064"/>
          </a:xfrm>
          <a:prstGeom prst="rect">
            <a:avLst/>
          </a:prstGeom>
          <a:noFill/>
        </p:spPr>
        <p:txBody>
          <a:bodyPr wrap="square" lIns="0" rIns="0" tIns="0" bIns="0" anchor="ctr">
            <a:noAutofit/>
          </a:bodyPr>
          <a:lstStyle/>
          <a:p>
            <a:pPr algn="l">
              <a:lnSpc>
                <a:spcPct val="100000"/>
              </a:lnSpc>
              <a:spcBef>
                <a:spcPts val="0"/>
              </a:spcBef>
              <a:spcAft>
                <a:spcPts val="0"/>
              </a:spcAft>
            </a:pPr>
            <a:r>
              <a:rPr sz="1150" b="0" i="0">
                <a:solidFill>
                  <a:srgbClr val="14232E"/>
                </a:solidFill>
                <a:latin typeface="Calibri"/>
              </a:rPr>
              <a:t>李岩 (吴杰 logs in)</a:t>
            </a:r>
          </a:p>
        </p:txBody>
      </p:sp>
      <p:sp>
        <p:nvSpPr>
          <p:cNvPr id="27" name="Road 4"/>
          <p:cNvSpPr txBox="1"/>
          <p:nvPr/>
        </p:nvSpPr>
        <p:spPr>
          <a:xfrm>
            <a:off x="9784080" y="3639312"/>
            <a:ext cx="1764791" cy="512064"/>
          </a:xfrm>
          <a:prstGeom prst="rect">
            <a:avLst/>
          </a:prstGeom>
          <a:noFill/>
        </p:spPr>
        <p:txBody>
          <a:bodyPr wrap="square" lIns="0" rIns="0" tIns="0" bIns="0" anchor="ctr">
            <a:noAutofit/>
          </a:bodyPr>
          <a:lstStyle/>
          <a:p>
            <a:pPr algn="l">
              <a:lnSpc>
                <a:spcPct val="100000"/>
              </a:lnSpc>
              <a:spcBef>
                <a:spcPts val="0"/>
              </a:spcBef>
              <a:spcAft>
                <a:spcPts val="0"/>
              </a:spcAft>
            </a:pPr>
            <a:r>
              <a:rPr sz="1150" b="0" i="0">
                <a:solidFill>
                  <a:srgbClr val="14232E"/>
                </a:solidFill>
                <a:latin typeface="Calibri"/>
              </a:rPr>
              <a:t>by 28 Oct</a:t>
            </a:r>
          </a:p>
        </p:txBody>
      </p:sp>
      <p:cxnSp>
        <p:nvCxnSpPr>
          <p:cNvPr id="28" name="Rule"/>
          <p:cNvCxnSpPr/>
          <p:nvPr/>
        </p:nvCxnSpPr>
        <p:spPr>
          <a:xfrm>
            <a:off x="548640" y="4169663"/>
            <a:ext cx="11094415" cy="0"/>
          </a:xfrm>
          <a:prstGeom prst="line">
            <a:avLst/>
          </a:prstGeom>
          <a:ln w="9525">
            <a:solidFill>
              <a:srgbClr val="CBD3DA"/>
            </a:solidFill>
          </a:ln>
        </p:spPr>
        <p:style>
          <a:lnRef idx="2">
            <a:schemeClr val="accent1"/>
          </a:lnRef>
          <a:fillRef idx="0">
            <a:schemeClr val="accent1"/>
          </a:fillRef>
          <a:effectRef idx="1">
            <a:schemeClr val="accent1"/>
          </a:effectRef>
          <a:fontRef idx="minor">
            <a:schemeClr val="tx1"/>
          </a:fontRef>
        </p:style>
      </p:cxnSp>
      <p:sp>
        <p:nvSpPr>
          <p:cNvPr id="29" name="Road 5"/>
          <p:cNvSpPr txBox="1"/>
          <p:nvPr/>
        </p:nvSpPr>
        <p:spPr>
          <a:xfrm>
            <a:off x="548640" y="4187952"/>
            <a:ext cx="2148840" cy="512064"/>
          </a:xfrm>
          <a:prstGeom prst="rect">
            <a:avLst/>
          </a:prstGeom>
          <a:noFill/>
        </p:spPr>
        <p:txBody>
          <a:bodyPr wrap="square" lIns="0" rIns="0" tIns="0" bIns="0" anchor="ctr">
            <a:noAutofit/>
          </a:bodyPr>
          <a:lstStyle/>
          <a:p>
            <a:pPr algn="l">
              <a:lnSpc>
                <a:spcPct val="100000"/>
              </a:lnSpc>
              <a:spcBef>
                <a:spcPts val="0"/>
              </a:spcBef>
              <a:spcAft>
                <a:spcPts val="0"/>
              </a:spcAft>
            </a:pPr>
            <a:r>
              <a:rPr sz="1150" b="1" i="0">
                <a:solidFill>
                  <a:srgbClr val="14232E"/>
                </a:solidFill>
                <a:latin typeface="Calibri"/>
              </a:rPr>
              <a:t>Evaluation draft</a:t>
            </a:r>
          </a:p>
        </p:txBody>
      </p:sp>
      <p:sp>
        <p:nvSpPr>
          <p:cNvPr id="30" name="Road 5"/>
          <p:cNvSpPr txBox="1"/>
          <p:nvPr/>
        </p:nvSpPr>
        <p:spPr>
          <a:xfrm>
            <a:off x="2926080" y="4187952"/>
            <a:ext cx="4251960" cy="512064"/>
          </a:xfrm>
          <a:prstGeom prst="rect">
            <a:avLst/>
          </a:prstGeom>
          <a:noFill/>
        </p:spPr>
        <p:txBody>
          <a:bodyPr wrap="square" lIns="0" rIns="0" tIns="0" bIns="0" anchor="ctr">
            <a:noAutofit/>
          </a:bodyPr>
          <a:lstStyle/>
          <a:p>
            <a:pPr algn="l">
              <a:lnSpc>
                <a:spcPct val="100000"/>
              </a:lnSpc>
              <a:spcBef>
                <a:spcPts val="0"/>
              </a:spcBef>
              <a:spcAft>
                <a:spcPts val="0"/>
              </a:spcAft>
            </a:pPr>
            <a:r>
              <a:rPr sz="1150" b="0" i="0">
                <a:solidFill>
                  <a:srgbClr val="14232E"/>
                </a:solidFill>
                <a:latin typeface="Calibri"/>
              </a:rPr>
              <a:t>10 failure cases with root causes</a:t>
            </a:r>
          </a:p>
        </p:txBody>
      </p:sp>
      <p:sp>
        <p:nvSpPr>
          <p:cNvPr id="31" name="Road 5"/>
          <p:cNvSpPr txBox="1"/>
          <p:nvPr/>
        </p:nvSpPr>
        <p:spPr>
          <a:xfrm>
            <a:off x="7406640" y="4187952"/>
            <a:ext cx="2148840" cy="512064"/>
          </a:xfrm>
          <a:prstGeom prst="rect">
            <a:avLst/>
          </a:prstGeom>
          <a:noFill/>
        </p:spPr>
        <p:txBody>
          <a:bodyPr wrap="square" lIns="0" rIns="0" tIns="0" bIns="0" anchor="ctr">
            <a:noAutofit/>
          </a:bodyPr>
          <a:lstStyle/>
          <a:p>
            <a:pPr algn="l">
              <a:lnSpc>
                <a:spcPct val="100000"/>
              </a:lnSpc>
              <a:spcBef>
                <a:spcPts val="0"/>
              </a:spcBef>
              <a:spcAft>
                <a:spcPts val="0"/>
              </a:spcAft>
            </a:pPr>
            <a:r>
              <a:rPr sz="1150" b="0" i="0">
                <a:solidFill>
                  <a:srgbClr val="14232E"/>
                </a:solidFill>
                <a:latin typeface="Calibri"/>
              </a:rPr>
              <a:t>李岩, 吴若晗 (causes); 吴杰, 许佩瑶 (text)</a:t>
            </a:r>
          </a:p>
        </p:txBody>
      </p:sp>
      <p:sp>
        <p:nvSpPr>
          <p:cNvPr id="32" name="Road 5"/>
          <p:cNvSpPr txBox="1"/>
          <p:nvPr/>
        </p:nvSpPr>
        <p:spPr>
          <a:xfrm>
            <a:off x="9784080" y="4187952"/>
            <a:ext cx="1764791" cy="512064"/>
          </a:xfrm>
          <a:prstGeom prst="rect">
            <a:avLst/>
          </a:prstGeom>
          <a:noFill/>
        </p:spPr>
        <p:txBody>
          <a:bodyPr wrap="square" lIns="0" rIns="0" tIns="0" bIns="0" anchor="ctr">
            <a:noAutofit/>
          </a:bodyPr>
          <a:lstStyle/>
          <a:p>
            <a:pPr algn="l">
              <a:lnSpc>
                <a:spcPct val="100000"/>
              </a:lnSpc>
              <a:spcBef>
                <a:spcPts val="0"/>
              </a:spcBef>
              <a:spcAft>
                <a:spcPts val="0"/>
              </a:spcAft>
            </a:pPr>
            <a:r>
              <a:rPr sz="1150" b="0" i="0">
                <a:solidFill>
                  <a:srgbClr val="14232E"/>
                </a:solidFill>
                <a:latin typeface="Calibri"/>
              </a:rPr>
              <a:t>24–29 Oct</a:t>
            </a:r>
          </a:p>
        </p:txBody>
      </p:sp>
      <p:cxnSp>
        <p:nvCxnSpPr>
          <p:cNvPr id="33" name="Rule"/>
          <p:cNvCxnSpPr/>
          <p:nvPr/>
        </p:nvCxnSpPr>
        <p:spPr>
          <a:xfrm>
            <a:off x="548640" y="4718304"/>
            <a:ext cx="11094415" cy="0"/>
          </a:xfrm>
          <a:prstGeom prst="line">
            <a:avLst/>
          </a:prstGeom>
          <a:ln w="9525">
            <a:solidFill>
              <a:srgbClr val="CBD3DA"/>
            </a:solidFill>
          </a:ln>
        </p:spPr>
        <p:style>
          <a:lnRef idx="2">
            <a:schemeClr val="accent1"/>
          </a:lnRef>
          <a:fillRef idx="0">
            <a:schemeClr val="accent1"/>
          </a:fillRef>
          <a:effectRef idx="1">
            <a:schemeClr val="accent1"/>
          </a:effectRef>
          <a:fontRef idx="minor">
            <a:schemeClr val="tx1"/>
          </a:fontRef>
        </p:style>
      </p:cxnSp>
      <p:sp>
        <p:nvSpPr>
          <p:cNvPr id="34" name="Road 6"/>
          <p:cNvSpPr txBox="1"/>
          <p:nvPr/>
        </p:nvSpPr>
        <p:spPr>
          <a:xfrm>
            <a:off x="548640" y="4736592"/>
            <a:ext cx="2148840" cy="512064"/>
          </a:xfrm>
          <a:prstGeom prst="rect">
            <a:avLst/>
          </a:prstGeom>
          <a:noFill/>
        </p:spPr>
        <p:txBody>
          <a:bodyPr wrap="square" lIns="0" rIns="0" tIns="0" bIns="0" anchor="ctr">
            <a:noAutofit/>
          </a:bodyPr>
          <a:lstStyle/>
          <a:p>
            <a:pPr algn="l">
              <a:lnSpc>
                <a:spcPct val="100000"/>
              </a:lnSpc>
              <a:spcBef>
                <a:spcPts val="0"/>
              </a:spcBef>
              <a:spcAft>
                <a:spcPts val="0"/>
              </a:spcAft>
            </a:pPr>
            <a:r>
              <a:rPr sz="1150" b="1" i="0">
                <a:solidFill>
                  <a:srgbClr val="14232E"/>
                </a:solidFill>
                <a:latin typeface="Calibri"/>
              </a:rPr>
              <a:t>Optional: stage extension (--stages)</a:t>
            </a:r>
          </a:p>
        </p:txBody>
      </p:sp>
      <p:sp>
        <p:nvSpPr>
          <p:cNvPr id="35" name="Road 6"/>
          <p:cNvSpPr txBox="1"/>
          <p:nvPr/>
        </p:nvSpPr>
        <p:spPr>
          <a:xfrm>
            <a:off x="2926080" y="4736592"/>
            <a:ext cx="4251960" cy="512064"/>
          </a:xfrm>
          <a:prstGeom prst="rect">
            <a:avLst/>
          </a:prstGeom>
          <a:noFill/>
        </p:spPr>
        <p:txBody>
          <a:bodyPr wrap="square" lIns="0" rIns="0" tIns="0" bIns="0" anchor="ctr">
            <a:noAutofit/>
          </a:bodyPr>
          <a:lstStyle/>
          <a:p>
            <a:pPr algn="l">
              <a:lnSpc>
                <a:spcPct val="100000"/>
              </a:lnSpc>
              <a:spcBef>
                <a:spcPts val="0"/>
              </a:spcBef>
              <a:spcAft>
                <a:spcPts val="0"/>
              </a:spcAft>
            </a:pPr>
            <a:r>
              <a:rPr sz="1150" b="0" i="0">
                <a:solidFill>
                  <a:srgbClr val="14232E"/>
                </a:solidFill>
                <a:latin typeface="Calibri"/>
              </a:rPr>
              <a:t>Assessed after Sprint 2, if time allows</a:t>
            </a:r>
          </a:p>
        </p:txBody>
      </p:sp>
      <p:sp>
        <p:nvSpPr>
          <p:cNvPr id="36" name="Road 6"/>
          <p:cNvSpPr txBox="1"/>
          <p:nvPr/>
        </p:nvSpPr>
        <p:spPr>
          <a:xfrm>
            <a:off x="7406640" y="4736592"/>
            <a:ext cx="2148840" cy="512064"/>
          </a:xfrm>
          <a:prstGeom prst="rect">
            <a:avLst/>
          </a:prstGeom>
          <a:noFill/>
        </p:spPr>
        <p:txBody>
          <a:bodyPr wrap="square" lIns="0" rIns="0" tIns="0" bIns="0" anchor="ctr">
            <a:noAutofit/>
          </a:bodyPr>
          <a:lstStyle/>
          <a:p>
            <a:pPr algn="l">
              <a:lnSpc>
                <a:spcPct val="100000"/>
              </a:lnSpc>
              <a:spcBef>
                <a:spcPts val="0"/>
              </a:spcBef>
              <a:spcAft>
                <a:spcPts val="0"/>
              </a:spcAft>
            </a:pPr>
            <a:r>
              <a:rPr sz="1150" b="0" i="0">
                <a:solidFill>
                  <a:srgbClr val="14232E"/>
                </a:solidFill>
                <a:latin typeface="Calibri"/>
              </a:rPr>
              <a:t>—</a:t>
            </a:r>
          </a:p>
        </p:txBody>
      </p:sp>
      <p:sp>
        <p:nvSpPr>
          <p:cNvPr id="37" name="Road 6"/>
          <p:cNvSpPr txBox="1"/>
          <p:nvPr/>
        </p:nvSpPr>
        <p:spPr>
          <a:xfrm>
            <a:off x="9784080" y="4736592"/>
            <a:ext cx="1764791" cy="512064"/>
          </a:xfrm>
          <a:prstGeom prst="rect">
            <a:avLst/>
          </a:prstGeom>
          <a:noFill/>
        </p:spPr>
        <p:txBody>
          <a:bodyPr wrap="square" lIns="0" rIns="0" tIns="0" bIns="0" anchor="ctr">
            <a:noAutofit/>
          </a:bodyPr>
          <a:lstStyle/>
          <a:p>
            <a:pPr algn="l">
              <a:lnSpc>
                <a:spcPct val="100000"/>
              </a:lnSpc>
              <a:spcBef>
                <a:spcPts val="0"/>
              </a:spcBef>
              <a:spcAft>
                <a:spcPts val="0"/>
              </a:spcAft>
            </a:pPr>
            <a:r>
              <a:rPr sz="1150" b="0" i="0">
                <a:solidFill>
                  <a:srgbClr val="14232E"/>
                </a:solidFill>
                <a:latin typeface="Calibri"/>
              </a:rPr>
              <a:t>—</a:t>
            </a:r>
          </a:p>
        </p:txBody>
      </p:sp>
      <p:cxnSp>
        <p:nvCxnSpPr>
          <p:cNvPr id="38" name="Rule"/>
          <p:cNvCxnSpPr/>
          <p:nvPr/>
        </p:nvCxnSpPr>
        <p:spPr>
          <a:xfrm>
            <a:off x="548640" y="5266944"/>
            <a:ext cx="11094415" cy="0"/>
          </a:xfrm>
          <a:prstGeom prst="line">
            <a:avLst/>
          </a:prstGeom>
          <a:ln w="9525">
            <a:solidFill>
              <a:srgbClr val="CBD3DA"/>
            </a:solidFill>
          </a:ln>
        </p:spPr>
        <p:style>
          <a:lnRef idx="2">
            <a:schemeClr val="accent1"/>
          </a:lnRef>
          <a:fillRef idx="0">
            <a:schemeClr val="accent1"/>
          </a:fillRef>
          <a:effectRef idx="1">
            <a:schemeClr val="accent1"/>
          </a:effectRef>
          <a:fontRef idx="minor">
            <a:schemeClr val="tx1"/>
          </a:fontRef>
        </p:style>
      </p:cxnSp>
      <p:sp>
        <p:nvSpPr>
          <p:cNvPr id="39" name="Label"/>
          <p:cNvSpPr txBox="1"/>
          <p:nvPr/>
        </p:nvSpPr>
        <p:spPr>
          <a:xfrm>
            <a:off x="548640" y="5394960"/>
            <a:ext cx="82296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52606B"/>
                </a:solidFill>
                <a:latin typeface="Calibri"/>
              </a:rPr>
              <a:t>SUCCESS CRITERIA · MEASURED ON v3 DATA</a:t>
            </a:r>
          </a:p>
        </p:txBody>
      </p:sp>
      <p:sp>
        <p:nvSpPr>
          <p:cNvPr id="40" name="Criterion 1"/>
          <p:cNvSpPr/>
          <p:nvPr/>
        </p:nvSpPr>
        <p:spPr>
          <a:xfrm>
            <a:off x="548640" y="5650992"/>
            <a:ext cx="2651760" cy="749808"/>
          </a:xfrm>
          <a:prstGeom prst="roundRect">
            <a:avLst>
              <a:gd name="adj" fmla="val 12195"/>
            </a:avLst>
          </a:prstGeom>
          <a:solidFill>
            <a:srgbClr val="E6F0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0" bIns="0">
            <a:noAutofit/>
          </a:bodyPr>
          <a:lstStyle/>
          <a:p>
            <a:pPr algn="l">
              <a:lnSpc>
                <a:spcPct val="95000"/>
              </a:lnSpc>
              <a:spcBef>
                <a:spcPts val="0"/>
              </a:spcBef>
              <a:spcAft>
                <a:spcPts val="100"/>
              </a:spcAft>
            </a:pPr>
            <a:r>
              <a:rPr sz="1900" b="1" i="0">
                <a:solidFill>
                  <a:srgbClr val="1C5CAB"/>
                </a:solidFill>
                <a:latin typeface="Calibri"/>
              </a:rPr>
              <a:t>≤ 2%</a:t>
            </a:r>
          </a:p>
          <a:p>
            <a:pPr algn="l">
              <a:lnSpc>
                <a:spcPct val="100000"/>
              </a:lnSpc>
              <a:spcBef>
                <a:spcPts val="0"/>
              </a:spcBef>
              <a:spcAft>
                <a:spcPts val="0"/>
              </a:spcAft>
            </a:pPr>
            <a:r>
              <a:rPr sz="1000" b="0" i="0">
                <a:solidFill>
                  <a:srgbClr val="14232E"/>
                </a:solidFill>
                <a:latin typeface="Calibri"/>
              </a:rPr>
              <a:t>late on the official orders, normal and shock (now 1.7% / 2.0%)</a:t>
            </a:r>
          </a:p>
        </p:txBody>
      </p:sp>
      <p:sp>
        <p:nvSpPr>
          <p:cNvPr id="41" name="Criterion 2"/>
          <p:cNvSpPr/>
          <p:nvPr/>
        </p:nvSpPr>
        <p:spPr>
          <a:xfrm>
            <a:off x="3346704" y="5650992"/>
            <a:ext cx="2651760" cy="749808"/>
          </a:xfrm>
          <a:prstGeom prst="roundRect">
            <a:avLst>
              <a:gd name="adj" fmla="val 12195"/>
            </a:avLst>
          </a:prstGeom>
          <a:solidFill>
            <a:srgbClr val="E6F0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0" bIns="0">
            <a:noAutofit/>
          </a:bodyPr>
          <a:lstStyle/>
          <a:p>
            <a:pPr algn="l">
              <a:lnSpc>
                <a:spcPct val="95000"/>
              </a:lnSpc>
              <a:spcBef>
                <a:spcPts val="0"/>
              </a:spcBef>
              <a:spcAft>
                <a:spcPts val="100"/>
              </a:spcAft>
            </a:pPr>
            <a:r>
              <a:rPr sz="1900" b="1" i="0">
                <a:solidFill>
                  <a:srgbClr val="1C5CAB"/>
                </a:solidFill>
                <a:latin typeface="Calibri"/>
              </a:rPr>
              <a:t>Beat it</a:t>
            </a:r>
          </a:p>
          <a:p>
            <a:pPr algn="l">
              <a:lnSpc>
                <a:spcPct val="100000"/>
              </a:lnSpc>
              <a:spcBef>
                <a:spcPts val="0"/>
              </a:spcBef>
              <a:spcAft>
                <a:spcPts val="0"/>
              </a:spcAft>
            </a:pPr>
            <a:r>
              <a:rPr sz="1000" b="0" i="0">
                <a:solidFill>
                  <a:srgbClr val="14232E"/>
                </a:solidFill>
                <a:latin typeface="Calibri"/>
              </a:rPr>
              <a:t>fewer late batches than the simple rule on fresh order books (now 0.9% vs 1.7%)</a:t>
            </a:r>
          </a:p>
        </p:txBody>
      </p:sp>
      <p:sp>
        <p:nvSpPr>
          <p:cNvPr id="42" name="Criterion 3"/>
          <p:cNvSpPr/>
          <p:nvPr/>
        </p:nvSpPr>
        <p:spPr>
          <a:xfrm>
            <a:off x="6144768" y="5650992"/>
            <a:ext cx="2651760" cy="749808"/>
          </a:xfrm>
          <a:prstGeom prst="roundRect">
            <a:avLst>
              <a:gd name="adj" fmla="val 12195"/>
            </a:avLst>
          </a:prstGeom>
          <a:solidFill>
            <a:srgbClr val="E6F0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0" bIns="0">
            <a:noAutofit/>
          </a:bodyPr>
          <a:lstStyle/>
          <a:p>
            <a:pPr algn="l">
              <a:lnSpc>
                <a:spcPct val="95000"/>
              </a:lnSpc>
              <a:spcBef>
                <a:spcPts val="0"/>
              </a:spcBef>
              <a:spcAft>
                <a:spcPts val="100"/>
              </a:spcAft>
            </a:pPr>
            <a:r>
              <a:rPr sz="1900" b="1" i="0">
                <a:solidFill>
                  <a:srgbClr val="1C5CAB"/>
                </a:solidFill>
                <a:latin typeface="Calibri"/>
              </a:rPr>
              <a:t>≥ 90%</a:t>
            </a:r>
          </a:p>
          <a:p>
            <a:pPr algn="l">
              <a:lnSpc>
                <a:spcPct val="100000"/>
              </a:lnSpc>
              <a:spcBef>
                <a:spcPts val="0"/>
              </a:spcBef>
              <a:spcAft>
                <a:spcPts val="0"/>
              </a:spcAft>
            </a:pPr>
            <a:r>
              <a:rPr sz="1000" b="0" i="0">
                <a:solidFill>
                  <a:srgbClr val="14232E"/>
                </a:solidFill>
                <a:latin typeface="Calibri"/>
              </a:rPr>
              <a:t>right behaviour on the held-out inbox, labels frozen first</a:t>
            </a:r>
          </a:p>
        </p:txBody>
      </p:sp>
      <p:sp>
        <p:nvSpPr>
          <p:cNvPr id="43" name="Criterion 4"/>
          <p:cNvSpPr/>
          <p:nvPr/>
        </p:nvSpPr>
        <p:spPr>
          <a:xfrm>
            <a:off x="8942832" y="5650992"/>
            <a:ext cx="2651760" cy="749808"/>
          </a:xfrm>
          <a:prstGeom prst="roundRect">
            <a:avLst>
              <a:gd name="adj" fmla="val 12195"/>
            </a:avLst>
          </a:prstGeom>
          <a:solidFill>
            <a:srgbClr val="E6F0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0" bIns="0">
            <a:noAutofit/>
          </a:bodyPr>
          <a:lstStyle/>
          <a:p>
            <a:pPr algn="l">
              <a:lnSpc>
                <a:spcPct val="95000"/>
              </a:lnSpc>
              <a:spcBef>
                <a:spcPts val="0"/>
              </a:spcBef>
              <a:spcAft>
                <a:spcPts val="100"/>
              </a:spcAft>
            </a:pPr>
            <a:r>
              <a:rPr sz="1900" b="1" i="0">
                <a:solidFill>
                  <a:srgbClr val="1C5CAB"/>
                </a:solidFill>
                <a:latin typeface="Calibri"/>
              </a:rPr>
              <a:t>100%</a:t>
            </a:r>
          </a:p>
          <a:p>
            <a:pPr algn="l">
              <a:lnSpc>
                <a:spcPct val="100000"/>
              </a:lnSpc>
              <a:spcBef>
                <a:spcPts val="0"/>
              </a:spcBef>
              <a:spcAft>
                <a:spcPts val="0"/>
              </a:spcAft>
            </a:pPr>
            <a:r>
              <a:rPr sz="1000" b="0" i="0">
                <a:solidFill>
                  <a:srgbClr val="14232E"/>
                </a:solidFill>
                <a:latin typeface="Calibri"/>
              </a:rPr>
              <a:t>numbers traced; every “if reworked” date kept (now 100%; 99% in shock)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94415" cy="1188720"/>
          </a:xfrm>
          <a:prstGeom prst="rect">
            <a:avLst/>
          </a:prstGeom>
          <a:noFill/>
        </p:spPr>
        <p:txBody>
          <a:bodyPr wrap="square" lIns="0" rIns="0" tIns="0" bIns="0" anchor="t">
            <a:noAutofit/>
          </a:bodyPr>
          <a:lstStyle/>
          <a:p>
            <a:pPr algn="l">
              <a:lnSpc>
                <a:spcPct val="98000"/>
              </a:lnSpc>
              <a:spcBef>
                <a:spcPts val="0"/>
              </a:spcBef>
              <a:spcAft>
                <a:spcPts val="0"/>
              </a:spcAft>
            </a:pPr>
            <a:r>
              <a:rPr sz="3400" b="1" i="0">
                <a:solidFill>
                  <a:srgbClr val="14232E"/>
                </a:solidFill>
                <a:latin typeface="Cambria"/>
              </a:rPr>
              <a:t>Appendix A · Results on v3 data, mean of 10 seeds</a:t>
            </a:r>
          </a:p>
        </p:txBody>
      </p:sp>
      <p:sp>
        <p:nvSpPr>
          <p:cNvPr id="3" name="Footer"/>
          <p:cNvSpPr txBox="1"/>
          <p:nvPr/>
        </p:nvSpPr>
        <p:spPr>
          <a:xfrm>
            <a:off x="548640" y="6446520"/>
            <a:ext cx="82296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2606B"/>
                </a:solidFill>
                <a:latin typeface="Calibri"/>
              </a:rPr>
              <a:t>DSS5105 Capstone  ·  Track 2  ·  Subcontracting Desk  ·  Sprint 1</a:t>
            </a:r>
          </a:p>
        </p:txBody>
      </p:sp>
      <p:sp>
        <p:nvSpPr>
          <p:cNvPr id="4" name="Slide number"/>
          <p:cNvSpPr txBox="1"/>
          <p:nvPr/>
        </p:nvSpPr>
        <p:spPr>
          <a:xfrm>
            <a:off x="10728655" y="6446520"/>
            <a:ext cx="9144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2606B"/>
                </a:solidFill>
                <a:latin typeface="Calibri"/>
              </a:rPr>
              <a:t>7</a:t>
            </a:r>
          </a:p>
        </p:txBody>
      </p:sp>
      <p:sp>
        <p:nvSpPr>
          <p:cNvPr id="5" name="Backup tag"/>
          <p:cNvSpPr txBox="1"/>
          <p:nvPr/>
        </p:nvSpPr>
        <p:spPr>
          <a:xfrm>
            <a:off x="10180015" y="146304"/>
            <a:ext cx="1463040" cy="237744"/>
          </a:xfrm>
          <a:prstGeom prst="rect">
            <a:avLst/>
          </a:prstGeom>
          <a:noFill/>
        </p:spPr>
        <p:txBody>
          <a:bodyPr wrap="square" lIns="0" rIns="0" tIns="0" bIns="0" anchor="t">
            <a:noAutofit/>
          </a:bodyPr>
          <a:lstStyle/>
          <a:p>
            <a:pPr algn="r">
              <a:lnSpc>
                <a:spcPct val="100000"/>
              </a:lnSpc>
              <a:spcBef>
                <a:spcPts val="0"/>
              </a:spcBef>
              <a:spcAft>
                <a:spcPts val="0"/>
              </a:spcAft>
            </a:pPr>
            <a:r>
              <a:rPr sz="1050" b="1" i="0">
                <a:solidFill>
                  <a:srgbClr val="52606B"/>
                </a:solidFill>
                <a:latin typeface="Calibri"/>
              </a:rPr>
              <a:t>BACKUP SLIDE</a:t>
            </a:r>
          </a:p>
        </p:txBody>
      </p:sp>
      <p:graphicFrame>
        <p:nvGraphicFramePr>
          <p:cNvPr id="6" name="Results"/>
          <p:cNvGraphicFramePr>
            <a:graphicFrameLocks noGrp="1"/>
          </p:cNvGraphicFramePr>
          <p:nvPr/>
        </p:nvGraphicFramePr>
        <p:xfrm>
          <a:off x="548640" y="1691640"/>
          <a:ext cx="11064240" cy="4224528"/>
        </p:xfrm>
        <a:graphic>
          <a:graphicData uri="http://schemas.openxmlformats.org/drawingml/2006/table">
            <a:tbl>
              <a:tblPr>
                <a:tableStyleId>{2D5ABB26-0587-4C30-8999-92F81FD0307C}</a:tableStyleId>
              </a:tblPr>
              <a:tblGrid>
                <a:gridCol w="3063240"/>
                <a:gridCol w="822960"/>
                <a:gridCol w="960120"/>
                <a:gridCol w="1051560"/>
                <a:gridCol w="1417320"/>
                <a:gridCol w="1188720"/>
                <a:gridCol w="1097280"/>
                <a:gridCol w="1463040"/>
              </a:tblGrid>
              <a:tr h="352044">
                <a:tc>
                  <a:txBody>
                    <a:bodyPr wrap="square"/>
                    <a:lstStyle/>
                    <a:p>
                      <a:pPr algn="l"/>
                      <a:r>
                        <a:rPr sz="1250" b="1">
                          <a:solidFill>
                            <a:srgbClr val="FFFFFF"/>
                          </a:solidFill>
                          <a:latin typeface="Calibri"/>
                        </a:rPr>
                        <a:t>Policy</a:t>
                      </a:r>
                    </a:p>
                  </a:txBody>
                  <a:tcPr marL="73152" marR="73152" marT="18288" marB="18288" anchor="ctr">
                    <a:solidFill>
                      <a:srgbClr val="0F2B3A"/>
                    </a:solidFill>
                  </a:tcPr>
                </a:tc>
                <a:tc>
                  <a:txBody>
                    <a:bodyPr wrap="square"/>
                    <a:lstStyle/>
                    <a:p>
                      <a:pPr algn="r"/>
                      <a:r>
                        <a:rPr sz="1250" b="1">
                          <a:solidFill>
                            <a:srgbClr val="FFFFFF"/>
                          </a:solidFill>
                          <a:latin typeface="Calibri"/>
                        </a:rPr>
                        <a:t>Late %</a:t>
                      </a:r>
                    </a:p>
                  </a:txBody>
                  <a:tcPr marL="73152" marR="73152" marT="18288" marB="18288" anchor="ctr">
                    <a:solidFill>
                      <a:srgbClr val="0F2B3A"/>
                    </a:solidFill>
                  </a:tcPr>
                </a:tc>
                <a:tc>
                  <a:txBody>
                    <a:bodyPr wrap="square"/>
                    <a:lstStyle/>
                    <a:p>
                      <a:pPr algn="r"/>
                      <a:r>
                        <a:rPr sz="1250" b="1">
                          <a:solidFill>
                            <a:srgbClr val="FFFFFF"/>
                          </a:solidFill>
                          <a:latin typeface="Calibri"/>
                        </a:rPr>
                        <a:t>Late days</a:t>
                      </a:r>
                    </a:p>
                  </a:txBody>
                  <a:tcPr marL="73152" marR="73152" marT="18288" marB="18288" anchor="ctr">
                    <a:solidFill>
                      <a:srgbClr val="0F2B3A"/>
                    </a:solidFill>
                  </a:tcPr>
                </a:tc>
                <a:tc>
                  <a:txBody>
                    <a:bodyPr wrap="square"/>
                    <a:lstStyle/>
                    <a:p>
                      <a:pPr algn="r"/>
                      <a:r>
                        <a:rPr sz="1250" b="1">
                          <a:solidFill>
                            <a:srgbClr val="FFFFFF"/>
                          </a:solidFill>
                          <a:latin typeface="Calibri"/>
                        </a:rPr>
                        <a:t>Mean days</a:t>
                      </a:r>
                    </a:p>
                  </a:txBody>
                  <a:tcPr marL="73152" marR="73152" marT="18288" marB="18288" anchor="ctr">
                    <a:solidFill>
                      <a:srgbClr val="0F2B3A"/>
                    </a:solidFill>
                  </a:tcPr>
                </a:tc>
                <a:tc>
                  <a:txBody>
                    <a:bodyPr wrap="square"/>
                    <a:lstStyle/>
                    <a:p>
                      <a:pPr algn="r"/>
                      <a:r>
                        <a:rPr sz="1250" b="1">
                          <a:solidFill>
                            <a:srgbClr val="FFFFFF"/>
                          </a:solidFill>
                          <a:latin typeface="Calibri"/>
                        </a:rPr>
                        <a:t>Defective pcs %</a:t>
                      </a:r>
                    </a:p>
                  </a:txBody>
                  <a:tcPr marL="73152" marR="73152" marT="18288" marB="18288" anchor="ctr">
                    <a:solidFill>
                      <a:srgbClr val="0F2B3A"/>
                    </a:solidFill>
                  </a:tcPr>
                </a:tc>
                <a:tc>
                  <a:txBody>
                    <a:bodyPr wrap="square"/>
                    <a:lstStyle/>
                    <a:p>
                      <a:pPr algn="r"/>
                      <a:r>
                        <a:rPr sz="1250" b="1">
                          <a:solidFill>
                            <a:srgbClr val="FFFFFF"/>
                          </a:solidFill>
                          <a:latin typeface="Calibri"/>
                        </a:rPr>
                        <a:t>Max share %</a:t>
                      </a:r>
                    </a:p>
                  </a:txBody>
                  <a:tcPr marL="73152" marR="73152" marT="18288" marB="18288" anchor="ctr">
                    <a:solidFill>
                      <a:srgbClr val="0F2B3A"/>
                    </a:solidFill>
                  </a:tcPr>
                </a:tc>
                <a:tc>
                  <a:txBody>
                    <a:bodyPr wrap="square"/>
                    <a:lstStyle/>
                    <a:p>
                      <a:pPr algn="r"/>
                      <a:r>
                        <a:rPr sz="1250" b="1">
                          <a:solidFill>
                            <a:srgbClr val="FFFFFF"/>
                          </a:solidFill>
                          <a:latin typeface="Calibri"/>
                        </a:rPr>
                        <a:t>Cost</a:t>
                      </a:r>
                    </a:p>
                  </a:txBody>
                  <a:tcPr marL="73152" marR="73152" marT="18288" marB="18288" anchor="ctr">
                    <a:solidFill>
                      <a:srgbClr val="0F2B3A"/>
                    </a:solidFill>
                  </a:tcPr>
                </a:tc>
                <a:tc>
                  <a:txBody>
                    <a:bodyPr wrap="square"/>
                    <a:lstStyle/>
                    <a:p>
                      <a:pPr algn="r"/>
                      <a:r>
                        <a:rPr sz="1250" b="1">
                          <a:solidFill>
                            <a:srgbClr val="FFFFFF"/>
                          </a:solidFill>
                          <a:latin typeface="Calibri"/>
                        </a:rPr>
                        <a:t>Late % in shock</a:t>
                      </a:r>
                    </a:p>
                  </a:txBody>
                  <a:tcPr marL="73152" marR="73152" marT="18288" marB="18288" anchor="ctr">
                    <a:solidFill>
                      <a:srgbClr val="0F2B3A"/>
                    </a:solidFill>
                  </a:tcPr>
                </a:tc>
              </a:tr>
              <a:tr h="352044">
                <a:tc>
                  <a:txBody>
                    <a:bodyPr wrap="square"/>
                    <a:lstStyle/>
                    <a:p>
                      <a:pPr algn="l"/>
                      <a:r>
                        <a:rPr sz="1250" b="0">
                          <a:solidFill>
                            <a:srgbClr val="14232E"/>
                          </a:solidFill>
                          <a:latin typeface="Calibri"/>
                        </a:rPr>
                        <a:t>random  (official)</a:t>
                      </a:r>
                    </a:p>
                  </a:txBody>
                  <a:tcPr marL="73152" marR="73152" marT="18288" marB="18288" anchor="ctr">
                    <a:solidFill>
                      <a:srgbClr val="FFFFFF"/>
                    </a:solidFill>
                  </a:tcPr>
                </a:tc>
                <a:tc>
                  <a:txBody>
                    <a:bodyPr wrap="square"/>
                    <a:lstStyle/>
                    <a:p>
                      <a:pPr algn="r"/>
                      <a:r>
                        <a:rPr sz="1250" b="0">
                          <a:solidFill>
                            <a:srgbClr val="14232E"/>
                          </a:solidFill>
                          <a:latin typeface="Calibri"/>
                        </a:rPr>
                        <a:t>34.2</a:t>
                      </a:r>
                    </a:p>
                  </a:txBody>
                  <a:tcPr marL="73152" marR="73152" marT="18288" marB="18288" anchor="ctr">
                    <a:solidFill>
                      <a:srgbClr val="FFFFFF"/>
                    </a:solidFill>
                  </a:tcPr>
                </a:tc>
                <a:tc>
                  <a:txBody>
                    <a:bodyPr wrap="square"/>
                    <a:lstStyle/>
                    <a:p>
                      <a:pPr algn="r"/>
                      <a:r>
                        <a:rPr sz="1250" b="0">
                          <a:solidFill>
                            <a:srgbClr val="14232E"/>
                          </a:solidFill>
                          <a:latin typeface="Calibri"/>
                        </a:rPr>
                        <a:t>6.13</a:t>
                      </a:r>
                    </a:p>
                  </a:txBody>
                  <a:tcPr marL="73152" marR="73152" marT="18288" marB="18288" anchor="ctr">
                    <a:solidFill>
                      <a:srgbClr val="FFFFFF"/>
                    </a:solidFill>
                  </a:tcPr>
                </a:tc>
                <a:tc>
                  <a:txBody>
                    <a:bodyPr wrap="square"/>
                    <a:lstStyle/>
                    <a:p>
                      <a:pPr algn="r"/>
                      <a:r>
                        <a:rPr sz="1250" b="0">
                          <a:solidFill>
                            <a:srgbClr val="14232E"/>
                          </a:solidFill>
                          <a:latin typeface="Calibri"/>
                        </a:rPr>
                        <a:t>21.9</a:t>
                      </a:r>
                    </a:p>
                  </a:txBody>
                  <a:tcPr marL="73152" marR="73152" marT="18288" marB="18288" anchor="ctr">
                    <a:solidFill>
                      <a:srgbClr val="FFFFFF"/>
                    </a:solidFill>
                  </a:tcPr>
                </a:tc>
                <a:tc>
                  <a:txBody>
                    <a:bodyPr wrap="square"/>
                    <a:lstStyle/>
                    <a:p>
                      <a:pPr algn="r"/>
                      <a:r>
                        <a:rPr sz="1250" b="0">
                          <a:solidFill>
                            <a:srgbClr val="14232E"/>
                          </a:solidFill>
                          <a:latin typeface="Calibri"/>
                        </a:rPr>
                        <a:t>5.6</a:t>
                      </a:r>
                    </a:p>
                  </a:txBody>
                  <a:tcPr marL="73152" marR="73152" marT="18288" marB="18288" anchor="ctr">
                    <a:solidFill>
                      <a:srgbClr val="FFFFFF"/>
                    </a:solidFill>
                  </a:tcPr>
                </a:tc>
                <a:tc>
                  <a:txBody>
                    <a:bodyPr wrap="square"/>
                    <a:lstStyle/>
                    <a:p>
                      <a:pPr algn="r"/>
                      <a:r>
                        <a:rPr sz="1250" b="0">
                          <a:solidFill>
                            <a:srgbClr val="14232E"/>
                          </a:solidFill>
                          <a:latin typeface="Calibri"/>
                        </a:rPr>
                        <a:t>23</a:t>
                      </a:r>
                    </a:p>
                  </a:txBody>
                  <a:tcPr marL="73152" marR="73152" marT="18288" marB="18288" anchor="ctr">
                    <a:solidFill>
                      <a:srgbClr val="FFFFFF"/>
                    </a:solidFill>
                  </a:tcPr>
                </a:tc>
                <a:tc>
                  <a:txBody>
                    <a:bodyPr wrap="square"/>
                    <a:lstStyle/>
                    <a:p>
                      <a:pPr algn="r"/>
                      <a:r>
                        <a:rPr sz="1250" b="0">
                          <a:solidFill>
                            <a:srgbClr val="14232E"/>
                          </a:solidFill>
                          <a:latin typeface="Calibri"/>
                        </a:rPr>
                        <a:t>111,780</a:t>
                      </a:r>
                    </a:p>
                  </a:txBody>
                  <a:tcPr marL="73152" marR="73152" marT="18288" marB="18288" anchor="ctr">
                    <a:solidFill>
                      <a:srgbClr val="FFFFFF"/>
                    </a:solidFill>
                  </a:tcPr>
                </a:tc>
                <a:tc>
                  <a:txBody>
                    <a:bodyPr wrap="square"/>
                    <a:lstStyle/>
                    <a:p>
                      <a:pPr algn="r"/>
                      <a:r>
                        <a:rPr sz="1250" b="0">
                          <a:solidFill>
                            <a:srgbClr val="14232E"/>
                          </a:solidFill>
                          <a:latin typeface="Calibri"/>
                        </a:rPr>
                        <a:t>38.2</a:t>
                      </a:r>
                    </a:p>
                  </a:txBody>
                  <a:tcPr marL="73152" marR="73152" marT="18288" marB="18288" anchor="ctr">
                    <a:solidFill>
                      <a:srgbClr val="FFFFFF"/>
                    </a:solidFill>
                  </a:tcPr>
                </a:tc>
              </a:tr>
              <a:tr h="352044">
                <a:tc>
                  <a:txBody>
                    <a:bodyPr wrap="square"/>
                    <a:lstStyle/>
                    <a:p>
                      <a:pPr algn="l"/>
                      <a:r>
                        <a:rPr sz="1250" b="0">
                          <a:solidFill>
                            <a:srgbClr val="14232E"/>
                          </a:solidFill>
                          <a:latin typeface="Calibri"/>
                        </a:rPr>
                        <a:t>greedy_biggest  (official)</a:t>
                      </a:r>
                    </a:p>
                  </a:txBody>
                  <a:tcPr marL="73152" marR="73152" marT="18288" marB="18288" anchor="ctr">
                    <a:solidFill>
                      <a:srgbClr val="FFFFFF"/>
                    </a:solidFill>
                  </a:tcPr>
                </a:tc>
                <a:tc>
                  <a:txBody>
                    <a:bodyPr wrap="square"/>
                    <a:lstStyle/>
                    <a:p>
                      <a:pPr algn="r"/>
                      <a:r>
                        <a:rPr sz="1250" b="0">
                          <a:solidFill>
                            <a:srgbClr val="14232E"/>
                          </a:solidFill>
                          <a:latin typeface="Calibri"/>
                        </a:rPr>
                        <a:t>84.2</a:t>
                      </a:r>
                    </a:p>
                  </a:txBody>
                  <a:tcPr marL="73152" marR="73152" marT="18288" marB="18288" anchor="ctr">
                    <a:solidFill>
                      <a:srgbClr val="FFFFFF"/>
                    </a:solidFill>
                  </a:tcPr>
                </a:tc>
                <a:tc>
                  <a:txBody>
                    <a:bodyPr wrap="square"/>
                    <a:lstStyle/>
                    <a:p>
                      <a:pPr algn="r"/>
                      <a:r>
                        <a:rPr sz="1250" b="0">
                          <a:solidFill>
                            <a:srgbClr val="14232E"/>
                          </a:solidFill>
                          <a:latin typeface="Calibri"/>
                        </a:rPr>
                        <a:t>26.53</a:t>
                      </a:r>
                    </a:p>
                  </a:txBody>
                  <a:tcPr marL="73152" marR="73152" marT="18288" marB="18288" anchor="ctr">
                    <a:solidFill>
                      <a:srgbClr val="FFFFFF"/>
                    </a:solidFill>
                  </a:tcPr>
                </a:tc>
                <a:tc>
                  <a:txBody>
                    <a:bodyPr wrap="square"/>
                    <a:lstStyle/>
                    <a:p>
                      <a:pPr algn="r"/>
                      <a:r>
                        <a:rPr sz="1250" b="0">
                          <a:solidFill>
                            <a:srgbClr val="14232E"/>
                          </a:solidFill>
                          <a:latin typeface="Calibri"/>
                        </a:rPr>
                        <a:t>50.3</a:t>
                      </a:r>
                    </a:p>
                  </a:txBody>
                  <a:tcPr marL="73152" marR="73152" marT="18288" marB="18288" anchor="ctr">
                    <a:solidFill>
                      <a:srgbClr val="FFFFFF"/>
                    </a:solidFill>
                  </a:tcPr>
                </a:tc>
                <a:tc>
                  <a:txBody>
                    <a:bodyPr wrap="square"/>
                    <a:lstStyle/>
                    <a:p>
                      <a:pPr algn="r"/>
                      <a:r>
                        <a:rPr sz="1250" b="0">
                          <a:solidFill>
                            <a:srgbClr val="14232E"/>
                          </a:solidFill>
                          <a:latin typeface="Calibri"/>
                        </a:rPr>
                        <a:t>5.3</a:t>
                      </a:r>
                    </a:p>
                  </a:txBody>
                  <a:tcPr marL="73152" marR="73152" marT="18288" marB="18288" anchor="ctr">
                    <a:solidFill>
                      <a:srgbClr val="FFFFFF"/>
                    </a:solidFill>
                  </a:tcPr>
                </a:tc>
                <a:tc>
                  <a:txBody>
                    <a:bodyPr wrap="square"/>
                    <a:lstStyle/>
                    <a:p>
                      <a:pPr algn="r"/>
                      <a:r>
                        <a:rPr sz="1250" b="0">
                          <a:solidFill>
                            <a:srgbClr val="14232E"/>
                          </a:solidFill>
                          <a:latin typeface="Calibri"/>
                        </a:rPr>
                        <a:t>70</a:t>
                      </a:r>
                    </a:p>
                  </a:txBody>
                  <a:tcPr marL="73152" marR="73152" marT="18288" marB="18288" anchor="ctr">
                    <a:solidFill>
                      <a:srgbClr val="FFFFFF"/>
                    </a:solidFill>
                  </a:tcPr>
                </a:tc>
                <a:tc>
                  <a:txBody>
                    <a:bodyPr wrap="square"/>
                    <a:lstStyle/>
                    <a:p>
                      <a:pPr algn="r"/>
                      <a:r>
                        <a:rPr sz="1250" b="0">
                          <a:solidFill>
                            <a:srgbClr val="14232E"/>
                          </a:solidFill>
                          <a:latin typeface="Calibri"/>
                        </a:rPr>
                        <a:t>108,430</a:t>
                      </a:r>
                    </a:p>
                  </a:txBody>
                  <a:tcPr marL="73152" marR="73152" marT="18288" marB="18288" anchor="ctr">
                    <a:solidFill>
                      <a:srgbClr val="FFFFFF"/>
                    </a:solidFill>
                  </a:tcPr>
                </a:tc>
                <a:tc>
                  <a:txBody>
                    <a:bodyPr wrap="square"/>
                    <a:lstStyle/>
                    <a:p>
                      <a:pPr algn="r"/>
                      <a:r>
                        <a:rPr sz="1250" b="0">
                          <a:solidFill>
                            <a:srgbClr val="14232E"/>
                          </a:solidFill>
                          <a:latin typeface="Calibri"/>
                        </a:rPr>
                        <a:t>84.9</a:t>
                      </a:r>
                    </a:p>
                  </a:txBody>
                  <a:tcPr marL="73152" marR="73152" marT="18288" marB="18288" anchor="ctr">
                    <a:solidFill>
                      <a:srgbClr val="FFFFFF"/>
                    </a:solidFill>
                  </a:tcPr>
                </a:tc>
              </a:tr>
              <a:tr h="352044">
                <a:tc>
                  <a:txBody>
                    <a:bodyPr wrap="square"/>
                    <a:lstStyle/>
                    <a:p>
                      <a:pPr algn="l"/>
                      <a:r>
                        <a:rPr sz="1250" b="0">
                          <a:solidFill>
                            <a:srgbClr val="14232E"/>
                          </a:solidFill>
                          <a:latin typeface="Calibri"/>
                        </a:rPr>
                        <a:t>cheapest  (official)</a:t>
                      </a:r>
                    </a:p>
                  </a:txBody>
                  <a:tcPr marL="73152" marR="73152" marT="18288" marB="18288" anchor="ctr">
                    <a:solidFill>
                      <a:srgbClr val="FFFFFF"/>
                    </a:solidFill>
                  </a:tcPr>
                </a:tc>
                <a:tc>
                  <a:txBody>
                    <a:bodyPr wrap="square"/>
                    <a:lstStyle/>
                    <a:p>
                      <a:pPr algn="r"/>
                      <a:r>
                        <a:rPr sz="1250" b="0">
                          <a:solidFill>
                            <a:srgbClr val="14232E"/>
                          </a:solidFill>
                          <a:latin typeface="Calibri"/>
                        </a:rPr>
                        <a:t>91.8</a:t>
                      </a:r>
                    </a:p>
                  </a:txBody>
                  <a:tcPr marL="73152" marR="73152" marT="18288" marB="18288" anchor="ctr">
                    <a:solidFill>
                      <a:srgbClr val="FFFFFF"/>
                    </a:solidFill>
                  </a:tcPr>
                </a:tc>
                <a:tc>
                  <a:txBody>
                    <a:bodyPr wrap="square"/>
                    <a:lstStyle/>
                    <a:p>
                      <a:pPr algn="r"/>
                      <a:r>
                        <a:rPr sz="1250" b="0">
                          <a:solidFill>
                            <a:srgbClr val="14232E"/>
                          </a:solidFill>
                          <a:latin typeface="Calibri"/>
                        </a:rPr>
                        <a:t>81.92</a:t>
                      </a:r>
                    </a:p>
                  </a:txBody>
                  <a:tcPr marL="73152" marR="73152" marT="18288" marB="18288" anchor="ctr">
                    <a:solidFill>
                      <a:srgbClr val="FFFFFF"/>
                    </a:solidFill>
                  </a:tcPr>
                </a:tc>
                <a:tc>
                  <a:txBody>
                    <a:bodyPr wrap="square"/>
                    <a:lstStyle/>
                    <a:p>
                      <a:pPr algn="r"/>
                      <a:r>
                        <a:rPr sz="1250" b="0">
                          <a:solidFill>
                            <a:srgbClr val="14232E"/>
                          </a:solidFill>
                          <a:latin typeface="Calibri"/>
                        </a:rPr>
                        <a:t>106.2</a:t>
                      </a:r>
                    </a:p>
                  </a:txBody>
                  <a:tcPr marL="73152" marR="73152" marT="18288" marB="18288" anchor="ctr">
                    <a:solidFill>
                      <a:srgbClr val="FFFFFF"/>
                    </a:solidFill>
                  </a:tcPr>
                </a:tc>
                <a:tc>
                  <a:txBody>
                    <a:bodyPr wrap="square"/>
                    <a:lstStyle/>
                    <a:p>
                      <a:pPr algn="r"/>
                      <a:r>
                        <a:rPr sz="1250" b="0">
                          <a:solidFill>
                            <a:srgbClr val="14232E"/>
                          </a:solidFill>
                          <a:latin typeface="Calibri"/>
                        </a:rPr>
                        <a:t>8.2</a:t>
                      </a:r>
                    </a:p>
                  </a:txBody>
                  <a:tcPr marL="73152" marR="73152" marT="18288" marB="18288" anchor="ctr">
                    <a:solidFill>
                      <a:srgbClr val="FFFFFF"/>
                    </a:solidFill>
                  </a:tcPr>
                </a:tc>
                <a:tc>
                  <a:txBody>
                    <a:bodyPr wrap="square"/>
                    <a:lstStyle/>
                    <a:p>
                      <a:pPr algn="r"/>
                      <a:r>
                        <a:rPr sz="1250" b="0">
                          <a:solidFill>
                            <a:srgbClr val="14232E"/>
                          </a:solidFill>
                          <a:latin typeface="Calibri"/>
                        </a:rPr>
                        <a:t>70</a:t>
                      </a:r>
                    </a:p>
                  </a:txBody>
                  <a:tcPr marL="73152" marR="73152" marT="18288" marB="18288" anchor="ctr">
                    <a:solidFill>
                      <a:srgbClr val="FFFFFF"/>
                    </a:solidFill>
                  </a:tcPr>
                </a:tc>
                <a:tc>
                  <a:txBody>
                    <a:bodyPr wrap="square"/>
                    <a:lstStyle/>
                    <a:p>
                      <a:pPr algn="r"/>
                      <a:r>
                        <a:rPr sz="1250" b="0">
                          <a:solidFill>
                            <a:srgbClr val="14232E"/>
                          </a:solidFill>
                          <a:latin typeface="Calibri"/>
                        </a:rPr>
                        <a:t>85,960</a:t>
                      </a:r>
                    </a:p>
                  </a:txBody>
                  <a:tcPr marL="73152" marR="73152" marT="18288" marB="18288" anchor="ctr">
                    <a:solidFill>
                      <a:srgbClr val="FFFFFF"/>
                    </a:solidFill>
                  </a:tcPr>
                </a:tc>
                <a:tc>
                  <a:txBody>
                    <a:bodyPr wrap="square"/>
                    <a:lstStyle/>
                    <a:p>
                      <a:pPr algn="r"/>
                      <a:r>
                        <a:rPr sz="1250" b="0">
                          <a:solidFill>
                            <a:srgbClr val="14232E"/>
                          </a:solidFill>
                          <a:latin typeface="Calibri"/>
                        </a:rPr>
                        <a:t>91.8</a:t>
                      </a:r>
                    </a:p>
                  </a:txBody>
                  <a:tcPr marL="73152" marR="73152" marT="18288" marB="18288" anchor="ctr">
                    <a:solidFill>
                      <a:srgbClr val="FFFFFF"/>
                    </a:solidFill>
                  </a:tcPr>
                </a:tc>
              </a:tr>
              <a:tr h="352044">
                <a:tc>
                  <a:txBody>
                    <a:bodyPr wrap="square"/>
                    <a:lstStyle/>
                    <a:p>
                      <a:pPr algn="l"/>
                      <a:r>
                        <a:rPr sz="1250" b="1">
                          <a:solidFill>
                            <a:srgbClr val="14232E"/>
                          </a:solidFill>
                          <a:latin typeface="Calibri"/>
                        </a:rPr>
                        <a:t>earliest_finish  (simple rule)</a:t>
                      </a:r>
                    </a:p>
                  </a:txBody>
                  <a:tcPr marL="73152" marR="73152" marT="18288" marB="18288" anchor="ctr">
                    <a:solidFill>
                      <a:srgbClr val="FDEBE3"/>
                    </a:solidFill>
                  </a:tcPr>
                </a:tc>
                <a:tc>
                  <a:txBody>
                    <a:bodyPr wrap="square"/>
                    <a:lstStyle/>
                    <a:p>
                      <a:pPr algn="r"/>
                      <a:r>
                        <a:rPr sz="1250" b="1">
                          <a:solidFill>
                            <a:srgbClr val="14232E"/>
                          </a:solidFill>
                          <a:latin typeface="Calibri"/>
                        </a:rPr>
                        <a:t>1.7</a:t>
                      </a:r>
                    </a:p>
                  </a:txBody>
                  <a:tcPr marL="73152" marR="73152" marT="18288" marB="18288" anchor="ctr">
                    <a:solidFill>
                      <a:srgbClr val="FDEBE3"/>
                    </a:solidFill>
                  </a:tcPr>
                </a:tc>
                <a:tc>
                  <a:txBody>
                    <a:bodyPr wrap="square"/>
                    <a:lstStyle/>
                    <a:p>
                      <a:pPr algn="r"/>
                      <a:r>
                        <a:rPr sz="1250" b="1">
                          <a:solidFill>
                            <a:srgbClr val="14232E"/>
                          </a:solidFill>
                          <a:latin typeface="Calibri"/>
                        </a:rPr>
                        <a:t>0.18</a:t>
                      </a:r>
                    </a:p>
                  </a:txBody>
                  <a:tcPr marL="73152" marR="73152" marT="18288" marB="18288" anchor="ctr">
                    <a:solidFill>
                      <a:srgbClr val="FDEBE3"/>
                    </a:solidFill>
                  </a:tcPr>
                </a:tc>
                <a:tc>
                  <a:txBody>
                    <a:bodyPr wrap="square"/>
                    <a:lstStyle/>
                    <a:p>
                      <a:pPr algn="r"/>
                      <a:r>
                        <a:rPr sz="1250" b="1">
                          <a:solidFill>
                            <a:srgbClr val="14232E"/>
                          </a:solidFill>
                          <a:latin typeface="Calibri"/>
                        </a:rPr>
                        <a:t>8.3</a:t>
                      </a:r>
                    </a:p>
                  </a:txBody>
                  <a:tcPr marL="73152" marR="73152" marT="18288" marB="18288" anchor="ctr">
                    <a:solidFill>
                      <a:srgbClr val="FDEBE3"/>
                    </a:solidFill>
                  </a:tcPr>
                </a:tc>
                <a:tc>
                  <a:txBody>
                    <a:bodyPr wrap="square"/>
                    <a:lstStyle/>
                    <a:p>
                      <a:pPr algn="r"/>
                      <a:r>
                        <a:rPr sz="1250" b="1">
                          <a:solidFill>
                            <a:srgbClr val="14232E"/>
                          </a:solidFill>
                          <a:latin typeface="Calibri"/>
                        </a:rPr>
                        <a:t>7.2</a:t>
                      </a:r>
                    </a:p>
                  </a:txBody>
                  <a:tcPr marL="73152" marR="73152" marT="18288" marB="18288" anchor="ctr">
                    <a:solidFill>
                      <a:srgbClr val="FDEBE3"/>
                    </a:solidFill>
                  </a:tcPr>
                </a:tc>
                <a:tc>
                  <a:txBody>
                    <a:bodyPr wrap="square"/>
                    <a:lstStyle/>
                    <a:p>
                      <a:pPr algn="r"/>
                      <a:r>
                        <a:rPr sz="1250" b="1">
                          <a:solidFill>
                            <a:srgbClr val="14232E"/>
                          </a:solidFill>
                          <a:latin typeface="Calibri"/>
                        </a:rPr>
                        <a:t>26</a:t>
                      </a:r>
                    </a:p>
                  </a:txBody>
                  <a:tcPr marL="73152" marR="73152" marT="18288" marB="18288" anchor="ctr">
                    <a:solidFill>
                      <a:srgbClr val="FDEBE3"/>
                    </a:solidFill>
                  </a:tcPr>
                </a:tc>
                <a:tc>
                  <a:txBody>
                    <a:bodyPr wrap="square"/>
                    <a:lstStyle/>
                    <a:p>
                      <a:pPr algn="r"/>
                      <a:r>
                        <a:rPr sz="1250" b="1">
                          <a:solidFill>
                            <a:srgbClr val="14232E"/>
                          </a:solidFill>
                          <a:latin typeface="Calibri"/>
                        </a:rPr>
                        <a:t>115,566</a:t>
                      </a:r>
                    </a:p>
                  </a:txBody>
                  <a:tcPr marL="73152" marR="73152" marT="18288" marB="18288" anchor="ctr">
                    <a:solidFill>
                      <a:srgbClr val="FDEBE3"/>
                    </a:solidFill>
                  </a:tcPr>
                </a:tc>
                <a:tc>
                  <a:txBody>
                    <a:bodyPr wrap="square"/>
                    <a:lstStyle/>
                    <a:p>
                      <a:pPr algn="r"/>
                      <a:r>
                        <a:rPr sz="1250" b="1">
                          <a:solidFill>
                            <a:srgbClr val="14232E"/>
                          </a:solidFill>
                          <a:latin typeface="Calibri"/>
                        </a:rPr>
                        <a:t>1.9</a:t>
                      </a:r>
                    </a:p>
                  </a:txBody>
                  <a:tcPr marL="73152" marR="73152" marT="18288" marB="18288" anchor="ctr">
                    <a:solidFill>
                      <a:srgbClr val="FDEBE3"/>
                    </a:solidFill>
                  </a:tcPr>
                </a:tc>
              </a:tr>
              <a:tr h="352044">
                <a:tc>
                  <a:txBody>
                    <a:bodyPr wrap="square"/>
                    <a:lstStyle/>
                    <a:p>
                      <a:pPr algn="l"/>
                      <a:r>
                        <a:rPr sz="1250" b="1">
                          <a:solidFill>
                            <a:srgbClr val="14232E"/>
                          </a:solidFill>
                          <a:latin typeface="Calibri"/>
                        </a:rPr>
                        <a:t>lateness: specialist-first rule  (ours)</a:t>
                      </a:r>
                    </a:p>
                  </a:txBody>
                  <a:tcPr marL="73152" marR="73152" marT="18288" marB="18288" anchor="ctr">
                    <a:solidFill>
                      <a:srgbClr val="E6F0FC"/>
                    </a:solidFill>
                  </a:tcPr>
                </a:tc>
                <a:tc>
                  <a:txBody>
                    <a:bodyPr wrap="square"/>
                    <a:lstStyle/>
                    <a:p>
                      <a:pPr algn="r"/>
                      <a:r>
                        <a:rPr sz="1250" b="1">
                          <a:solidFill>
                            <a:srgbClr val="14232E"/>
                          </a:solidFill>
                          <a:latin typeface="Calibri"/>
                        </a:rPr>
                        <a:t>1.7</a:t>
                      </a:r>
                    </a:p>
                  </a:txBody>
                  <a:tcPr marL="73152" marR="73152" marT="18288" marB="18288" anchor="ctr">
                    <a:solidFill>
                      <a:srgbClr val="E6F0FC"/>
                    </a:solidFill>
                  </a:tcPr>
                </a:tc>
                <a:tc>
                  <a:txBody>
                    <a:bodyPr wrap="square"/>
                    <a:lstStyle/>
                    <a:p>
                      <a:pPr algn="r"/>
                      <a:r>
                        <a:rPr sz="1250" b="1">
                          <a:solidFill>
                            <a:srgbClr val="14232E"/>
                          </a:solidFill>
                          <a:latin typeface="Calibri"/>
                        </a:rPr>
                        <a:t>0.09</a:t>
                      </a:r>
                    </a:p>
                  </a:txBody>
                  <a:tcPr marL="73152" marR="73152" marT="18288" marB="18288" anchor="ctr">
                    <a:solidFill>
                      <a:srgbClr val="E6F0FC"/>
                    </a:solidFill>
                  </a:tcPr>
                </a:tc>
                <a:tc>
                  <a:txBody>
                    <a:bodyPr wrap="square"/>
                    <a:lstStyle/>
                    <a:p>
                      <a:pPr algn="r"/>
                      <a:r>
                        <a:rPr sz="1250" b="1">
                          <a:solidFill>
                            <a:srgbClr val="14232E"/>
                          </a:solidFill>
                          <a:latin typeface="Calibri"/>
                        </a:rPr>
                        <a:t>9.3</a:t>
                      </a:r>
                    </a:p>
                  </a:txBody>
                  <a:tcPr marL="73152" marR="73152" marT="18288" marB="18288" anchor="ctr">
                    <a:solidFill>
                      <a:srgbClr val="E6F0FC"/>
                    </a:solidFill>
                  </a:tcPr>
                </a:tc>
                <a:tc>
                  <a:txBody>
                    <a:bodyPr wrap="square"/>
                    <a:lstStyle/>
                    <a:p>
                      <a:pPr algn="r"/>
                      <a:r>
                        <a:rPr sz="1250" b="1">
                          <a:solidFill>
                            <a:srgbClr val="14232E"/>
                          </a:solidFill>
                          <a:latin typeface="Calibri"/>
                        </a:rPr>
                        <a:t>7.7</a:t>
                      </a:r>
                    </a:p>
                  </a:txBody>
                  <a:tcPr marL="73152" marR="73152" marT="18288" marB="18288" anchor="ctr">
                    <a:solidFill>
                      <a:srgbClr val="E6F0FC"/>
                    </a:solidFill>
                  </a:tcPr>
                </a:tc>
                <a:tc>
                  <a:txBody>
                    <a:bodyPr wrap="square"/>
                    <a:lstStyle/>
                    <a:p>
                      <a:pPr algn="r"/>
                      <a:r>
                        <a:rPr sz="1250" b="1">
                          <a:solidFill>
                            <a:srgbClr val="14232E"/>
                          </a:solidFill>
                          <a:latin typeface="Calibri"/>
                        </a:rPr>
                        <a:t>28</a:t>
                      </a:r>
                    </a:p>
                  </a:txBody>
                  <a:tcPr marL="73152" marR="73152" marT="18288" marB="18288" anchor="ctr">
                    <a:solidFill>
                      <a:srgbClr val="E6F0FC"/>
                    </a:solidFill>
                  </a:tcPr>
                </a:tc>
                <a:tc>
                  <a:txBody>
                    <a:bodyPr wrap="square"/>
                    <a:lstStyle/>
                    <a:p>
                      <a:pPr algn="r"/>
                      <a:r>
                        <a:rPr sz="1250" b="1">
                          <a:solidFill>
                            <a:srgbClr val="14232E"/>
                          </a:solidFill>
                          <a:latin typeface="Calibri"/>
                        </a:rPr>
                        <a:t>115,438</a:t>
                      </a:r>
                    </a:p>
                  </a:txBody>
                  <a:tcPr marL="73152" marR="73152" marT="18288" marB="18288" anchor="ctr">
                    <a:solidFill>
                      <a:srgbClr val="E6F0FC"/>
                    </a:solidFill>
                  </a:tcPr>
                </a:tc>
                <a:tc>
                  <a:txBody>
                    <a:bodyPr wrap="square"/>
                    <a:lstStyle/>
                    <a:p>
                      <a:pPr algn="r"/>
                      <a:r>
                        <a:rPr sz="1250" b="1">
                          <a:solidFill>
                            <a:srgbClr val="14232E"/>
                          </a:solidFill>
                          <a:latin typeface="Calibri"/>
                        </a:rPr>
                        <a:t>2.0</a:t>
                      </a:r>
                    </a:p>
                  </a:txBody>
                  <a:tcPr marL="73152" marR="73152" marT="18288" marB="18288" anchor="ctr">
                    <a:solidFill>
                      <a:srgbClr val="E6F0FC"/>
                    </a:solidFill>
                  </a:tcPr>
                </a:tc>
              </a:tr>
              <a:tr h="352044">
                <a:tc>
                  <a:txBody>
                    <a:bodyPr wrap="square"/>
                    <a:lstStyle/>
                    <a:p>
                      <a:pPr algn="l"/>
                      <a:r>
                        <a:rPr sz="1250" b="0">
                          <a:solidFill>
                            <a:srgbClr val="14232E"/>
                          </a:solidFill>
                          <a:latin typeface="Calibri"/>
                        </a:rPr>
                        <a:t>use_slack: latest safe finish  (ours)</a:t>
                      </a:r>
                    </a:p>
                  </a:txBody>
                  <a:tcPr marL="73152" marR="73152" marT="18288" marB="18288" anchor="ctr">
                    <a:solidFill>
                      <a:srgbClr val="FFFFFF"/>
                    </a:solidFill>
                  </a:tcPr>
                </a:tc>
                <a:tc>
                  <a:txBody>
                    <a:bodyPr wrap="square"/>
                    <a:lstStyle/>
                    <a:p>
                      <a:pPr algn="r"/>
                      <a:r>
                        <a:rPr sz="1250" b="0">
                          <a:solidFill>
                            <a:srgbClr val="14232E"/>
                          </a:solidFill>
                          <a:latin typeface="Calibri"/>
                        </a:rPr>
                        <a:t>1.0</a:t>
                      </a:r>
                    </a:p>
                  </a:txBody>
                  <a:tcPr marL="73152" marR="73152" marT="18288" marB="18288" anchor="ctr">
                    <a:solidFill>
                      <a:srgbClr val="FFFFFF"/>
                    </a:solidFill>
                  </a:tcPr>
                </a:tc>
                <a:tc>
                  <a:txBody>
                    <a:bodyPr wrap="square"/>
                    <a:lstStyle/>
                    <a:p>
                      <a:pPr algn="r"/>
                      <a:r>
                        <a:rPr sz="1250" b="0">
                          <a:solidFill>
                            <a:srgbClr val="14232E"/>
                          </a:solidFill>
                          <a:latin typeface="Calibri"/>
                        </a:rPr>
                        <a:t>0.07</a:t>
                      </a:r>
                    </a:p>
                  </a:txBody>
                  <a:tcPr marL="73152" marR="73152" marT="18288" marB="18288" anchor="ctr">
                    <a:solidFill>
                      <a:srgbClr val="FFFFFF"/>
                    </a:solidFill>
                  </a:tcPr>
                </a:tc>
                <a:tc>
                  <a:txBody>
                    <a:bodyPr wrap="square"/>
                    <a:lstStyle/>
                    <a:p>
                      <a:pPr algn="r"/>
                      <a:r>
                        <a:rPr sz="1250" b="0">
                          <a:solidFill>
                            <a:srgbClr val="14232E"/>
                          </a:solidFill>
                          <a:latin typeface="Calibri"/>
                        </a:rPr>
                        <a:t>14.0</a:t>
                      </a:r>
                    </a:p>
                  </a:txBody>
                  <a:tcPr marL="73152" marR="73152" marT="18288" marB="18288" anchor="ctr">
                    <a:solidFill>
                      <a:srgbClr val="FFFFFF"/>
                    </a:solidFill>
                  </a:tcPr>
                </a:tc>
                <a:tc>
                  <a:txBody>
                    <a:bodyPr wrap="square"/>
                    <a:lstStyle/>
                    <a:p>
                      <a:pPr algn="r"/>
                      <a:r>
                        <a:rPr sz="1250" b="0">
                          <a:solidFill>
                            <a:srgbClr val="14232E"/>
                          </a:solidFill>
                          <a:latin typeface="Calibri"/>
                        </a:rPr>
                        <a:t>6.8</a:t>
                      </a:r>
                    </a:p>
                  </a:txBody>
                  <a:tcPr marL="73152" marR="73152" marT="18288" marB="18288" anchor="ctr">
                    <a:solidFill>
                      <a:srgbClr val="FFFFFF"/>
                    </a:solidFill>
                  </a:tcPr>
                </a:tc>
                <a:tc>
                  <a:txBody>
                    <a:bodyPr wrap="square"/>
                    <a:lstStyle/>
                    <a:p>
                      <a:pPr algn="r"/>
                      <a:r>
                        <a:rPr sz="1250" b="0">
                          <a:solidFill>
                            <a:srgbClr val="14232E"/>
                          </a:solidFill>
                          <a:latin typeface="Calibri"/>
                        </a:rPr>
                        <a:t>32</a:t>
                      </a:r>
                    </a:p>
                  </a:txBody>
                  <a:tcPr marL="73152" marR="73152" marT="18288" marB="18288" anchor="ctr">
                    <a:solidFill>
                      <a:srgbClr val="FFFFFF"/>
                    </a:solidFill>
                  </a:tcPr>
                </a:tc>
                <a:tc>
                  <a:txBody>
                    <a:bodyPr wrap="square"/>
                    <a:lstStyle/>
                    <a:p>
                      <a:pPr algn="r"/>
                      <a:r>
                        <a:rPr sz="1250" b="0">
                          <a:solidFill>
                            <a:srgbClr val="14232E"/>
                          </a:solidFill>
                          <a:latin typeface="Calibri"/>
                        </a:rPr>
                        <a:t>105,502</a:t>
                      </a:r>
                    </a:p>
                  </a:txBody>
                  <a:tcPr marL="73152" marR="73152" marT="18288" marB="18288" anchor="ctr">
                    <a:solidFill>
                      <a:srgbClr val="FFFFFF"/>
                    </a:solidFill>
                  </a:tcPr>
                </a:tc>
                <a:tc>
                  <a:txBody>
                    <a:bodyPr wrap="square"/>
                    <a:lstStyle/>
                    <a:p>
                      <a:pPr algn="r"/>
                      <a:r>
                        <a:rPr sz="1250" b="0">
                          <a:solidFill>
                            <a:srgbClr val="14232E"/>
                          </a:solidFill>
                          <a:latin typeface="Calibri"/>
                        </a:rPr>
                        <a:t>1.7</a:t>
                      </a:r>
                    </a:p>
                  </a:txBody>
                  <a:tcPr marL="73152" marR="73152" marT="18288" marB="18288" anchor="ctr">
                    <a:solidFill>
                      <a:srgbClr val="FFFFFF"/>
                    </a:solidFill>
                  </a:tcPr>
                </a:tc>
              </a:tr>
              <a:tr h="352044">
                <a:tc>
                  <a:txBody>
                    <a:bodyPr wrap="square"/>
                    <a:lstStyle/>
                    <a:p>
                      <a:pPr algn="l"/>
                      <a:r>
                        <a:rPr sz="1250" b="0">
                          <a:solidFill>
                            <a:srgbClr val="14232E"/>
                          </a:solidFill>
                          <a:latin typeface="Calibri"/>
                        </a:rPr>
                        <a:t>lateness, round 1  (ours)</a:t>
                      </a:r>
                    </a:p>
                  </a:txBody>
                  <a:tcPr marL="73152" marR="73152" marT="18288" marB="18288" anchor="ctr">
                    <a:solidFill>
                      <a:srgbClr val="FFFFFF"/>
                    </a:solidFill>
                  </a:tcPr>
                </a:tc>
                <a:tc>
                  <a:txBody>
                    <a:bodyPr wrap="square"/>
                    <a:lstStyle/>
                    <a:p>
                      <a:pPr algn="r"/>
                      <a:r>
                        <a:rPr sz="1250" b="0">
                          <a:solidFill>
                            <a:srgbClr val="14232E"/>
                          </a:solidFill>
                          <a:latin typeface="Calibri"/>
                        </a:rPr>
                        <a:t>1.7</a:t>
                      </a:r>
                    </a:p>
                  </a:txBody>
                  <a:tcPr marL="73152" marR="73152" marT="18288" marB="18288" anchor="ctr">
                    <a:solidFill>
                      <a:srgbClr val="FFFFFF"/>
                    </a:solidFill>
                  </a:tcPr>
                </a:tc>
                <a:tc>
                  <a:txBody>
                    <a:bodyPr wrap="square"/>
                    <a:lstStyle/>
                    <a:p>
                      <a:pPr algn="r"/>
                      <a:r>
                        <a:rPr sz="1250" b="0">
                          <a:solidFill>
                            <a:srgbClr val="14232E"/>
                          </a:solidFill>
                          <a:latin typeface="Calibri"/>
                        </a:rPr>
                        <a:t>0.18</a:t>
                      </a:r>
                    </a:p>
                  </a:txBody>
                  <a:tcPr marL="73152" marR="73152" marT="18288" marB="18288" anchor="ctr">
                    <a:solidFill>
                      <a:srgbClr val="FFFFFF"/>
                    </a:solidFill>
                  </a:tcPr>
                </a:tc>
                <a:tc>
                  <a:txBody>
                    <a:bodyPr wrap="square"/>
                    <a:lstStyle/>
                    <a:p>
                      <a:pPr algn="r"/>
                      <a:r>
                        <a:rPr sz="1250" b="0">
                          <a:solidFill>
                            <a:srgbClr val="14232E"/>
                          </a:solidFill>
                          <a:latin typeface="Calibri"/>
                        </a:rPr>
                        <a:t>8.2</a:t>
                      </a:r>
                    </a:p>
                  </a:txBody>
                  <a:tcPr marL="73152" marR="73152" marT="18288" marB="18288" anchor="ctr">
                    <a:solidFill>
                      <a:srgbClr val="FFFFFF"/>
                    </a:solidFill>
                  </a:tcPr>
                </a:tc>
                <a:tc>
                  <a:txBody>
                    <a:bodyPr wrap="square"/>
                    <a:lstStyle/>
                    <a:p>
                      <a:pPr algn="r"/>
                      <a:r>
                        <a:rPr sz="1250" b="0">
                          <a:solidFill>
                            <a:srgbClr val="14232E"/>
                          </a:solidFill>
                          <a:latin typeface="Calibri"/>
                        </a:rPr>
                        <a:t>7.5</a:t>
                      </a:r>
                    </a:p>
                  </a:txBody>
                  <a:tcPr marL="73152" marR="73152" marT="18288" marB="18288" anchor="ctr">
                    <a:solidFill>
                      <a:srgbClr val="FFFFFF"/>
                    </a:solidFill>
                  </a:tcPr>
                </a:tc>
                <a:tc>
                  <a:txBody>
                    <a:bodyPr wrap="square"/>
                    <a:lstStyle/>
                    <a:p>
                      <a:pPr algn="r"/>
                      <a:r>
                        <a:rPr sz="1250" b="0">
                          <a:solidFill>
                            <a:srgbClr val="14232E"/>
                          </a:solidFill>
                          <a:latin typeface="Calibri"/>
                        </a:rPr>
                        <a:t>26</a:t>
                      </a:r>
                    </a:p>
                  </a:txBody>
                  <a:tcPr marL="73152" marR="73152" marT="18288" marB="18288" anchor="ctr">
                    <a:solidFill>
                      <a:srgbClr val="FFFFFF"/>
                    </a:solidFill>
                  </a:tcPr>
                </a:tc>
                <a:tc>
                  <a:txBody>
                    <a:bodyPr wrap="square"/>
                    <a:lstStyle/>
                    <a:p>
                      <a:pPr algn="r"/>
                      <a:r>
                        <a:rPr sz="1250" b="0">
                          <a:solidFill>
                            <a:srgbClr val="14232E"/>
                          </a:solidFill>
                          <a:latin typeface="Calibri"/>
                        </a:rPr>
                        <a:t>115,592</a:t>
                      </a:r>
                    </a:p>
                  </a:txBody>
                  <a:tcPr marL="73152" marR="73152" marT="18288" marB="18288" anchor="ctr">
                    <a:solidFill>
                      <a:srgbClr val="FFFFFF"/>
                    </a:solidFill>
                  </a:tcPr>
                </a:tc>
                <a:tc>
                  <a:txBody>
                    <a:bodyPr wrap="square"/>
                    <a:lstStyle/>
                    <a:p>
                      <a:pPr algn="r"/>
                      <a:r>
                        <a:rPr sz="1250" b="0">
                          <a:solidFill>
                            <a:srgbClr val="14232E"/>
                          </a:solidFill>
                          <a:latin typeface="Calibri"/>
                        </a:rPr>
                        <a:t>1.9</a:t>
                      </a:r>
                    </a:p>
                  </a:txBody>
                  <a:tcPr marL="73152" marR="73152" marT="18288" marB="18288" anchor="ctr">
                    <a:solidFill>
                      <a:srgbClr val="FFFFFF"/>
                    </a:solidFill>
                  </a:tcPr>
                </a:tc>
              </a:tr>
              <a:tr h="352044">
                <a:tc>
                  <a:txBody>
                    <a:bodyPr wrap="square"/>
                    <a:lstStyle/>
                    <a:p>
                      <a:pPr algn="l"/>
                      <a:r>
                        <a:rPr sz="1250" b="0">
                          <a:solidFill>
                            <a:srgbClr val="14232E"/>
                          </a:solidFill>
                          <a:latin typeface="Calibri"/>
                        </a:rPr>
                        <a:t>hybrid  (ours)</a:t>
                      </a:r>
                    </a:p>
                  </a:txBody>
                  <a:tcPr marL="73152" marR="73152" marT="18288" marB="18288" anchor="ctr">
                    <a:solidFill>
                      <a:srgbClr val="FFFFFF"/>
                    </a:solidFill>
                  </a:tcPr>
                </a:tc>
                <a:tc>
                  <a:txBody>
                    <a:bodyPr wrap="square"/>
                    <a:lstStyle/>
                    <a:p>
                      <a:pPr algn="r"/>
                      <a:r>
                        <a:rPr sz="1250" b="0">
                          <a:solidFill>
                            <a:srgbClr val="14232E"/>
                          </a:solidFill>
                          <a:latin typeface="Calibri"/>
                        </a:rPr>
                        <a:t>4.3</a:t>
                      </a:r>
                    </a:p>
                  </a:txBody>
                  <a:tcPr marL="73152" marR="73152" marT="18288" marB="18288" anchor="ctr">
                    <a:solidFill>
                      <a:srgbClr val="FFFFFF"/>
                    </a:solidFill>
                  </a:tcPr>
                </a:tc>
                <a:tc>
                  <a:txBody>
                    <a:bodyPr wrap="square"/>
                    <a:lstStyle/>
                    <a:p>
                      <a:pPr algn="r"/>
                      <a:r>
                        <a:rPr sz="1250" b="0">
                          <a:solidFill>
                            <a:srgbClr val="14232E"/>
                          </a:solidFill>
                          <a:latin typeface="Calibri"/>
                        </a:rPr>
                        <a:t>0.29</a:t>
                      </a:r>
                    </a:p>
                  </a:txBody>
                  <a:tcPr marL="73152" marR="73152" marT="18288" marB="18288" anchor="ctr">
                    <a:solidFill>
                      <a:srgbClr val="FFFFFF"/>
                    </a:solidFill>
                  </a:tcPr>
                </a:tc>
                <a:tc>
                  <a:txBody>
                    <a:bodyPr wrap="square"/>
                    <a:lstStyle/>
                    <a:p>
                      <a:pPr algn="r"/>
                      <a:r>
                        <a:rPr sz="1250" b="0">
                          <a:solidFill>
                            <a:srgbClr val="14232E"/>
                          </a:solidFill>
                          <a:latin typeface="Calibri"/>
                        </a:rPr>
                        <a:t>10.1</a:t>
                      </a:r>
                    </a:p>
                  </a:txBody>
                  <a:tcPr marL="73152" marR="73152" marT="18288" marB="18288" anchor="ctr">
                    <a:solidFill>
                      <a:srgbClr val="FFFFFF"/>
                    </a:solidFill>
                  </a:tcPr>
                </a:tc>
                <a:tc>
                  <a:txBody>
                    <a:bodyPr wrap="square"/>
                    <a:lstStyle/>
                    <a:p>
                      <a:pPr algn="r"/>
                      <a:r>
                        <a:rPr sz="1250" b="0">
                          <a:solidFill>
                            <a:srgbClr val="14232E"/>
                          </a:solidFill>
                          <a:latin typeface="Calibri"/>
                        </a:rPr>
                        <a:t>6.1</a:t>
                      </a:r>
                    </a:p>
                  </a:txBody>
                  <a:tcPr marL="73152" marR="73152" marT="18288" marB="18288" anchor="ctr">
                    <a:solidFill>
                      <a:srgbClr val="FFFFFF"/>
                    </a:solidFill>
                  </a:tcPr>
                </a:tc>
                <a:tc>
                  <a:txBody>
                    <a:bodyPr wrap="square"/>
                    <a:lstStyle/>
                    <a:p>
                      <a:pPr algn="r"/>
                      <a:r>
                        <a:rPr sz="1250" b="0">
                          <a:solidFill>
                            <a:srgbClr val="14232E"/>
                          </a:solidFill>
                          <a:latin typeface="Calibri"/>
                        </a:rPr>
                        <a:t>29</a:t>
                      </a:r>
                    </a:p>
                  </a:txBody>
                  <a:tcPr marL="73152" marR="73152" marT="18288" marB="18288" anchor="ctr">
                    <a:solidFill>
                      <a:srgbClr val="FFFFFF"/>
                    </a:solidFill>
                  </a:tcPr>
                </a:tc>
                <a:tc>
                  <a:txBody>
                    <a:bodyPr wrap="square"/>
                    <a:lstStyle/>
                    <a:p>
                      <a:pPr algn="r"/>
                      <a:r>
                        <a:rPr sz="1250" b="0">
                          <a:solidFill>
                            <a:srgbClr val="14232E"/>
                          </a:solidFill>
                          <a:latin typeface="Calibri"/>
                        </a:rPr>
                        <a:t>111,238</a:t>
                      </a:r>
                    </a:p>
                  </a:txBody>
                  <a:tcPr marL="73152" marR="73152" marT="18288" marB="18288" anchor="ctr">
                    <a:solidFill>
                      <a:srgbClr val="FFFFFF"/>
                    </a:solidFill>
                  </a:tcPr>
                </a:tc>
                <a:tc>
                  <a:txBody>
                    <a:bodyPr wrap="square"/>
                    <a:lstStyle/>
                    <a:p>
                      <a:pPr algn="r"/>
                      <a:r>
                        <a:rPr sz="1250" b="0">
                          <a:solidFill>
                            <a:srgbClr val="14232E"/>
                          </a:solidFill>
                          <a:latin typeface="Calibri"/>
                        </a:rPr>
                        <a:t>5.5</a:t>
                      </a:r>
                    </a:p>
                  </a:txBody>
                  <a:tcPr marL="73152" marR="73152" marT="18288" marB="18288" anchor="ctr">
                    <a:solidFill>
                      <a:srgbClr val="FFFFFF"/>
                    </a:solidFill>
                  </a:tcPr>
                </a:tc>
              </a:tr>
              <a:tr h="352044">
                <a:tc>
                  <a:txBody>
                    <a:bodyPr wrap="square"/>
                    <a:lstStyle/>
                    <a:p>
                      <a:pPr algn="l"/>
                      <a:r>
                        <a:rPr sz="1250" b="0">
                          <a:solidFill>
                            <a:srgbClr val="14232E"/>
                          </a:solidFill>
                          <a:latin typeface="Calibri"/>
                        </a:rPr>
                        <a:t>defects  (ours)</a:t>
                      </a:r>
                    </a:p>
                  </a:txBody>
                  <a:tcPr marL="73152" marR="73152" marT="18288" marB="18288" anchor="ctr">
                    <a:solidFill>
                      <a:srgbClr val="FFFFFF"/>
                    </a:solidFill>
                  </a:tcPr>
                </a:tc>
                <a:tc>
                  <a:txBody>
                    <a:bodyPr wrap="square"/>
                    <a:lstStyle/>
                    <a:p>
                      <a:pPr algn="r"/>
                      <a:r>
                        <a:rPr sz="1250" b="0">
                          <a:solidFill>
                            <a:srgbClr val="14232E"/>
                          </a:solidFill>
                          <a:latin typeface="Calibri"/>
                        </a:rPr>
                        <a:t>28.7</a:t>
                      </a:r>
                    </a:p>
                  </a:txBody>
                  <a:tcPr marL="73152" marR="73152" marT="18288" marB="18288" anchor="ctr">
                    <a:solidFill>
                      <a:srgbClr val="FFFFFF"/>
                    </a:solidFill>
                  </a:tcPr>
                </a:tc>
                <a:tc>
                  <a:txBody>
                    <a:bodyPr wrap="square"/>
                    <a:lstStyle/>
                    <a:p>
                      <a:pPr algn="r"/>
                      <a:r>
                        <a:rPr sz="1250" b="0">
                          <a:solidFill>
                            <a:srgbClr val="14232E"/>
                          </a:solidFill>
                          <a:latin typeface="Calibri"/>
                        </a:rPr>
                        <a:t>2.23</a:t>
                      </a:r>
                    </a:p>
                  </a:txBody>
                  <a:tcPr marL="73152" marR="73152" marT="18288" marB="18288" anchor="ctr">
                    <a:solidFill>
                      <a:srgbClr val="FFFFFF"/>
                    </a:solidFill>
                  </a:tcPr>
                </a:tc>
                <a:tc>
                  <a:txBody>
                    <a:bodyPr wrap="square"/>
                    <a:lstStyle/>
                    <a:p>
                      <a:pPr algn="r"/>
                      <a:r>
                        <a:rPr sz="1250" b="0">
                          <a:solidFill>
                            <a:srgbClr val="14232E"/>
                          </a:solidFill>
                          <a:latin typeface="Calibri"/>
                        </a:rPr>
                        <a:t>21.1</a:t>
                      </a:r>
                    </a:p>
                  </a:txBody>
                  <a:tcPr marL="73152" marR="73152" marT="18288" marB="18288" anchor="ctr">
                    <a:solidFill>
                      <a:srgbClr val="FFFFFF"/>
                    </a:solidFill>
                  </a:tcPr>
                </a:tc>
                <a:tc>
                  <a:txBody>
                    <a:bodyPr wrap="square"/>
                    <a:lstStyle/>
                    <a:p>
                      <a:pPr algn="r"/>
                      <a:r>
                        <a:rPr sz="1250" b="0">
                          <a:solidFill>
                            <a:srgbClr val="14232E"/>
                          </a:solidFill>
                          <a:latin typeface="Calibri"/>
                        </a:rPr>
                        <a:t>5.1</a:t>
                      </a:r>
                    </a:p>
                  </a:txBody>
                  <a:tcPr marL="73152" marR="73152" marT="18288" marB="18288" anchor="ctr">
                    <a:solidFill>
                      <a:srgbClr val="FFFFFF"/>
                    </a:solidFill>
                  </a:tcPr>
                </a:tc>
                <a:tc>
                  <a:txBody>
                    <a:bodyPr wrap="square"/>
                    <a:lstStyle/>
                    <a:p>
                      <a:pPr algn="r"/>
                      <a:r>
                        <a:rPr sz="1250" b="0">
                          <a:solidFill>
                            <a:srgbClr val="14232E"/>
                          </a:solidFill>
                          <a:latin typeface="Calibri"/>
                        </a:rPr>
                        <a:t>43</a:t>
                      </a:r>
                    </a:p>
                  </a:txBody>
                  <a:tcPr marL="73152" marR="73152" marT="18288" marB="18288" anchor="ctr">
                    <a:solidFill>
                      <a:srgbClr val="FFFFFF"/>
                    </a:solidFill>
                  </a:tcPr>
                </a:tc>
                <a:tc>
                  <a:txBody>
                    <a:bodyPr wrap="square"/>
                    <a:lstStyle/>
                    <a:p>
                      <a:pPr algn="r"/>
                      <a:r>
                        <a:rPr sz="1250" b="0">
                          <a:solidFill>
                            <a:srgbClr val="14232E"/>
                          </a:solidFill>
                          <a:latin typeface="Calibri"/>
                        </a:rPr>
                        <a:t>110,396</a:t>
                      </a:r>
                    </a:p>
                  </a:txBody>
                  <a:tcPr marL="73152" marR="73152" marT="18288" marB="18288" anchor="ctr">
                    <a:solidFill>
                      <a:srgbClr val="FFFFFF"/>
                    </a:solidFill>
                  </a:tcPr>
                </a:tc>
                <a:tc>
                  <a:txBody>
                    <a:bodyPr wrap="square"/>
                    <a:lstStyle/>
                    <a:p>
                      <a:pPr algn="r"/>
                      <a:r>
                        <a:rPr sz="1250" b="0">
                          <a:solidFill>
                            <a:srgbClr val="14232E"/>
                          </a:solidFill>
                          <a:latin typeface="Calibri"/>
                        </a:rPr>
                        <a:t>31.0</a:t>
                      </a:r>
                    </a:p>
                  </a:txBody>
                  <a:tcPr marL="73152" marR="73152" marT="18288" marB="18288" anchor="ctr">
                    <a:solidFill>
                      <a:srgbClr val="FFFFFF"/>
                    </a:solidFill>
                  </a:tcPr>
                </a:tc>
              </a:tr>
              <a:tr h="352044">
                <a:tc>
                  <a:txBody>
                    <a:bodyPr wrap="square"/>
                    <a:lstStyle/>
                    <a:p>
                      <a:pPr algn="l"/>
                      <a:r>
                        <a:rPr sz="1250" b="0">
                          <a:solidFill>
                            <a:srgbClr val="14232E"/>
                          </a:solidFill>
                          <a:latin typeface="Calibri"/>
                        </a:rPr>
                        <a:t>fairness  (ours)</a:t>
                      </a:r>
                    </a:p>
                  </a:txBody>
                  <a:tcPr marL="73152" marR="73152" marT="18288" marB="18288" anchor="ctr">
                    <a:solidFill>
                      <a:srgbClr val="FFFFFF"/>
                    </a:solidFill>
                  </a:tcPr>
                </a:tc>
                <a:tc>
                  <a:txBody>
                    <a:bodyPr wrap="square"/>
                    <a:lstStyle/>
                    <a:p>
                      <a:pPr algn="r"/>
                      <a:r>
                        <a:rPr sz="1250" b="0">
                          <a:solidFill>
                            <a:srgbClr val="14232E"/>
                          </a:solidFill>
                          <a:latin typeface="Calibri"/>
                        </a:rPr>
                        <a:t>6.8</a:t>
                      </a:r>
                    </a:p>
                  </a:txBody>
                  <a:tcPr marL="73152" marR="73152" marT="18288" marB="18288" anchor="ctr">
                    <a:solidFill>
                      <a:srgbClr val="FFFFFF"/>
                    </a:solidFill>
                  </a:tcPr>
                </a:tc>
                <a:tc>
                  <a:txBody>
                    <a:bodyPr wrap="square"/>
                    <a:lstStyle/>
                    <a:p>
                      <a:pPr algn="r"/>
                      <a:r>
                        <a:rPr sz="1250" b="0">
                          <a:solidFill>
                            <a:srgbClr val="14232E"/>
                          </a:solidFill>
                          <a:latin typeface="Calibri"/>
                        </a:rPr>
                        <a:t>0.64</a:t>
                      </a:r>
                    </a:p>
                  </a:txBody>
                  <a:tcPr marL="73152" marR="73152" marT="18288" marB="18288" anchor="ctr">
                    <a:solidFill>
                      <a:srgbClr val="FFFFFF"/>
                    </a:solidFill>
                  </a:tcPr>
                </a:tc>
                <a:tc>
                  <a:txBody>
                    <a:bodyPr wrap="square"/>
                    <a:lstStyle/>
                    <a:p>
                      <a:pPr algn="r"/>
                      <a:r>
                        <a:rPr sz="1250" b="0">
                          <a:solidFill>
                            <a:srgbClr val="14232E"/>
                          </a:solidFill>
                          <a:latin typeface="Calibri"/>
                        </a:rPr>
                        <a:t>12.6</a:t>
                      </a:r>
                    </a:p>
                  </a:txBody>
                  <a:tcPr marL="73152" marR="73152" marT="18288" marB="18288" anchor="ctr">
                    <a:solidFill>
                      <a:srgbClr val="FFFFFF"/>
                    </a:solidFill>
                  </a:tcPr>
                </a:tc>
                <a:tc>
                  <a:txBody>
                    <a:bodyPr wrap="square"/>
                    <a:lstStyle/>
                    <a:p>
                      <a:pPr algn="r"/>
                      <a:r>
                        <a:rPr sz="1250" b="0">
                          <a:solidFill>
                            <a:srgbClr val="14232E"/>
                          </a:solidFill>
                          <a:latin typeface="Calibri"/>
                        </a:rPr>
                        <a:t>7.1</a:t>
                      </a:r>
                    </a:p>
                  </a:txBody>
                  <a:tcPr marL="73152" marR="73152" marT="18288" marB="18288" anchor="ctr">
                    <a:solidFill>
                      <a:srgbClr val="FFFFFF"/>
                    </a:solidFill>
                  </a:tcPr>
                </a:tc>
                <a:tc>
                  <a:txBody>
                    <a:bodyPr wrap="square"/>
                    <a:lstStyle/>
                    <a:p>
                      <a:pPr algn="r"/>
                      <a:r>
                        <a:rPr sz="1250" b="0">
                          <a:solidFill>
                            <a:srgbClr val="14232E"/>
                          </a:solidFill>
                          <a:latin typeface="Calibri"/>
                        </a:rPr>
                        <a:t>20</a:t>
                      </a:r>
                    </a:p>
                  </a:txBody>
                  <a:tcPr marL="73152" marR="73152" marT="18288" marB="18288" anchor="ctr">
                    <a:solidFill>
                      <a:srgbClr val="FFFFFF"/>
                    </a:solidFill>
                  </a:tcPr>
                </a:tc>
                <a:tc>
                  <a:txBody>
                    <a:bodyPr wrap="square"/>
                    <a:lstStyle/>
                    <a:p>
                      <a:pPr algn="r"/>
                      <a:r>
                        <a:rPr sz="1250" b="0">
                          <a:solidFill>
                            <a:srgbClr val="14232E"/>
                          </a:solidFill>
                          <a:latin typeface="Calibri"/>
                        </a:rPr>
                        <a:t>113,088</a:t>
                      </a:r>
                    </a:p>
                  </a:txBody>
                  <a:tcPr marL="73152" marR="73152" marT="18288" marB="18288" anchor="ctr">
                    <a:solidFill>
                      <a:srgbClr val="FFFFFF"/>
                    </a:solidFill>
                  </a:tcPr>
                </a:tc>
                <a:tc>
                  <a:txBody>
                    <a:bodyPr wrap="square"/>
                    <a:lstStyle/>
                    <a:p>
                      <a:pPr algn="r"/>
                      <a:r>
                        <a:rPr sz="1250" b="0">
                          <a:solidFill>
                            <a:srgbClr val="14232E"/>
                          </a:solidFill>
                          <a:latin typeface="Calibri"/>
                        </a:rPr>
                        <a:t>10.1</a:t>
                      </a:r>
                    </a:p>
                  </a:txBody>
                  <a:tcPr marL="73152" marR="73152" marT="18288" marB="18288" anchor="ctr">
                    <a:solidFill>
                      <a:srgbClr val="FFFFFF"/>
                    </a:solidFill>
                  </a:tcPr>
                </a:tc>
              </a:tr>
              <a:tr h="352044">
                <a:tc>
                  <a:txBody>
                    <a:bodyPr wrap="square"/>
                    <a:lstStyle/>
                    <a:p>
                      <a:pPr algn="l"/>
                      <a:r>
                        <a:rPr sz="1250" b="0">
                          <a:solidFill>
                            <a:srgbClr val="14232E"/>
                          </a:solidFill>
                          <a:latin typeface="Calibri"/>
                        </a:rPr>
                        <a:t>cost  (ours)</a:t>
                      </a:r>
                    </a:p>
                  </a:txBody>
                  <a:tcPr marL="73152" marR="73152" marT="18288" marB="18288" anchor="ctr">
                    <a:solidFill>
                      <a:srgbClr val="FFFFFF"/>
                    </a:solidFill>
                  </a:tcPr>
                </a:tc>
                <a:tc>
                  <a:txBody>
                    <a:bodyPr wrap="square"/>
                    <a:lstStyle/>
                    <a:p>
                      <a:pPr algn="r"/>
                      <a:r>
                        <a:rPr sz="1250" b="0">
                          <a:solidFill>
                            <a:srgbClr val="14232E"/>
                          </a:solidFill>
                          <a:latin typeface="Calibri"/>
                        </a:rPr>
                        <a:t>4.4</a:t>
                      </a:r>
                    </a:p>
                  </a:txBody>
                  <a:tcPr marL="73152" marR="73152" marT="18288" marB="18288" anchor="ctr">
                    <a:solidFill>
                      <a:srgbClr val="FFFFFF"/>
                    </a:solidFill>
                  </a:tcPr>
                </a:tc>
                <a:tc>
                  <a:txBody>
                    <a:bodyPr wrap="square"/>
                    <a:lstStyle/>
                    <a:p>
                      <a:pPr algn="r"/>
                      <a:r>
                        <a:rPr sz="1250" b="0">
                          <a:solidFill>
                            <a:srgbClr val="14232E"/>
                          </a:solidFill>
                          <a:latin typeface="Calibri"/>
                        </a:rPr>
                        <a:t>0.24</a:t>
                      </a:r>
                    </a:p>
                  </a:txBody>
                  <a:tcPr marL="73152" marR="73152" marT="18288" marB="18288" anchor="ctr">
                    <a:solidFill>
                      <a:srgbClr val="FFFFFF"/>
                    </a:solidFill>
                  </a:tcPr>
                </a:tc>
                <a:tc>
                  <a:txBody>
                    <a:bodyPr wrap="square"/>
                    <a:lstStyle/>
                    <a:p>
                      <a:pPr algn="r"/>
                      <a:r>
                        <a:rPr sz="1250" b="0">
                          <a:solidFill>
                            <a:srgbClr val="14232E"/>
                          </a:solidFill>
                          <a:latin typeface="Calibri"/>
                        </a:rPr>
                        <a:t>17.2</a:t>
                      </a:r>
                    </a:p>
                  </a:txBody>
                  <a:tcPr marL="73152" marR="73152" marT="18288" marB="18288" anchor="ctr">
                    <a:solidFill>
                      <a:srgbClr val="FFFFFF"/>
                    </a:solidFill>
                  </a:tcPr>
                </a:tc>
                <a:tc>
                  <a:txBody>
                    <a:bodyPr wrap="square"/>
                    <a:lstStyle/>
                    <a:p>
                      <a:pPr algn="r"/>
                      <a:r>
                        <a:rPr sz="1250" b="0">
                          <a:solidFill>
                            <a:srgbClr val="14232E"/>
                          </a:solidFill>
                          <a:latin typeface="Calibri"/>
                        </a:rPr>
                        <a:t>5.7</a:t>
                      </a:r>
                    </a:p>
                  </a:txBody>
                  <a:tcPr marL="73152" marR="73152" marT="18288" marB="18288" anchor="ctr">
                    <a:solidFill>
                      <a:srgbClr val="FFFFFF"/>
                    </a:solidFill>
                  </a:tcPr>
                </a:tc>
                <a:tc>
                  <a:txBody>
                    <a:bodyPr wrap="square"/>
                    <a:lstStyle/>
                    <a:p>
                      <a:pPr algn="r"/>
                      <a:r>
                        <a:rPr sz="1250" b="0">
                          <a:solidFill>
                            <a:srgbClr val="14232E"/>
                          </a:solidFill>
                          <a:latin typeface="Calibri"/>
                        </a:rPr>
                        <a:t>38</a:t>
                      </a:r>
                    </a:p>
                  </a:txBody>
                  <a:tcPr marL="73152" marR="73152" marT="18288" marB="18288" anchor="ctr">
                    <a:solidFill>
                      <a:srgbClr val="FFFFFF"/>
                    </a:solidFill>
                  </a:tcPr>
                </a:tc>
                <a:tc>
                  <a:txBody>
                    <a:bodyPr wrap="square"/>
                    <a:lstStyle/>
                    <a:p>
                      <a:pPr algn="r"/>
                      <a:r>
                        <a:rPr sz="1250" b="0">
                          <a:solidFill>
                            <a:srgbClr val="14232E"/>
                          </a:solidFill>
                          <a:latin typeface="Calibri"/>
                        </a:rPr>
                        <a:t>100,931</a:t>
                      </a:r>
                    </a:p>
                  </a:txBody>
                  <a:tcPr marL="73152" marR="73152" marT="18288" marB="18288" anchor="ctr">
                    <a:solidFill>
                      <a:srgbClr val="FFFFFF"/>
                    </a:solidFill>
                  </a:tcPr>
                </a:tc>
                <a:tc>
                  <a:txBody>
                    <a:bodyPr wrap="square"/>
                    <a:lstStyle/>
                    <a:p>
                      <a:pPr algn="r"/>
                      <a:r>
                        <a:rPr sz="1250" b="0">
                          <a:solidFill>
                            <a:srgbClr val="14232E"/>
                          </a:solidFill>
                          <a:latin typeface="Calibri"/>
                        </a:rPr>
                        <a:t>5.2</a:t>
                      </a:r>
                    </a:p>
                  </a:txBody>
                  <a:tcPr marL="73152" marR="73152" marT="18288" marB="18288" anchor="ctr">
                    <a:solidFill>
                      <a:srgbClr val="FFFFFF"/>
                    </a:solidFill>
                  </a:tcPr>
                </a:tc>
              </a:tr>
            </a:tbl>
          </a:graphicData>
        </a:graphic>
      </p:graphicFrame>
      <p:sp>
        <p:nvSpPr>
          <p:cNvPr id="7" name="Note"/>
          <p:cNvSpPr txBox="1"/>
          <p:nvPr/>
        </p:nvSpPr>
        <p:spPr>
          <a:xfrm>
            <a:off x="548640" y="6035040"/>
            <a:ext cx="11064240" cy="365760"/>
          </a:xfrm>
          <a:prstGeom prst="rect">
            <a:avLst/>
          </a:prstGeom>
          <a:noFill/>
        </p:spPr>
        <p:txBody>
          <a:bodyPr wrap="square" lIns="0" rIns="0" tIns="0" bIns="0" anchor="t">
            <a:noAutofit/>
          </a:bodyPr>
          <a:lstStyle/>
          <a:p>
            <a:pPr algn="l">
              <a:lnSpc>
                <a:spcPct val="100000"/>
              </a:lnSpc>
              <a:spcBef>
                <a:spcPts val="0"/>
              </a:spcBef>
              <a:spcAft>
                <a:spcPts val="0"/>
              </a:spcAft>
            </a:pPr>
            <a:r>
              <a:rPr sz="1050" b="0" i="0">
                <a:solidFill>
                  <a:srgbClr val="52606B"/>
                </a:solidFill>
                <a:latin typeface="Calibri"/>
              </a:rPr>
              <a:t>simulate.py v3, commit 1c6cb61. use_slack is late less often and costs less, but takes 14 days on average. Single-seed defect draws move defective pcs by about ±2 points.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94415" cy="1188720"/>
          </a:xfrm>
          <a:prstGeom prst="rect">
            <a:avLst/>
          </a:prstGeom>
          <a:noFill/>
        </p:spPr>
        <p:txBody>
          <a:bodyPr wrap="square" lIns="0" rIns="0" tIns="0" bIns="0" anchor="t">
            <a:noAutofit/>
          </a:bodyPr>
          <a:lstStyle/>
          <a:p>
            <a:pPr algn="l">
              <a:lnSpc>
                <a:spcPct val="98000"/>
              </a:lnSpc>
              <a:spcBef>
                <a:spcPts val="0"/>
              </a:spcBef>
              <a:spcAft>
                <a:spcPts val="0"/>
              </a:spcAft>
            </a:pPr>
            <a:r>
              <a:rPr sz="3400" b="1" i="0">
                <a:solidFill>
                  <a:srgbClr val="14232E"/>
                </a:solidFill>
                <a:latin typeface="Cambria"/>
              </a:rPr>
              <a:t>Appendix B · How the desk sorted the 30 messages</a:t>
            </a:r>
          </a:p>
        </p:txBody>
      </p:sp>
      <p:sp>
        <p:nvSpPr>
          <p:cNvPr id="3" name="Footer"/>
          <p:cNvSpPr txBox="1"/>
          <p:nvPr/>
        </p:nvSpPr>
        <p:spPr>
          <a:xfrm>
            <a:off x="548640" y="6446520"/>
            <a:ext cx="82296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2606B"/>
                </a:solidFill>
                <a:latin typeface="Calibri"/>
              </a:rPr>
              <a:t>DSS5105 Capstone  ·  Track 2  ·  Subcontracting Desk  ·  Sprint 1</a:t>
            </a:r>
          </a:p>
        </p:txBody>
      </p:sp>
      <p:sp>
        <p:nvSpPr>
          <p:cNvPr id="4" name="Slide number"/>
          <p:cNvSpPr txBox="1"/>
          <p:nvPr/>
        </p:nvSpPr>
        <p:spPr>
          <a:xfrm>
            <a:off x="10728655" y="6446520"/>
            <a:ext cx="9144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2606B"/>
                </a:solidFill>
                <a:latin typeface="Calibri"/>
              </a:rPr>
              <a:t>8</a:t>
            </a:r>
          </a:p>
        </p:txBody>
      </p:sp>
      <p:sp>
        <p:nvSpPr>
          <p:cNvPr id="5" name="Backup tag"/>
          <p:cNvSpPr txBox="1"/>
          <p:nvPr/>
        </p:nvSpPr>
        <p:spPr>
          <a:xfrm>
            <a:off x="10180015" y="146304"/>
            <a:ext cx="1463040" cy="237744"/>
          </a:xfrm>
          <a:prstGeom prst="rect">
            <a:avLst/>
          </a:prstGeom>
          <a:noFill/>
        </p:spPr>
        <p:txBody>
          <a:bodyPr wrap="square" lIns="0" rIns="0" tIns="0" bIns="0" anchor="t">
            <a:noAutofit/>
          </a:bodyPr>
          <a:lstStyle/>
          <a:p>
            <a:pPr algn="r">
              <a:lnSpc>
                <a:spcPct val="100000"/>
              </a:lnSpc>
              <a:spcBef>
                <a:spcPts val="0"/>
              </a:spcBef>
              <a:spcAft>
                <a:spcPts val="0"/>
              </a:spcAft>
            </a:pPr>
            <a:r>
              <a:rPr sz="1050" b="1" i="0">
                <a:solidFill>
                  <a:srgbClr val="52606B"/>
                </a:solidFill>
                <a:latin typeface="Calibri"/>
              </a:rPr>
              <a:t>BACKUP SLIDE</a:t>
            </a:r>
          </a:p>
        </p:txBody>
      </p:sp>
      <p:sp>
        <p:nvSpPr>
          <p:cNvPr id="6" name="R01"/>
          <p:cNvSpPr/>
          <p:nvPr/>
        </p:nvSpPr>
        <p:spPr>
          <a:xfrm>
            <a:off x="548640" y="1783080"/>
            <a:ext cx="1773936" cy="658368"/>
          </a:xfrm>
          <a:prstGeom prst="roundRect">
            <a:avLst>
              <a:gd name="adj" fmla="val 11111"/>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14232E"/>
                </a:solidFill>
                <a:latin typeface="Calibri"/>
              </a:rPr>
              <a:t>R01</a:t>
            </a:r>
            <a:r>
              <a:rPr sz="1400" b="0" i="0">
                <a:solidFill>
                  <a:srgbClr val="14232E"/>
                </a:solidFill>
                <a:latin typeface="Calibri"/>
              </a:rPr>
              <a:t/>
            </a:r>
          </a:p>
          <a:p>
            <a:pPr algn="l">
              <a:lnSpc>
                <a:spcPct val="100000"/>
              </a:lnSpc>
              <a:spcBef>
                <a:spcPts val="0"/>
              </a:spcBef>
              <a:spcAft>
                <a:spcPts val="0"/>
              </a:spcAft>
            </a:pPr>
            <a:r>
              <a:rPr sz="1200" b="0" i="0">
                <a:solidFill>
                  <a:srgbClr val="14232E"/>
                </a:solidFill>
                <a:latin typeface="Calibri"/>
              </a:rPr>
              <a:t>ask: missing info</a:t>
            </a:r>
          </a:p>
        </p:txBody>
      </p:sp>
      <p:sp>
        <p:nvSpPr>
          <p:cNvPr id="7" name="R02"/>
          <p:cNvSpPr/>
          <p:nvPr/>
        </p:nvSpPr>
        <p:spPr>
          <a:xfrm>
            <a:off x="2404872" y="1783080"/>
            <a:ext cx="1773936" cy="658368"/>
          </a:xfrm>
          <a:prstGeom prst="roundRect">
            <a:avLst>
              <a:gd name="adj" fmla="val 11111"/>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FFFFFF"/>
                </a:solidFill>
                <a:latin typeface="Calibri"/>
              </a:rPr>
              <a:t>R02</a:t>
            </a:r>
            <a:r>
              <a:rPr sz="1400" b="0" i="0">
                <a:solidFill>
                  <a:srgbClr val="FFFFFF"/>
                </a:solidFill>
                <a:latin typeface="Calibri"/>
              </a:rPr>
              <a:t/>
            </a:r>
          </a:p>
          <a:p>
            <a:pPr algn="l">
              <a:lnSpc>
                <a:spcPct val="100000"/>
              </a:lnSpc>
              <a:spcBef>
                <a:spcPts val="0"/>
              </a:spcBef>
              <a:spcAft>
                <a:spcPts val="0"/>
              </a:spcAft>
            </a:pPr>
            <a:r>
              <a:rPr sz="1200" b="0" i="0">
                <a:solidFill>
                  <a:srgbClr val="FFFFFF"/>
                </a:solidFill>
                <a:latin typeface="Calibri"/>
              </a:rPr>
              <a:t>can't answer</a:t>
            </a:r>
          </a:p>
        </p:txBody>
      </p:sp>
      <p:sp>
        <p:nvSpPr>
          <p:cNvPr id="8" name="R03"/>
          <p:cNvSpPr/>
          <p:nvPr/>
        </p:nvSpPr>
        <p:spPr>
          <a:xfrm>
            <a:off x="4261103" y="1783080"/>
            <a:ext cx="1773936" cy="658368"/>
          </a:xfrm>
          <a:prstGeom prst="roundRect">
            <a:avLst>
              <a:gd name="adj" fmla="val 11111"/>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14232E"/>
                </a:solidFill>
                <a:latin typeface="Calibri"/>
              </a:rPr>
              <a:t>R03</a:t>
            </a:r>
            <a:r>
              <a:rPr sz="1400" b="0" i="0">
                <a:solidFill>
                  <a:srgbClr val="14232E"/>
                </a:solidFill>
                <a:latin typeface="Calibri"/>
              </a:rPr>
              <a:t/>
            </a:r>
          </a:p>
          <a:p>
            <a:pPr algn="l">
              <a:lnSpc>
                <a:spcPct val="100000"/>
              </a:lnSpc>
              <a:spcBef>
                <a:spcPts val="0"/>
              </a:spcBef>
              <a:spcAft>
                <a:spcPts val="0"/>
              </a:spcAft>
            </a:pPr>
            <a:r>
              <a:rPr sz="1200" b="0" i="0">
                <a:solidFill>
                  <a:srgbClr val="14232E"/>
                </a:solidFill>
                <a:latin typeface="Calibri"/>
              </a:rPr>
              <a:t>ask: which order</a:t>
            </a:r>
          </a:p>
        </p:txBody>
      </p:sp>
      <p:sp>
        <p:nvSpPr>
          <p:cNvPr id="9" name="R04"/>
          <p:cNvSpPr/>
          <p:nvPr/>
        </p:nvSpPr>
        <p:spPr>
          <a:xfrm>
            <a:off x="6117336" y="1783080"/>
            <a:ext cx="1773936" cy="658368"/>
          </a:xfrm>
          <a:prstGeom prst="roundRect">
            <a:avLst>
              <a:gd name="adj" fmla="val 11111"/>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FFFFFF"/>
                </a:solidFill>
                <a:latin typeface="Calibri"/>
              </a:rPr>
              <a:t>R04</a:t>
            </a:r>
            <a:r>
              <a:rPr sz="1400" b="0" i="0">
                <a:solidFill>
                  <a:srgbClr val="FFFFFF"/>
                </a:solidFill>
                <a:latin typeface="Calibri"/>
              </a:rPr>
              <a:t> ★</a:t>
            </a:r>
          </a:p>
          <a:p>
            <a:pPr algn="l">
              <a:lnSpc>
                <a:spcPct val="100000"/>
              </a:lnSpc>
              <a:spcBef>
                <a:spcPts val="0"/>
              </a:spcBef>
              <a:spcAft>
                <a:spcPts val="0"/>
              </a:spcAft>
            </a:pPr>
            <a:r>
              <a:rPr sz="1200" b="0" i="0">
                <a:solidFill>
                  <a:srgbClr val="FFFFFF"/>
                </a:solidFill>
                <a:latin typeface="Calibri"/>
              </a:rPr>
              <a:t>allocate</a:t>
            </a:r>
          </a:p>
        </p:txBody>
      </p:sp>
      <p:sp>
        <p:nvSpPr>
          <p:cNvPr id="10" name="R05"/>
          <p:cNvSpPr/>
          <p:nvPr/>
        </p:nvSpPr>
        <p:spPr>
          <a:xfrm>
            <a:off x="7973567" y="1783080"/>
            <a:ext cx="1773936" cy="658368"/>
          </a:xfrm>
          <a:prstGeom prst="roundRect">
            <a:avLst>
              <a:gd name="adj" fmla="val 11111"/>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14232E"/>
                </a:solidFill>
                <a:latin typeface="Calibri"/>
              </a:rPr>
              <a:t>R05</a:t>
            </a:r>
            <a:r>
              <a:rPr sz="1400" b="0" i="0">
                <a:solidFill>
                  <a:srgbClr val="14232E"/>
                </a:solidFill>
                <a:latin typeface="Calibri"/>
              </a:rPr>
              <a:t/>
            </a:r>
          </a:p>
          <a:p>
            <a:pPr algn="l">
              <a:lnSpc>
                <a:spcPct val="100000"/>
              </a:lnSpc>
              <a:spcBef>
                <a:spcPts val="0"/>
              </a:spcBef>
              <a:spcAft>
                <a:spcPts val="0"/>
              </a:spcAft>
            </a:pPr>
            <a:r>
              <a:rPr sz="1200" b="0" i="0">
                <a:solidFill>
                  <a:srgbClr val="14232E"/>
                </a:solidFill>
                <a:latin typeface="Calibri"/>
              </a:rPr>
              <a:t>ask: missing info</a:t>
            </a:r>
          </a:p>
        </p:txBody>
      </p:sp>
      <p:sp>
        <p:nvSpPr>
          <p:cNvPr id="11" name="R06"/>
          <p:cNvSpPr/>
          <p:nvPr/>
        </p:nvSpPr>
        <p:spPr>
          <a:xfrm>
            <a:off x="9829799" y="1783080"/>
            <a:ext cx="1773936" cy="658368"/>
          </a:xfrm>
          <a:prstGeom prst="roundRect">
            <a:avLst>
              <a:gd name="adj" fmla="val 11111"/>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FFFFFF"/>
                </a:solidFill>
                <a:latin typeface="Calibri"/>
              </a:rPr>
              <a:t>R06</a:t>
            </a:r>
            <a:r>
              <a:rPr sz="1400" b="0" i="0">
                <a:solidFill>
                  <a:srgbClr val="FFFFFF"/>
                </a:solidFill>
                <a:latin typeface="Calibri"/>
              </a:rPr>
              <a:t> ★</a:t>
            </a:r>
          </a:p>
          <a:p>
            <a:pPr algn="l">
              <a:lnSpc>
                <a:spcPct val="100000"/>
              </a:lnSpc>
              <a:spcBef>
                <a:spcPts val="0"/>
              </a:spcBef>
              <a:spcAft>
                <a:spcPts val="0"/>
              </a:spcAft>
            </a:pPr>
            <a:r>
              <a:rPr sz="1200" b="0" i="0">
                <a:solidFill>
                  <a:srgbClr val="FFFFFF"/>
                </a:solidFill>
                <a:latin typeface="Calibri"/>
              </a:rPr>
              <a:t>allocate</a:t>
            </a:r>
          </a:p>
        </p:txBody>
      </p:sp>
      <p:sp>
        <p:nvSpPr>
          <p:cNvPr id="12" name="R07"/>
          <p:cNvSpPr/>
          <p:nvPr/>
        </p:nvSpPr>
        <p:spPr>
          <a:xfrm>
            <a:off x="548640" y="2523744"/>
            <a:ext cx="1773936" cy="658368"/>
          </a:xfrm>
          <a:prstGeom prst="roundRect">
            <a:avLst>
              <a:gd name="adj" fmla="val 11111"/>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FFFFFF"/>
                </a:solidFill>
                <a:latin typeface="Calibri"/>
              </a:rPr>
              <a:t>R07</a:t>
            </a:r>
            <a:r>
              <a:rPr sz="1400" b="0" i="0">
                <a:solidFill>
                  <a:srgbClr val="FFFFFF"/>
                </a:solidFill>
                <a:latin typeface="Calibri"/>
              </a:rPr>
              <a:t> ★</a:t>
            </a:r>
          </a:p>
          <a:p>
            <a:pPr algn="l">
              <a:lnSpc>
                <a:spcPct val="100000"/>
              </a:lnSpc>
              <a:spcBef>
                <a:spcPts val="0"/>
              </a:spcBef>
              <a:spcAft>
                <a:spcPts val="0"/>
              </a:spcAft>
            </a:pPr>
            <a:r>
              <a:rPr sz="1200" b="0" i="0">
                <a:solidFill>
                  <a:srgbClr val="FFFFFF"/>
                </a:solidFill>
                <a:latin typeface="Calibri"/>
              </a:rPr>
              <a:t>allocate</a:t>
            </a:r>
          </a:p>
        </p:txBody>
      </p:sp>
      <p:sp>
        <p:nvSpPr>
          <p:cNvPr id="13" name="R08"/>
          <p:cNvSpPr/>
          <p:nvPr/>
        </p:nvSpPr>
        <p:spPr>
          <a:xfrm>
            <a:off x="2404872" y="2523744"/>
            <a:ext cx="1773936" cy="658368"/>
          </a:xfrm>
          <a:prstGeom prst="roundRect">
            <a:avLst>
              <a:gd name="adj" fmla="val 11111"/>
            </a:avLst>
          </a:prstGeom>
          <a:solidFill>
            <a:srgbClr val="E87B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14232E"/>
                </a:solidFill>
                <a:latin typeface="Calibri"/>
              </a:rPr>
              <a:t>R08</a:t>
            </a:r>
            <a:r>
              <a:rPr sz="1400" b="0" i="0">
                <a:solidFill>
                  <a:srgbClr val="14232E"/>
                </a:solidFill>
                <a:latin typeface="Calibri"/>
              </a:rPr>
              <a:t/>
            </a:r>
          </a:p>
          <a:p>
            <a:pPr algn="l">
              <a:lnSpc>
                <a:spcPct val="100000"/>
              </a:lnSpc>
              <a:spcBef>
                <a:spcPts val="0"/>
              </a:spcBef>
              <a:spcAft>
                <a:spcPts val="0"/>
              </a:spcAft>
            </a:pPr>
            <a:r>
              <a:rPr sz="1200" b="0" i="0">
                <a:solidFill>
                  <a:srgbClr val="14232E"/>
                </a:solidFill>
                <a:latin typeface="Calibri"/>
              </a:rPr>
              <a:t>refuse</a:t>
            </a:r>
          </a:p>
        </p:txBody>
      </p:sp>
      <p:sp>
        <p:nvSpPr>
          <p:cNvPr id="14" name="R09"/>
          <p:cNvSpPr/>
          <p:nvPr/>
        </p:nvSpPr>
        <p:spPr>
          <a:xfrm>
            <a:off x="4261103" y="2523744"/>
            <a:ext cx="1773936" cy="658368"/>
          </a:xfrm>
          <a:prstGeom prst="roundRect">
            <a:avLst>
              <a:gd name="adj" fmla="val 11111"/>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FFFFFF"/>
                </a:solidFill>
                <a:latin typeface="Calibri"/>
              </a:rPr>
              <a:t>R09</a:t>
            </a:r>
            <a:r>
              <a:rPr sz="1400" b="0" i="0">
                <a:solidFill>
                  <a:srgbClr val="FFFFFF"/>
                </a:solidFill>
                <a:latin typeface="Calibri"/>
              </a:rPr>
              <a:t/>
            </a:r>
          </a:p>
          <a:p>
            <a:pPr algn="l">
              <a:lnSpc>
                <a:spcPct val="100000"/>
              </a:lnSpc>
              <a:spcBef>
                <a:spcPts val="0"/>
              </a:spcBef>
              <a:spcAft>
                <a:spcPts val="0"/>
              </a:spcAft>
            </a:pPr>
            <a:r>
              <a:rPr sz="1200" b="0" i="0">
                <a:solidFill>
                  <a:srgbClr val="FFFFFF"/>
                </a:solidFill>
                <a:latin typeface="Calibri"/>
              </a:rPr>
              <a:t>allocate</a:t>
            </a:r>
          </a:p>
        </p:txBody>
      </p:sp>
      <p:sp>
        <p:nvSpPr>
          <p:cNvPr id="15" name="R10"/>
          <p:cNvSpPr/>
          <p:nvPr/>
        </p:nvSpPr>
        <p:spPr>
          <a:xfrm>
            <a:off x="6117336" y="2523744"/>
            <a:ext cx="1773936" cy="658368"/>
          </a:xfrm>
          <a:prstGeom prst="roundRect">
            <a:avLst>
              <a:gd name="adj" fmla="val 11111"/>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14232E"/>
                </a:solidFill>
                <a:latin typeface="Calibri"/>
              </a:rPr>
              <a:t>R10</a:t>
            </a:r>
            <a:r>
              <a:rPr sz="1400" b="0" i="0">
                <a:solidFill>
                  <a:srgbClr val="14232E"/>
                </a:solidFill>
                <a:latin typeface="Calibri"/>
              </a:rPr>
              <a:t/>
            </a:r>
          </a:p>
          <a:p>
            <a:pPr algn="l">
              <a:lnSpc>
                <a:spcPct val="100000"/>
              </a:lnSpc>
              <a:spcBef>
                <a:spcPts val="0"/>
              </a:spcBef>
              <a:spcAft>
                <a:spcPts val="0"/>
              </a:spcAft>
            </a:pPr>
            <a:r>
              <a:rPr sz="1200" b="0" i="0">
                <a:solidFill>
                  <a:srgbClr val="14232E"/>
                </a:solidFill>
                <a:latin typeface="Calibri"/>
              </a:rPr>
              <a:t>ask: missing info</a:t>
            </a:r>
          </a:p>
        </p:txBody>
      </p:sp>
      <p:sp>
        <p:nvSpPr>
          <p:cNvPr id="16" name="R11"/>
          <p:cNvSpPr/>
          <p:nvPr/>
        </p:nvSpPr>
        <p:spPr>
          <a:xfrm>
            <a:off x="7973567" y="2523744"/>
            <a:ext cx="1773936" cy="658368"/>
          </a:xfrm>
          <a:prstGeom prst="roundRect">
            <a:avLst>
              <a:gd name="adj" fmla="val 11111"/>
            </a:avLst>
          </a:prstGeom>
          <a:solidFill>
            <a:srgbClr val="E87B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14232E"/>
                </a:solidFill>
                <a:latin typeface="Calibri"/>
              </a:rPr>
              <a:t>R11</a:t>
            </a:r>
            <a:r>
              <a:rPr sz="1400" b="0" i="0">
                <a:solidFill>
                  <a:srgbClr val="14232E"/>
                </a:solidFill>
                <a:latin typeface="Calibri"/>
              </a:rPr>
              <a:t/>
            </a:r>
          </a:p>
          <a:p>
            <a:pPr algn="l">
              <a:lnSpc>
                <a:spcPct val="100000"/>
              </a:lnSpc>
              <a:spcBef>
                <a:spcPts val="0"/>
              </a:spcBef>
              <a:spcAft>
                <a:spcPts val="0"/>
              </a:spcAft>
            </a:pPr>
            <a:r>
              <a:rPr sz="1200" b="0" i="0">
                <a:solidFill>
                  <a:srgbClr val="14232E"/>
                </a:solidFill>
                <a:latin typeface="Calibri"/>
              </a:rPr>
              <a:t>refuse</a:t>
            </a:r>
          </a:p>
        </p:txBody>
      </p:sp>
      <p:sp>
        <p:nvSpPr>
          <p:cNvPr id="17" name="R12"/>
          <p:cNvSpPr/>
          <p:nvPr/>
        </p:nvSpPr>
        <p:spPr>
          <a:xfrm>
            <a:off x="9829799" y="2523744"/>
            <a:ext cx="1773936" cy="658368"/>
          </a:xfrm>
          <a:prstGeom prst="roundRect">
            <a:avLst>
              <a:gd name="adj" fmla="val 11111"/>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FFFFFF"/>
                </a:solidFill>
                <a:latin typeface="Calibri"/>
              </a:rPr>
              <a:t>R12</a:t>
            </a:r>
            <a:r>
              <a:rPr sz="1400" b="0" i="0">
                <a:solidFill>
                  <a:srgbClr val="FFFFFF"/>
                </a:solidFill>
                <a:latin typeface="Calibri"/>
              </a:rPr>
              <a:t/>
            </a:r>
          </a:p>
          <a:p>
            <a:pPr algn="l">
              <a:lnSpc>
                <a:spcPct val="100000"/>
              </a:lnSpc>
              <a:spcBef>
                <a:spcPts val="0"/>
              </a:spcBef>
              <a:spcAft>
                <a:spcPts val="0"/>
              </a:spcAft>
            </a:pPr>
            <a:r>
              <a:rPr sz="1200" b="0" i="0">
                <a:solidFill>
                  <a:srgbClr val="FFFFFF"/>
                </a:solidFill>
                <a:latin typeface="Calibri"/>
              </a:rPr>
              <a:t>allocate</a:t>
            </a:r>
          </a:p>
        </p:txBody>
      </p:sp>
      <p:sp>
        <p:nvSpPr>
          <p:cNvPr id="18" name="R13"/>
          <p:cNvSpPr/>
          <p:nvPr/>
        </p:nvSpPr>
        <p:spPr>
          <a:xfrm>
            <a:off x="548640" y="3264408"/>
            <a:ext cx="1773936" cy="658368"/>
          </a:xfrm>
          <a:prstGeom prst="roundRect">
            <a:avLst>
              <a:gd name="adj" fmla="val 11111"/>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FFFFFF"/>
                </a:solidFill>
                <a:latin typeface="Calibri"/>
              </a:rPr>
              <a:t>R13</a:t>
            </a:r>
            <a:r>
              <a:rPr sz="1400" b="0" i="0">
                <a:solidFill>
                  <a:srgbClr val="FFFFFF"/>
                </a:solidFill>
                <a:latin typeface="Calibri"/>
              </a:rPr>
              <a:t/>
            </a:r>
          </a:p>
          <a:p>
            <a:pPr algn="l">
              <a:lnSpc>
                <a:spcPct val="100000"/>
              </a:lnSpc>
              <a:spcBef>
                <a:spcPts val="0"/>
              </a:spcBef>
              <a:spcAft>
                <a:spcPts val="0"/>
              </a:spcAft>
            </a:pPr>
            <a:r>
              <a:rPr sz="1200" b="0" i="0">
                <a:solidFill>
                  <a:srgbClr val="FFFFFF"/>
                </a:solidFill>
                <a:latin typeface="Calibri"/>
              </a:rPr>
              <a:t>can't answer</a:t>
            </a:r>
          </a:p>
        </p:txBody>
      </p:sp>
      <p:sp>
        <p:nvSpPr>
          <p:cNvPr id="19" name="R14"/>
          <p:cNvSpPr/>
          <p:nvPr/>
        </p:nvSpPr>
        <p:spPr>
          <a:xfrm>
            <a:off x="2404872" y="3264408"/>
            <a:ext cx="1773936" cy="658368"/>
          </a:xfrm>
          <a:prstGeom prst="roundRect">
            <a:avLst>
              <a:gd name="adj" fmla="val 11111"/>
            </a:avLst>
          </a:prstGeom>
          <a:solidFill>
            <a:srgbClr val="E87B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14232E"/>
                </a:solidFill>
                <a:latin typeface="Calibri"/>
              </a:rPr>
              <a:t>R14</a:t>
            </a:r>
            <a:r>
              <a:rPr sz="1400" b="0" i="0">
                <a:solidFill>
                  <a:srgbClr val="14232E"/>
                </a:solidFill>
                <a:latin typeface="Calibri"/>
              </a:rPr>
              <a:t/>
            </a:r>
          </a:p>
          <a:p>
            <a:pPr algn="l">
              <a:lnSpc>
                <a:spcPct val="100000"/>
              </a:lnSpc>
              <a:spcBef>
                <a:spcPts val="0"/>
              </a:spcBef>
              <a:spcAft>
                <a:spcPts val="0"/>
              </a:spcAft>
            </a:pPr>
            <a:r>
              <a:rPr sz="1200" b="0" i="0">
                <a:solidFill>
                  <a:srgbClr val="14232E"/>
                </a:solidFill>
                <a:latin typeface="Calibri"/>
              </a:rPr>
              <a:t>refuse</a:t>
            </a:r>
          </a:p>
        </p:txBody>
      </p:sp>
      <p:sp>
        <p:nvSpPr>
          <p:cNvPr id="20" name="R15"/>
          <p:cNvSpPr/>
          <p:nvPr/>
        </p:nvSpPr>
        <p:spPr>
          <a:xfrm>
            <a:off x="4261103" y="3264408"/>
            <a:ext cx="1773936" cy="658368"/>
          </a:xfrm>
          <a:prstGeom prst="roundRect">
            <a:avLst>
              <a:gd name="adj" fmla="val 11111"/>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14232E"/>
                </a:solidFill>
                <a:latin typeface="Calibri"/>
              </a:rPr>
              <a:t>R15</a:t>
            </a:r>
            <a:r>
              <a:rPr sz="1400" b="0" i="0">
                <a:solidFill>
                  <a:srgbClr val="14232E"/>
                </a:solidFill>
                <a:latin typeface="Calibri"/>
              </a:rPr>
              <a:t/>
            </a:r>
          </a:p>
          <a:p>
            <a:pPr algn="l">
              <a:lnSpc>
                <a:spcPct val="100000"/>
              </a:lnSpc>
              <a:spcBef>
                <a:spcPts val="0"/>
              </a:spcBef>
              <a:spcAft>
                <a:spcPts val="0"/>
              </a:spcAft>
            </a:pPr>
            <a:r>
              <a:rPr sz="1200" b="0" i="0">
                <a:solidFill>
                  <a:srgbClr val="14232E"/>
                </a:solidFill>
                <a:latin typeface="Calibri"/>
              </a:rPr>
              <a:t>ask: which order</a:t>
            </a:r>
          </a:p>
        </p:txBody>
      </p:sp>
      <p:sp>
        <p:nvSpPr>
          <p:cNvPr id="21" name="R16"/>
          <p:cNvSpPr/>
          <p:nvPr/>
        </p:nvSpPr>
        <p:spPr>
          <a:xfrm>
            <a:off x="6117336" y="3264408"/>
            <a:ext cx="1773936" cy="658368"/>
          </a:xfrm>
          <a:prstGeom prst="roundRect">
            <a:avLst>
              <a:gd name="adj" fmla="val 11111"/>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FFFFFF"/>
                </a:solidFill>
                <a:latin typeface="Calibri"/>
              </a:rPr>
              <a:t>R16</a:t>
            </a:r>
            <a:r>
              <a:rPr sz="1400" b="0" i="0">
                <a:solidFill>
                  <a:srgbClr val="FFFFFF"/>
                </a:solidFill>
                <a:latin typeface="Calibri"/>
              </a:rPr>
              <a:t> ★</a:t>
            </a:r>
          </a:p>
          <a:p>
            <a:pPr algn="l">
              <a:lnSpc>
                <a:spcPct val="100000"/>
              </a:lnSpc>
              <a:spcBef>
                <a:spcPts val="0"/>
              </a:spcBef>
              <a:spcAft>
                <a:spcPts val="0"/>
              </a:spcAft>
            </a:pPr>
            <a:r>
              <a:rPr sz="1200" b="0" i="0">
                <a:solidFill>
                  <a:srgbClr val="FFFFFF"/>
                </a:solidFill>
                <a:latin typeface="Calibri"/>
              </a:rPr>
              <a:t>allocate</a:t>
            </a:r>
          </a:p>
        </p:txBody>
      </p:sp>
      <p:sp>
        <p:nvSpPr>
          <p:cNvPr id="22" name="R17"/>
          <p:cNvSpPr/>
          <p:nvPr/>
        </p:nvSpPr>
        <p:spPr>
          <a:xfrm>
            <a:off x="7973567" y="3264408"/>
            <a:ext cx="1773936" cy="658368"/>
          </a:xfrm>
          <a:prstGeom prst="roundRect">
            <a:avLst>
              <a:gd name="adj" fmla="val 11111"/>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FFFFFF"/>
                </a:solidFill>
                <a:latin typeface="Calibri"/>
              </a:rPr>
              <a:t>R17</a:t>
            </a:r>
            <a:r>
              <a:rPr sz="1400" b="0" i="0">
                <a:solidFill>
                  <a:srgbClr val="FFFFFF"/>
                </a:solidFill>
                <a:latin typeface="Calibri"/>
              </a:rPr>
              <a:t> ★</a:t>
            </a:r>
          </a:p>
          <a:p>
            <a:pPr algn="l">
              <a:lnSpc>
                <a:spcPct val="100000"/>
              </a:lnSpc>
              <a:spcBef>
                <a:spcPts val="0"/>
              </a:spcBef>
              <a:spcAft>
                <a:spcPts val="0"/>
              </a:spcAft>
            </a:pPr>
            <a:r>
              <a:rPr sz="1200" b="0" i="0">
                <a:solidFill>
                  <a:srgbClr val="FFFFFF"/>
                </a:solidFill>
                <a:latin typeface="Calibri"/>
              </a:rPr>
              <a:t>allocate</a:t>
            </a:r>
          </a:p>
        </p:txBody>
      </p:sp>
      <p:sp>
        <p:nvSpPr>
          <p:cNvPr id="23" name="R18"/>
          <p:cNvSpPr/>
          <p:nvPr/>
        </p:nvSpPr>
        <p:spPr>
          <a:xfrm>
            <a:off x="9829799" y="3264408"/>
            <a:ext cx="1773936" cy="658368"/>
          </a:xfrm>
          <a:prstGeom prst="roundRect">
            <a:avLst>
              <a:gd name="adj" fmla="val 11111"/>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FFFFFF"/>
                </a:solidFill>
                <a:latin typeface="Calibri"/>
              </a:rPr>
              <a:t>R18</a:t>
            </a:r>
            <a:r>
              <a:rPr sz="1400" b="0" i="0">
                <a:solidFill>
                  <a:srgbClr val="FFFFFF"/>
                </a:solidFill>
                <a:latin typeface="Calibri"/>
              </a:rPr>
              <a:t/>
            </a:r>
          </a:p>
          <a:p>
            <a:pPr algn="l">
              <a:lnSpc>
                <a:spcPct val="100000"/>
              </a:lnSpc>
              <a:spcBef>
                <a:spcPts val="0"/>
              </a:spcBef>
              <a:spcAft>
                <a:spcPts val="0"/>
              </a:spcAft>
            </a:pPr>
            <a:r>
              <a:rPr sz="1200" b="0" i="0">
                <a:solidFill>
                  <a:srgbClr val="FFFFFF"/>
                </a:solidFill>
                <a:latin typeface="Calibri"/>
              </a:rPr>
              <a:t>can't answer</a:t>
            </a:r>
          </a:p>
        </p:txBody>
      </p:sp>
      <p:sp>
        <p:nvSpPr>
          <p:cNvPr id="24" name="R19"/>
          <p:cNvSpPr/>
          <p:nvPr/>
        </p:nvSpPr>
        <p:spPr>
          <a:xfrm>
            <a:off x="548640" y="4005072"/>
            <a:ext cx="1773936" cy="658368"/>
          </a:xfrm>
          <a:prstGeom prst="roundRect">
            <a:avLst>
              <a:gd name="adj" fmla="val 11111"/>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14232E"/>
                </a:solidFill>
                <a:latin typeface="Calibri"/>
              </a:rPr>
              <a:t>R19</a:t>
            </a:r>
            <a:r>
              <a:rPr sz="1400" b="0" i="0">
                <a:solidFill>
                  <a:srgbClr val="14232E"/>
                </a:solidFill>
                <a:latin typeface="Calibri"/>
              </a:rPr>
              <a:t/>
            </a:r>
          </a:p>
          <a:p>
            <a:pPr algn="l">
              <a:lnSpc>
                <a:spcPct val="100000"/>
              </a:lnSpc>
              <a:spcBef>
                <a:spcPts val="0"/>
              </a:spcBef>
              <a:spcAft>
                <a:spcPts val="0"/>
              </a:spcAft>
            </a:pPr>
            <a:r>
              <a:rPr sz="1200" b="0" i="0">
                <a:solidFill>
                  <a:srgbClr val="14232E"/>
                </a:solidFill>
                <a:latin typeface="Calibri"/>
              </a:rPr>
              <a:t>ask: which order</a:t>
            </a:r>
          </a:p>
        </p:txBody>
      </p:sp>
      <p:sp>
        <p:nvSpPr>
          <p:cNvPr id="25" name="R20"/>
          <p:cNvSpPr/>
          <p:nvPr/>
        </p:nvSpPr>
        <p:spPr>
          <a:xfrm>
            <a:off x="2404872" y="4005072"/>
            <a:ext cx="1773936" cy="658368"/>
          </a:xfrm>
          <a:prstGeom prst="roundRect">
            <a:avLst>
              <a:gd name="adj" fmla="val 11111"/>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14232E"/>
                </a:solidFill>
                <a:latin typeface="Calibri"/>
              </a:rPr>
              <a:t>R20</a:t>
            </a:r>
            <a:r>
              <a:rPr sz="1400" b="0" i="0">
                <a:solidFill>
                  <a:srgbClr val="14232E"/>
                </a:solidFill>
                <a:latin typeface="Calibri"/>
              </a:rPr>
              <a:t/>
            </a:r>
          </a:p>
          <a:p>
            <a:pPr algn="l">
              <a:lnSpc>
                <a:spcPct val="100000"/>
              </a:lnSpc>
              <a:spcBef>
                <a:spcPts val="0"/>
              </a:spcBef>
              <a:spcAft>
                <a:spcPts val="0"/>
              </a:spcAft>
            </a:pPr>
            <a:r>
              <a:rPr sz="1200" b="0" i="0">
                <a:solidFill>
                  <a:srgbClr val="14232E"/>
                </a:solidFill>
                <a:latin typeface="Calibri"/>
              </a:rPr>
              <a:t>no on-time option</a:t>
            </a:r>
          </a:p>
        </p:txBody>
      </p:sp>
      <p:sp>
        <p:nvSpPr>
          <p:cNvPr id="26" name="R21"/>
          <p:cNvSpPr/>
          <p:nvPr/>
        </p:nvSpPr>
        <p:spPr>
          <a:xfrm>
            <a:off x="4261103" y="4005072"/>
            <a:ext cx="1773936" cy="658368"/>
          </a:xfrm>
          <a:prstGeom prst="roundRect">
            <a:avLst>
              <a:gd name="adj" fmla="val 11111"/>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FFFFFF"/>
                </a:solidFill>
                <a:latin typeface="Calibri"/>
              </a:rPr>
              <a:t>R21</a:t>
            </a:r>
            <a:r>
              <a:rPr sz="1400" b="0" i="0">
                <a:solidFill>
                  <a:srgbClr val="FFFFFF"/>
                </a:solidFill>
                <a:latin typeface="Calibri"/>
              </a:rPr>
              <a:t/>
            </a:r>
          </a:p>
          <a:p>
            <a:pPr algn="l">
              <a:lnSpc>
                <a:spcPct val="100000"/>
              </a:lnSpc>
              <a:spcBef>
                <a:spcPts val="0"/>
              </a:spcBef>
              <a:spcAft>
                <a:spcPts val="0"/>
              </a:spcAft>
            </a:pPr>
            <a:r>
              <a:rPr sz="1200" b="0" i="0">
                <a:solidFill>
                  <a:srgbClr val="FFFFFF"/>
                </a:solidFill>
                <a:latin typeface="Calibri"/>
              </a:rPr>
              <a:t>allocate</a:t>
            </a:r>
          </a:p>
        </p:txBody>
      </p:sp>
      <p:sp>
        <p:nvSpPr>
          <p:cNvPr id="27" name="R22"/>
          <p:cNvSpPr/>
          <p:nvPr/>
        </p:nvSpPr>
        <p:spPr>
          <a:xfrm>
            <a:off x="6117336" y="4005072"/>
            <a:ext cx="1773936" cy="658368"/>
          </a:xfrm>
          <a:prstGeom prst="roundRect">
            <a:avLst>
              <a:gd name="adj" fmla="val 11111"/>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FFFFFF"/>
                </a:solidFill>
                <a:latin typeface="Calibri"/>
              </a:rPr>
              <a:t>R22</a:t>
            </a:r>
            <a:r>
              <a:rPr sz="1400" b="0" i="0">
                <a:solidFill>
                  <a:srgbClr val="FFFFFF"/>
                </a:solidFill>
                <a:latin typeface="Calibri"/>
              </a:rPr>
              <a:t> ★</a:t>
            </a:r>
          </a:p>
          <a:p>
            <a:pPr algn="l">
              <a:lnSpc>
                <a:spcPct val="100000"/>
              </a:lnSpc>
              <a:spcBef>
                <a:spcPts val="0"/>
              </a:spcBef>
              <a:spcAft>
                <a:spcPts val="0"/>
              </a:spcAft>
            </a:pPr>
            <a:r>
              <a:rPr sz="1200" b="0" i="0">
                <a:solidFill>
                  <a:srgbClr val="FFFFFF"/>
                </a:solidFill>
                <a:latin typeface="Calibri"/>
              </a:rPr>
              <a:t>allocate</a:t>
            </a:r>
          </a:p>
        </p:txBody>
      </p:sp>
      <p:sp>
        <p:nvSpPr>
          <p:cNvPr id="28" name="R23"/>
          <p:cNvSpPr/>
          <p:nvPr/>
        </p:nvSpPr>
        <p:spPr>
          <a:xfrm>
            <a:off x="7973567" y="4005072"/>
            <a:ext cx="1773936" cy="658368"/>
          </a:xfrm>
          <a:prstGeom prst="roundRect">
            <a:avLst>
              <a:gd name="adj" fmla="val 11111"/>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FFFFFF"/>
                </a:solidFill>
                <a:latin typeface="Calibri"/>
              </a:rPr>
              <a:t>R23</a:t>
            </a:r>
            <a:r>
              <a:rPr sz="1400" b="0" i="0">
                <a:solidFill>
                  <a:srgbClr val="FFFFFF"/>
                </a:solidFill>
                <a:latin typeface="Calibri"/>
              </a:rPr>
              <a:t> ★</a:t>
            </a:r>
          </a:p>
          <a:p>
            <a:pPr algn="l">
              <a:lnSpc>
                <a:spcPct val="100000"/>
              </a:lnSpc>
              <a:spcBef>
                <a:spcPts val="0"/>
              </a:spcBef>
              <a:spcAft>
                <a:spcPts val="0"/>
              </a:spcAft>
            </a:pPr>
            <a:r>
              <a:rPr sz="1200" b="0" i="0">
                <a:solidFill>
                  <a:srgbClr val="FFFFFF"/>
                </a:solidFill>
                <a:latin typeface="Calibri"/>
              </a:rPr>
              <a:t>allocate</a:t>
            </a:r>
          </a:p>
        </p:txBody>
      </p:sp>
      <p:sp>
        <p:nvSpPr>
          <p:cNvPr id="29" name="R24"/>
          <p:cNvSpPr/>
          <p:nvPr/>
        </p:nvSpPr>
        <p:spPr>
          <a:xfrm>
            <a:off x="9829799" y="4005072"/>
            <a:ext cx="1773936" cy="658368"/>
          </a:xfrm>
          <a:prstGeom prst="roundRect">
            <a:avLst>
              <a:gd name="adj" fmla="val 11111"/>
            </a:avLst>
          </a:prstGeom>
          <a:solidFill>
            <a:srgbClr val="E87B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14232E"/>
                </a:solidFill>
                <a:latin typeface="Calibri"/>
              </a:rPr>
              <a:t>R24</a:t>
            </a:r>
            <a:r>
              <a:rPr sz="1400" b="0" i="0">
                <a:solidFill>
                  <a:srgbClr val="14232E"/>
                </a:solidFill>
                <a:latin typeface="Calibri"/>
              </a:rPr>
              <a:t/>
            </a:r>
          </a:p>
          <a:p>
            <a:pPr algn="l">
              <a:lnSpc>
                <a:spcPct val="100000"/>
              </a:lnSpc>
              <a:spcBef>
                <a:spcPts val="0"/>
              </a:spcBef>
              <a:spcAft>
                <a:spcPts val="0"/>
              </a:spcAft>
            </a:pPr>
            <a:r>
              <a:rPr sz="1200" b="0" i="0">
                <a:solidFill>
                  <a:srgbClr val="14232E"/>
                </a:solidFill>
                <a:latin typeface="Calibri"/>
              </a:rPr>
              <a:t>refuse</a:t>
            </a:r>
          </a:p>
        </p:txBody>
      </p:sp>
      <p:sp>
        <p:nvSpPr>
          <p:cNvPr id="30" name="R25"/>
          <p:cNvSpPr/>
          <p:nvPr/>
        </p:nvSpPr>
        <p:spPr>
          <a:xfrm>
            <a:off x="548640" y="4745736"/>
            <a:ext cx="1773936" cy="658368"/>
          </a:xfrm>
          <a:prstGeom prst="roundRect">
            <a:avLst>
              <a:gd name="adj" fmla="val 11111"/>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FFFFFF"/>
                </a:solidFill>
                <a:latin typeface="Calibri"/>
              </a:rPr>
              <a:t>R25</a:t>
            </a:r>
            <a:r>
              <a:rPr sz="1400" b="0" i="0">
                <a:solidFill>
                  <a:srgbClr val="FFFFFF"/>
                </a:solidFill>
                <a:latin typeface="Calibri"/>
              </a:rPr>
              <a:t/>
            </a:r>
          </a:p>
          <a:p>
            <a:pPr algn="l">
              <a:lnSpc>
                <a:spcPct val="100000"/>
              </a:lnSpc>
              <a:spcBef>
                <a:spcPts val="0"/>
              </a:spcBef>
              <a:spcAft>
                <a:spcPts val="0"/>
              </a:spcAft>
            </a:pPr>
            <a:r>
              <a:rPr sz="1200" b="0" i="0">
                <a:solidFill>
                  <a:srgbClr val="FFFFFF"/>
                </a:solidFill>
                <a:latin typeface="Calibri"/>
              </a:rPr>
              <a:t>allocate</a:t>
            </a:r>
          </a:p>
        </p:txBody>
      </p:sp>
      <p:sp>
        <p:nvSpPr>
          <p:cNvPr id="31" name="R26"/>
          <p:cNvSpPr/>
          <p:nvPr/>
        </p:nvSpPr>
        <p:spPr>
          <a:xfrm>
            <a:off x="2404872" y="4745736"/>
            <a:ext cx="1773936" cy="658368"/>
          </a:xfrm>
          <a:prstGeom prst="roundRect">
            <a:avLst>
              <a:gd name="adj" fmla="val 11111"/>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FFFFFF"/>
                </a:solidFill>
                <a:latin typeface="Calibri"/>
              </a:rPr>
              <a:t>R26</a:t>
            </a:r>
            <a:r>
              <a:rPr sz="1400" b="0" i="0">
                <a:solidFill>
                  <a:srgbClr val="FFFFFF"/>
                </a:solidFill>
                <a:latin typeface="Calibri"/>
              </a:rPr>
              <a:t> ★</a:t>
            </a:r>
          </a:p>
          <a:p>
            <a:pPr algn="l">
              <a:lnSpc>
                <a:spcPct val="100000"/>
              </a:lnSpc>
              <a:spcBef>
                <a:spcPts val="0"/>
              </a:spcBef>
              <a:spcAft>
                <a:spcPts val="0"/>
              </a:spcAft>
            </a:pPr>
            <a:r>
              <a:rPr sz="1200" b="0" i="0">
                <a:solidFill>
                  <a:srgbClr val="FFFFFF"/>
                </a:solidFill>
                <a:latin typeface="Calibri"/>
              </a:rPr>
              <a:t>allocate</a:t>
            </a:r>
          </a:p>
        </p:txBody>
      </p:sp>
      <p:sp>
        <p:nvSpPr>
          <p:cNvPr id="32" name="R27"/>
          <p:cNvSpPr/>
          <p:nvPr/>
        </p:nvSpPr>
        <p:spPr>
          <a:xfrm>
            <a:off x="4261103" y="4745736"/>
            <a:ext cx="1773936" cy="658368"/>
          </a:xfrm>
          <a:prstGeom prst="roundRect">
            <a:avLst>
              <a:gd name="adj" fmla="val 11111"/>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FFFFFF"/>
                </a:solidFill>
                <a:latin typeface="Calibri"/>
              </a:rPr>
              <a:t>R27</a:t>
            </a:r>
            <a:r>
              <a:rPr sz="1400" b="0" i="0">
                <a:solidFill>
                  <a:srgbClr val="FFFFFF"/>
                </a:solidFill>
                <a:latin typeface="Calibri"/>
              </a:rPr>
              <a:t> ★</a:t>
            </a:r>
          </a:p>
          <a:p>
            <a:pPr algn="l">
              <a:lnSpc>
                <a:spcPct val="100000"/>
              </a:lnSpc>
              <a:spcBef>
                <a:spcPts val="0"/>
              </a:spcBef>
              <a:spcAft>
                <a:spcPts val="0"/>
              </a:spcAft>
            </a:pPr>
            <a:r>
              <a:rPr sz="1200" b="0" i="0">
                <a:solidFill>
                  <a:srgbClr val="FFFFFF"/>
                </a:solidFill>
                <a:latin typeface="Calibri"/>
              </a:rPr>
              <a:t>allocate</a:t>
            </a:r>
          </a:p>
        </p:txBody>
      </p:sp>
      <p:sp>
        <p:nvSpPr>
          <p:cNvPr id="33" name="R28"/>
          <p:cNvSpPr/>
          <p:nvPr/>
        </p:nvSpPr>
        <p:spPr>
          <a:xfrm>
            <a:off x="6117336" y="4745736"/>
            <a:ext cx="1773936" cy="658368"/>
          </a:xfrm>
          <a:prstGeom prst="roundRect">
            <a:avLst>
              <a:gd name="adj" fmla="val 11111"/>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14232E"/>
                </a:solidFill>
                <a:latin typeface="Calibri"/>
              </a:rPr>
              <a:t>R28</a:t>
            </a:r>
            <a:r>
              <a:rPr sz="1400" b="0" i="0">
                <a:solidFill>
                  <a:srgbClr val="14232E"/>
                </a:solidFill>
                <a:latin typeface="Calibri"/>
              </a:rPr>
              <a:t/>
            </a:r>
          </a:p>
          <a:p>
            <a:pPr algn="l">
              <a:lnSpc>
                <a:spcPct val="100000"/>
              </a:lnSpc>
              <a:spcBef>
                <a:spcPts val="0"/>
              </a:spcBef>
              <a:spcAft>
                <a:spcPts val="0"/>
              </a:spcAft>
            </a:pPr>
            <a:r>
              <a:rPr sz="1200" b="0" i="0">
                <a:solidFill>
                  <a:srgbClr val="14232E"/>
                </a:solidFill>
                <a:latin typeface="Calibri"/>
              </a:rPr>
              <a:t>no on-time option</a:t>
            </a:r>
          </a:p>
        </p:txBody>
      </p:sp>
      <p:sp>
        <p:nvSpPr>
          <p:cNvPr id="34" name="R29"/>
          <p:cNvSpPr/>
          <p:nvPr/>
        </p:nvSpPr>
        <p:spPr>
          <a:xfrm>
            <a:off x="7973567" y="4745736"/>
            <a:ext cx="1773936" cy="658368"/>
          </a:xfrm>
          <a:prstGeom prst="roundRect">
            <a:avLst>
              <a:gd name="adj" fmla="val 11111"/>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14232E"/>
                </a:solidFill>
                <a:latin typeface="Calibri"/>
              </a:rPr>
              <a:t>R29</a:t>
            </a:r>
            <a:r>
              <a:rPr sz="1400" b="0" i="0">
                <a:solidFill>
                  <a:srgbClr val="14232E"/>
                </a:solidFill>
                <a:latin typeface="Calibri"/>
              </a:rPr>
              <a:t/>
            </a:r>
          </a:p>
          <a:p>
            <a:pPr algn="l">
              <a:lnSpc>
                <a:spcPct val="100000"/>
              </a:lnSpc>
              <a:spcBef>
                <a:spcPts val="0"/>
              </a:spcBef>
              <a:spcAft>
                <a:spcPts val="0"/>
              </a:spcAft>
            </a:pPr>
            <a:r>
              <a:rPr sz="1200" b="0" i="0">
                <a:solidFill>
                  <a:srgbClr val="14232E"/>
                </a:solidFill>
                <a:latin typeface="Calibri"/>
              </a:rPr>
              <a:t>ask: which order</a:t>
            </a:r>
          </a:p>
        </p:txBody>
      </p:sp>
      <p:sp>
        <p:nvSpPr>
          <p:cNvPr id="35" name="R30"/>
          <p:cNvSpPr/>
          <p:nvPr/>
        </p:nvSpPr>
        <p:spPr>
          <a:xfrm>
            <a:off x="9829799" y="4745736"/>
            <a:ext cx="1773936" cy="658368"/>
          </a:xfrm>
          <a:prstGeom prst="roundRect">
            <a:avLst>
              <a:gd name="adj" fmla="val 11111"/>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lnSpc>
                <a:spcPct val="100000"/>
              </a:lnSpc>
              <a:spcBef>
                <a:spcPts val="0"/>
              </a:spcBef>
              <a:spcAft>
                <a:spcPts val="0"/>
              </a:spcAft>
            </a:pPr>
            <a:r>
              <a:rPr sz="1400" b="1" i="0">
                <a:solidFill>
                  <a:srgbClr val="14232E"/>
                </a:solidFill>
                <a:latin typeface="Calibri"/>
              </a:rPr>
              <a:t>R30</a:t>
            </a:r>
            <a:r>
              <a:rPr sz="1400" b="0" i="0">
                <a:solidFill>
                  <a:srgbClr val="14232E"/>
                </a:solidFill>
                <a:latin typeface="Calibri"/>
              </a:rPr>
              <a:t/>
            </a:r>
          </a:p>
          <a:p>
            <a:pPr algn="l">
              <a:lnSpc>
                <a:spcPct val="100000"/>
              </a:lnSpc>
              <a:spcBef>
                <a:spcPts val="0"/>
              </a:spcBef>
              <a:spcAft>
                <a:spcPts val="0"/>
              </a:spcAft>
            </a:pPr>
            <a:r>
              <a:rPr sz="1200" b="0" i="0">
                <a:solidFill>
                  <a:srgbClr val="14232E"/>
                </a:solidFill>
                <a:latin typeface="Calibri"/>
              </a:rPr>
              <a:t>no on-time option</a:t>
            </a:r>
          </a:p>
        </p:txBody>
      </p:sp>
      <p:sp>
        <p:nvSpPr>
          <p:cNvPr id="36" name="Legend swatch"/>
          <p:cNvSpPr/>
          <p:nvPr/>
        </p:nvSpPr>
        <p:spPr>
          <a:xfrm>
            <a:off x="548640" y="5596128"/>
            <a:ext cx="182880" cy="18288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Legend label"/>
          <p:cNvSpPr txBox="1"/>
          <p:nvPr/>
        </p:nvSpPr>
        <p:spPr>
          <a:xfrm>
            <a:off x="822959" y="5550408"/>
            <a:ext cx="1554480" cy="274320"/>
          </a:xfrm>
          <a:prstGeom prst="rect">
            <a:avLst/>
          </a:prstGeom>
          <a:noFill/>
        </p:spPr>
        <p:txBody>
          <a:bodyPr wrap="square" lIns="0" rIns="0" tIns="0" bIns="0" anchor="ctr">
            <a:noAutofit/>
          </a:bodyPr>
          <a:lstStyle/>
          <a:p>
            <a:pPr algn="l">
              <a:lnSpc>
                <a:spcPct val="100000"/>
              </a:lnSpc>
              <a:spcBef>
                <a:spcPts val="0"/>
              </a:spcBef>
              <a:spcAft>
                <a:spcPts val="0"/>
              </a:spcAft>
            </a:pPr>
            <a:r>
              <a:rPr sz="1200" b="0" i="0">
                <a:solidFill>
                  <a:srgbClr val="14232E"/>
                </a:solidFill>
                <a:latin typeface="Calibri"/>
              </a:rPr>
              <a:t>allocate</a:t>
            </a:r>
          </a:p>
        </p:txBody>
      </p:sp>
      <p:sp>
        <p:nvSpPr>
          <p:cNvPr id="38" name="Legend swatch"/>
          <p:cNvSpPr/>
          <p:nvPr/>
        </p:nvSpPr>
        <p:spPr>
          <a:xfrm>
            <a:off x="2395728" y="5596128"/>
            <a:ext cx="182880" cy="18288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Legend label"/>
          <p:cNvSpPr txBox="1"/>
          <p:nvPr/>
        </p:nvSpPr>
        <p:spPr>
          <a:xfrm>
            <a:off x="2670048" y="5550408"/>
            <a:ext cx="1554480" cy="274320"/>
          </a:xfrm>
          <a:prstGeom prst="rect">
            <a:avLst/>
          </a:prstGeom>
          <a:noFill/>
        </p:spPr>
        <p:txBody>
          <a:bodyPr wrap="square" lIns="0" rIns="0" tIns="0" bIns="0" anchor="ctr">
            <a:noAutofit/>
          </a:bodyPr>
          <a:lstStyle/>
          <a:p>
            <a:pPr algn="l">
              <a:lnSpc>
                <a:spcPct val="100000"/>
              </a:lnSpc>
              <a:spcBef>
                <a:spcPts val="0"/>
              </a:spcBef>
              <a:spcAft>
                <a:spcPts val="0"/>
              </a:spcAft>
            </a:pPr>
            <a:r>
              <a:rPr sz="1200" b="0" i="0">
                <a:solidFill>
                  <a:srgbClr val="14232E"/>
                </a:solidFill>
                <a:latin typeface="Calibri"/>
              </a:rPr>
              <a:t>no on-time option</a:t>
            </a:r>
          </a:p>
        </p:txBody>
      </p:sp>
      <p:sp>
        <p:nvSpPr>
          <p:cNvPr id="40" name="Legend swatch"/>
          <p:cNvSpPr/>
          <p:nvPr/>
        </p:nvSpPr>
        <p:spPr>
          <a:xfrm>
            <a:off x="4242816" y="5596128"/>
            <a:ext cx="182880" cy="18288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Legend label"/>
          <p:cNvSpPr txBox="1"/>
          <p:nvPr/>
        </p:nvSpPr>
        <p:spPr>
          <a:xfrm>
            <a:off x="4517136" y="5550408"/>
            <a:ext cx="1554480" cy="274320"/>
          </a:xfrm>
          <a:prstGeom prst="rect">
            <a:avLst/>
          </a:prstGeom>
          <a:noFill/>
        </p:spPr>
        <p:txBody>
          <a:bodyPr wrap="square" lIns="0" rIns="0" tIns="0" bIns="0" anchor="ctr">
            <a:noAutofit/>
          </a:bodyPr>
          <a:lstStyle/>
          <a:p>
            <a:pPr algn="l">
              <a:lnSpc>
                <a:spcPct val="100000"/>
              </a:lnSpc>
              <a:spcBef>
                <a:spcPts val="0"/>
              </a:spcBef>
              <a:spcAft>
                <a:spcPts val="0"/>
              </a:spcAft>
            </a:pPr>
            <a:r>
              <a:rPr sz="1200" b="0" i="0">
                <a:solidFill>
                  <a:srgbClr val="14232E"/>
                </a:solidFill>
                <a:latin typeface="Calibri"/>
              </a:rPr>
              <a:t>ask: which order</a:t>
            </a:r>
          </a:p>
        </p:txBody>
      </p:sp>
      <p:sp>
        <p:nvSpPr>
          <p:cNvPr id="42" name="Legend swatch"/>
          <p:cNvSpPr/>
          <p:nvPr/>
        </p:nvSpPr>
        <p:spPr>
          <a:xfrm>
            <a:off x="6089904" y="5596128"/>
            <a:ext cx="182880" cy="182880"/>
          </a:xfrm>
          <a:prstGeom prst="rect">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Legend label"/>
          <p:cNvSpPr txBox="1"/>
          <p:nvPr/>
        </p:nvSpPr>
        <p:spPr>
          <a:xfrm>
            <a:off x="6364224" y="5550408"/>
            <a:ext cx="1554480" cy="274320"/>
          </a:xfrm>
          <a:prstGeom prst="rect">
            <a:avLst/>
          </a:prstGeom>
          <a:noFill/>
        </p:spPr>
        <p:txBody>
          <a:bodyPr wrap="square" lIns="0" rIns="0" tIns="0" bIns="0" anchor="ctr">
            <a:noAutofit/>
          </a:bodyPr>
          <a:lstStyle/>
          <a:p>
            <a:pPr algn="l">
              <a:lnSpc>
                <a:spcPct val="100000"/>
              </a:lnSpc>
              <a:spcBef>
                <a:spcPts val="0"/>
              </a:spcBef>
              <a:spcAft>
                <a:spcPts val="0"/>
              </a:spcAft>
            </a:pPr>
            <a:r>
              <a:rPr sz="1200" b="0" i="0">
                <a:solidFill>
                  <a:srgbClr val="14232E"/>
                </a:solidFill>
                <a:latin typeface="Calibri"/>
              </a:rPr>
              <a:t>ask: missing info</a:t>
            </a:r>
          </a:p>
        </p:txBody>
      </p:sp>
      <p:sp>
        <p:nvSpPr>
          <p:cNvPr id="44" name="Legend swatch"/>
          <p:cNvSpPr/>
          <p:nvPr/>
        </p:nvSpPr>
        <p:spPr>
          <a:xfrm>
            <a:off x="7936992" y="5596128"/>
            <a:ext cx="182880" cy="182880"/>
          </a:xfrm>
          <a:prstGeom prst="rect">
            <a:avLst/>
          </a:prstGeom>
          <a:solidFill>
            <a:srgbClr val="E87B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Legend label"/>
          <p:cNvSpPr txBox="1"/>
          <p:nvPr/>
        </p:nvSpPr>
        <p:spPr>
          <a:xfrm>
            <a:off x="8211312" y="5550408"/>
            <a:ext cx="1554480" cy="274320"/>
          </a:xfrm>
          <a:prstGeom prst="rect">
            <a:avLst/>
          </a:prstGeom>
          <a:noFill/>
        </p:spPr>
        <p:txBody>
          <a:bodyPr wrap="square" lIns="0" rIns="0" tIns="0" bIns="0" anchor="ctr">
            <a:noAutofit/>
          </a:bodyPr>
          <a:lstStyle/>
          <a:p>
            <a:pPr algn="l">
              <a:lnSpc>
                <a:spcPct val="100000"/>
              </a:lnSpc>
              <a:spcBef>
                <a:spcPts val="0"/>
              </a:spcBef>
              <a:spcAft>
                <a:spcPts val="0"/>
              </a:spcAft>
            </a:pPr>
            <a:r>
              <a:rPr sz="1200" b="0" i="0">
                <a:solidFill>
                  <a:srgbClr val="14232E"/>
                </a:solidFill>
                <a:latin typeface="Calibri"/>
              </a:rPr>
              <a:t>refuse</a:t>
            </a:r>
          </a:p>
        </p:txBody>
      </p:sp>
      <p:sp>
        <p:nvSpPr>
          <p:cNvPr id="46" name="Legend swatch"/>
          <p:cNvSpPr/>
          <p:nvPr/>
        </p:nvSpPr>
        <p:spPr>
          <a:xfrm>
            <a:off x="9784080" y="5596128"/>
            <a:ext cx="182880" cy="182880"/>
          </a:xfrm>
          <a:prstGeom prst="rect">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Legend label"/>
          <p:cNvSpPr txBox="1"/>
          <p:nvPr/>
        </p:nvSpPr>
        <p:spPr>
          <a:xfrm>
            <a:off x="10058400" y="5550408"/>
            <a:ext cx="1554480" cy="274320"/>
          </a:xfrm>
          <a:prstGeom prst="rect">
            <a:avLst/>
          </a:prstGeom>
          <a:noFill/>
        </p:spPr>
        <p:txBody>
          <a:bodyPr wrap="square" lIns="0" rIns="0" tIns="0" bIns="0" anchor="ctr">
            <a:noAutofit/>
          </a:bodyPr>
          <a:lstStyle/>
          <a:p>
            <a:pPr algn="l">
              <a:lnSpc>
                <a:spcPct val="100000"/>
              </a:lnSpc>
              <a:spcBef>
                <a:spcPts val="0"/>
              </a:spcBef>
              <a:spcAft>
                <a:spcPts val="0"/>
              </a:spcAft>
            </a:pPr>
            <a:r>
              <a:rPr sz="1200" b="0" i="0">
                <a:solidFill>
                  <a:srgbClr val="14232E"/>
                </a:solidFill>
                <a:latin typeface="Calibri"/>
              </a:rPr>
              <a:t>can't answer</a:t>
            </a:r>
          </a:p>
        </p:txBody>
      </p:sp>
      <p:sp>
        <p:nvSpPr>
          <p:cNvPr id="48" name="Note"/>
          <p:cNvSpPr txBox="1"/>
          <p:nvPr/>
        </p:nvSpPr>
        <p:spPr>
          <a:xfrm>
            <a:off x="548640" y="5943600"/>
            <a:ext cx="11064240" cy="457200"/>
          </a:xfrm>
          <a:prstGeom prst="rect">
            <a:avLst/>
          </a:prstGeom>
          <a:noFill/>
        </p:spPr>
        <p:txBody>
          <a:bodyPr wrap="square" lIns="0" rIns="0" tIns="0" bIns="0" anchor="t">
            <a:noAutofit/>
          </a:bodyPr>
          <a:lstStyle/>
          <a:p>
            <a:pPr algn="l">
              <a:lnSpc>
                <a:spcPct val="100000"/>
              </a:lnSpc>
              <a:spcBef>
                <a:spcPts val="0"/>
              </a:spcBef>
              <a:spcAft>
                <a:spcPts val="0"/>
              </a:spcAft>
            </a:pPr>
            <a:r>
              <a:rPr sz="1100" b="0" i="0">
                <a:solidFill>
                  <a:srgbClr val="52606B"/>
                </a:solidFill>
                <a:latin typeface="Calibri"/>
              </a:rPr>
              <a:t>★ changed by the instructor in v3. Shown with the morning queues; the counts by kind match the instructor's published mix. Processed in order, 11 of the 13 on-time requests stay on time (R21 is 1 day late; R25 is 1 day late); at most 12 can.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94415" cy="1188720"/>
          </a:xfrm>
          <a:prstGeom prst="rect">
            <a:avLst/>
          </a:prstGeom>
          <a:noFill/>
        </p:spPr>
        <p:txBody>
          <a:bodyPr wrap="square" lIns="0" rIns="0" tIns="0" bIns="0" anchor="t">
            <a:noAutofit/>
          </a:bodyPr>
          <a:lstStyle/>
          <a:p>
            <a:pPr algn="l">
              <a:lnSpc>
                <a:spcPct val="98000"/>
              </a:lnSpc>
              <a:spcBef>
                <a:spcPts val="0"/>
              </a:spcBef>
              <a:spcAft>
                <a:spcPts val="0"/>
              </a:spcAft>
            </a:pPr>
            <a:r>
              <a:rPr sz="3400" b="1" i="0">
                <a:solidFill>
                  <a:srgbClr val="14232E"/>
                </a:solidFill>
                <a:latin typeface="Cambria"/>
              </a:rPr>
              <a:t>Appendix C · The language layer, measured on two inboxes</a:t>
            </a:r>
          </a:p>
        </p:txBody>
      </p:sp>
      <p:sp>
        <p:nvSpPr>
          <p:cNvPr id="3" name="Footer"/>
          <p:cNvSpPr txBox="1"/>
          <p:nvPr/>
        </p:nvSpPr>
        <p:spPr>
          <a:xfrm>
            <a:off x="548640" y="6446520"/>
            <a:ext cx="82296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2606B"/>
                </a:solidFill>
                <a:latin typeface="Calibri"/>
              </a:rPr>
              <a:t>DSS5105 Capstone  ·  Track 2  ·  Subcontracting Desk  ·  Sprint 1</a:t>
            </a:r>
          </a:p>
        </p:txBody>
      </p:sp>
      <p:sp>
        <p:nvSpPr>
          <p:cNvPr id="4" name="Slide number"/>
          <p:cNvSpPr txBox="1"/>
          <p:nvPr/>
        </p:nvSpPr>
        <p:spPr>
          <a:xfrm>
            <a:off x="10728655" y="6446520"/>
            <a:ext cx="9144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2606B"/>
                </a:solidFill>
                <a:latin typeface="Calibri"/>
              </a:rPr>
              <a:t>9</a:t>
            </a:r>
          </a:p>
        </p:txBody>
      </p:sp>
      <p:sp>
        <p:nvSpPr>
          <p:cNvPr id="5" name="Backup tag"/>
          <p:cNvSpPr txBox="1"/>
          <p:nvPr/>
        </p:nvSpPr>
        <p:spPr>
          <a:xfrm>
            <a:off x="10180015" y="146304"/>
            <a:ext cx="1463040" cy="237744"/>
          </a:xfrm>
          <a:prstGeom prst="rect">
            <a:avLst/>
          </a:prstGeom>
          <a:noFill/>
        </p:spPr>
        <p:txBody>
          <a:bodyPr wrap="square" lIns="0" rIns="0" tIns="0" bIns="0" anchor="t">
            <a:noAutofit/>
          </a:bodyPr>
          <a:lstStyle/>
          <a:p>
            <a:pPr algn="r">
              <a:lnSpc>
                <a:spcPct val="100000"/>
              </a:lnSpc>
              <a:spcBef>
                <a:spcPts val="0"/>
              </a:spcBef>
              <a:spcAft>
                <a:spcPts val="0"/>
              </a:spcAft>
            </a:pPr>
            <a:r>
              <a:rPr sz="1050" b="1" i="0">
                <a:solidFill>
                  <a:srgbClr val="52606B"/>
                </a:solidFill>
                <a:latin typeface="Calibri"/>
              </a:rPr>
              <a:t>BACKUP SLIDE</a:t>
            </a:r>
          </a:p>
        </p:txBody>
      </p:sp>
      <p:pic>
        <p:nvPicPr>
          <p:cNvPr id="6" name="Picture" descr="Bars of right-behaviour rate for the rule parser, GPT-5 nano and GPT-5 mini on the official 30 and on 38 new messages, before and after round 2"/>
          <p:cNvPicPr>
            <a:picLocks noChangeAspect="1"/>
          </p:cNvPicPr>
          <p:nvPr/>
        </p:nvPicPr>
        <p:blipFill>
          <a:blip r:embed="rId2"/>
          <a:stretch>
            <a:fillRect/>
          </a:stretch>
        </p:blipFill>
        <p:spPr>
          <a:xfrm>
            <a:off x="548640" y="1645920"/>
            <a:ext cx="10424160" cy="3145536"/>
          </a:xfrm>
          <a:prstGeom prst="rect">
            <a:avLst/>
          </a:prstGeom>
        </p:spPr>
      </p:pic>
      <p:sp>
        <p:nvSpPr>
          <p:cNvPr id="7" name="Reading"/>
          <p:cNvSpPr txBox="1"/>
          <p:nvPr/>
        </p:nvSpPr>
        <p:spPr>
          <a:xfrm>
            <a:off x="548640" y="4864608"/>
            <a:ext cx="11064240" cy="1417320"/>
          </a:xfrm>
          <a:prstGeom prst="rect">
            <a:avLst/>
          </a:prstGeom>
          <a:noFill/>
        </p:spPr>
        <p:txBody>
          <a:bodyPr wrap="square" lIns="0" rIns="0" tIns="0" bIns="0" anchor="t">
            <a:noAutofit/>
          </a:bodyPr>
          <a:lstStyle/>
          <a:p>
            <a:pPr algn="l" marL="201168" indent="-201168">
              <a:lnSpc>
                <a:spcPct val="100000"/>
              </a:lnSpc>
              <a:spcBef>
                <a:spcPts val="0"/>
              </a:spcBef>
              <a:spcAft>
                <a:spcPts val="600"/>
              </a:spcAft>
              <a:buFont typeface="Arial"/>
              <a:buChar char="•"/>
            </a:pPr>
            <a:r>
              <a:rPr sz="1400" b="1" i="0">
                <a:solidFill>
                  <a:srgbClr val="14232E"/>
                </a:solidFill>
                <a:latin typeface="Calibri"/>
              </a:rPr>
              <a:t>The rule parser was built around the 30: </a:t>
            </a:r>
            <a:r>
              <a:rPr sz="1400" b="0" i="0">
                <a:solidFill>
                  <a:srgbClr val="14232E"/>
                </a:solidFill>
                <a:latin typeface="Calibri"/>
              </a:rPr>
              <a:t>100% there, 84% on new wording at first try.</a:t>
            </a:r>
          </a:p>
          <a:p>
            <a:pPr algn="l" marL="201168" indent="-201168">
              <a:lnSpc>
                <a:spcPct val="100000"/>
              </a:lnSpc>
              <a:spcBef>
                <a:spcPts val="0"/>
              </a:spcBef>
              <a:spcAft>
                <a:spcPts val="600"/>
              </a:spcAft>
              <a:buFont typeface="Arial"/>
              <a:buChar char="•"/>
            </a:pPr>
            <a:r>
              <a:rPr sz="1400" b="1" i="0">
                <a:solidFill>
                  <a:srgbClr val="14232E"/>
                </a:solidFill>
                <a:latin typeface="Calibri"/>
              </a:rPr>
              <a:t>Model choice matters: </a:t>
            </a:r>
            <a:r>
              <a:rPr sz="1400" b="0" i="0">
                <a:solidFill>
                  <a:srgbClr val="14232E"/>
                </a:solidFill>
                <a:latin typeface="Calibri"/>
              </a:rPr>
              <a:t>with the round-1 prompt GPT-5 nano gets 86% of the 30 right, GPT-5 mini 100%. After our checks nano still misreads one new phrasing (a date “sooner than planned, not said when”) in 3 runs of 3.</a:t>
            </a:r>
          </a:p>
          <a:p>
            <a:pPr algn="l" marL="201168" indent="-201168">
              <a:lnSpc>
                <a:spcPct val="100000"/>
              </a:lnSpc>
              <a:spcBef>
                <a:spcPts val="0"/>
              </a:spcBef>
              <a:spcAft>
                <a:spcPts val="0"/>
              </a:spcAft>
              <a:buFont typeface="Arial"/>
              <a:buChar char="•"/>
            </a:pPr>
            <a:r>
              <a:rPr sz="1400" b="1" i="0">
                <a:solidFill>
                  <a:srgbClr val="14232E"/>
                </a:solidFill>
                <a:latin typeface="Calibri"/>
              </a:rPr>
              <a:t>Not a clean test yet: </a:t>
            </a:r>
            <a:r>
              <a:rPr sz="1400" b="0" i="0">
                <a:solidFill>
                  <a:srgbClr val="14232E"/>
                </a:solidFill>
                <a:latin typeface="Calibri"/>
              </a:rPr>
              <a:t>the 38 new messages are AI-written and two of our fixes came from errors seen on them. The held-out inbox will be written by teammates.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94415" cy="1188720"/>
          </a:xfrm>
          <a:prstGeom prst="rect">
            <a:avLst/>
          </a:prstGeom>
          <a:noFill/>
        </p:spPr>
        <p:txBody>
          <a:bodyPr wrap="square" lIns="0" rIns="0" tIns="0" bIns="0" anchor="t">
            <a:noAutofit/>
          </a:bodyPr>
          <a:lstStyle/>
          <a:p>
            <a:pPr algn="l">
              <a:lnSpc>
                <a:spcPct val="98000"/>
              </a:lnSpc>
              <a:spcBef>
                <a:spcPts val="0"/>
              </a:spcBef>
              <a:spcAft>
                <a:spcPts val="0"/>
              </a:spcAft>
            </a:pPr>
            <a:r>
              <a:rPr sz="3400" b="1" i="0">
                <a:solidFill>
                  <a:srgbClr val="14232E"/>
                </a:solidFill>
                <a:latin typeface="Cambria"/>
              </a:rPr>
              <a:t>Appendix D · Promised dates, and a six-day week</a:t>
            </a:r>
          </a:p>
        </p:txBody>
      </p:sp>
      <p:sp>
        <p:nvSpPr>
          <p:cNvPr id="3" name="Footer"/>
          <p:cNvSpPr txBox="1"/>
          <p:nvPr/>
        </p:nvSpPr>
        <p:spPr>
          <a:xfrm>
            <a:off x="548640" y="6446520"/>
            <a:ext cx="82296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2606B"/>
                </a:solidFill>
                <a:latin typeface="Calibri"/>
              </a:rPr>
              <a:t>DSS5105 Capstone  ·  Track 2  ·  Subcontracting Desk  ·  Sprint 1</a:t>
            </a:r>
          </a:p>
        </p:txBody>
      </p:sp>
      <p:sp>
        <p:nvSpPr>
          <p:cNvPr id="4" name="Slide number"/>
          <p:cNvSpPr txBox="1"/>
          <p:nvPr/>
        </p:nvSpPr>
        <p:spPr>
          <a:xfrm>
            <a:off x="10728655" y="6446520"/>
            <a:ext cx="9144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2606B"/>
                </a:solidFill>
                <a:latin typeface="Calibri"/>
              </a:rPr>
              <a:t>10</a:t>
            </a:r>
          </a:p>
        </p:txBody>
      </p:sp>
      <p:sp>
        <p:nvSpPr>
          <p:cNvPr id="5" name="Backup tag"/>
          <p:cNvSpPr txBox="1"/>
          <p:nvPr/>
        </p:nvSpPr>
        <p:spPr>
          <a:xfrm>
            <a:off x="10180015" y="146304"/>
            <a:ext cx="1463040" cy="237744"/>
          </a:xfrm>
          <a:prstGeom prst="rect">
            <a:avLst/>
          </a:prstGeom>
          <a:noFill/>
        </p:spPr>
        <p:txBody>
          <a:bodyPr wrap="square" lIns="0" rIns="0" tIns="0" bIns="0" anchor="t">
            <a:noAutofit/>
          </a:bodyPr>
          <a:lstStyle/>
          <a:p>
            <a:pPr algn="r">
              <a:lnSpc>
                <a:spcPct val="100000"/>
              </a:lnSpc>
              <a:spcBef>
                <a:spcPts val="0"/>
              </a:spcBef>
              <a:spcAft>
                <a:spcPts val="0"/>
              </a:spcAft>
            </a:pPr>
            <a:r>
              <a:rPr sz="1050" b="1" i="0">
                <a:solidFill>
                  <a:srgbClr val="52606B"/>
                </a:solidFill>
                <a:latin typeface="Calibri"/>
              </a:rPr>
              <a:t>BACKUP SLIDE</a:t>
            </a:r>
          </a:p>
        </p:txBody>
      </p:sp>
      <p:sp>
        <p:nvSpPr>
          <p:cNvPr id="6" name="Label"/>
          <p:cNvSpPr txBox="1"/>
          <p:nvPr/>
        </p:nvSpPr>
        <p:spPr>
          <a:xfrm>
            <a:off x="548640" y="1783080"/>
            <a:ext cx="54864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52606B"/>
                </a:solidFill>
                <a:latin typeface="Calibri"/>
              </a:rPr>
              <a:t>QUOTING TWO DATES · 1,200 BATCHES, LATENESS RULE</a:t>
            </a:r>
          </a:p>
        </p:txBody>
      </p:sp>
      <p:sp>
        <p:nvSpPr>
          <p:cNvPr id="7" name="Stat"/>
          <p:cNvSpPr txBox="1"/>
          <p:nvPr/>
        </p:nvSpPr>
        <p:spPr>
          <a:xfrm>
            <a:off x="548640" y="2148840"/>
            <a:ext cx="5120640" cy="640080"/>
          </a:xfrm>
          <a:prstGeom prst="rect">
            <a:avLst/>
          </a:prstGeom>
          <a:noFill/>
        </p:spPr>
        <p:txBody>
          <a:bodyPr wrap="square" lIns="0" rIns="0" tIns="0" bIns="0" anchor="t">
            <a:noAutofit/>
          </a:bodyPr>
          <a:lstStyle/>
          <a:p>
            <a:pPr algn="l">
              <a:lnSpc>
                <a:spcPct val="95000"/>
              </a:lnSpc>
              <a:spcBef>
                <a:spcPts val="0"/>
              </a:spcBef>
              <a:spcAft>
                <a:spcPts val="0"/>
              </a:spcAft>
            </a:pPr>
            <a:r>
              <a:rPr sz="3800" b="1" i="0">
                <a:solidFill>
                  <a:srgbClr val="2A78D6"/>
                </a:solidFill>
                <a:latin typeface="Calibri"/>
              </a:rPr>
              <a:t>94%</a:t>
            </a:r>
          </a:p>
        </p:txBody>
      </p:sp>
      <p:sp>
        <p:nvSpPr>
          <p:cNvPr id="8" name="Stat label"/>
          <p:cNvSpPr txBox="1"/>
          <p:nvPr/>
        </p:nvSpPr>
        <p:spPr>
          <a:xfrm>
            <a:off x="548640" y="2788920"/>
            <a:ext cx="5120640" cy="822960"/>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14232E"/>
                </a:solidFill>
                <a:latin typeface="Calibri"/>
              </a:rPr>
              <a:t>of expected dates hold. Every miss in normal runs is a defect rework.</a:t>
            </a:r>
          </a:p>
        </p:txBody>
      </p:sp>
      <p:sp>
        <p:nvSpPr>
          <p:cNvPr id="9" name="Stat"/>
          <p:cNvSpPr txBox="1"/>
          <p:nvPr/>
        </p:nvSpPr>
        <p:spPr>
          <a:xfrm>
            <a:off x="548640" y="3749039"/>
            <a:ext cx="5120640" cy="640080"/>
          </a:xfrm>
          <a:prstGeom prst="rect">
            <a:avLst/>
          </a:prstGeom>
          <a:noFill/>
        </p:spPr>
        <p:txBody>
          <a:bodyPr wrap="square" lIns="0" rIns="0" tIns="0" bIns="0" anchor="t">
            <a:noAutofit/>
          </a:bodyPr>
          <a:lstStyle/>
          <a:p>
            <a:pPr algn="l">
              <a:lnSpc>
                <a:spcPct val="95000"/>
              </a:lnSpc>
              <a:spcBef>
                <a:spcPts val="0"/>
              </a:spcBef>
              <a:spcAft>
                <a:spcPts val="0"/>
              </a:spcAft>
            </a:pPr>
            <a:r>
              <a:rPr sz="3800" b="1" i="0">
                <a:solidFill>
                  <a:srgbClr val="2A78D6"/>
                </a:solidFill>
                <a:latin typeface="Calibri"/>
              </a:rPr>
              <a:t>100%</a:t>
            </a:r>
          </a:p>
        </p:txBody>
      </p:sp>
      <p:sp>
        <p:nvSpPr>
          <p:cNvPr id="10" name="Stat label"/>
          <p:cNvSpPr txBox="1"/>
          <p:nvPr/>
        </p:nvSpPr>
        <p:spPr>
          <a:xfrm>
            <a:off x="548640" y="4389120"/>
            <a:ext cx="5120640" cy="822960"/>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14232E"/>
                </a:solidFill>
                <a:latin typeface="Calibri"/>
              </a:rPr>
              <a:t>of “if reworked” dates hold (99.2% with a workshop closed). They are 1.8 days later on average.</a:t>
            </a:r>
          </a:p>
        </p:txBody>
      </p:sp>
      <p:sp>
        <p:nvSpPr>
          <p:cNvPr id="11" name="Label"/>
          <p:cNvSpPr txBox="1"/>
          <p:nvPr/>
        </p:nvSpPr>
        <p:spPr>
          <a:xfrm>
            <a:off x="6309360" y="1783080"/>
            <a:ext cx="5486400" cy="274320"/>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52606B"/>
                </a:solidFill>
                <a:latin typeface="Calibri"/>
              </a:rPr>
              <a:t>SUNDAYS OFF, AS THE PRIMER SAYS · LATE BATCHES %</a:t>
            </a:r>
          </a:p>
        </p:txBody>
      </p:sp>
      <p:graphicFrame>
        <p:nvGraphicFramePr>
          <p:cNvPr id="12" name="Sundays"/>
          <p:cNvGraphicFramePr>
            <a:graphicFrameLocks noGrp="1"/>
          </p:cNvGraphicFramePr>
          <p:nvPr/>
        </p:nvGraphicFramePr>
        <p:xfrm>
          <a:off x="6309360" y="2148840"/>
          <a:ext cx="5330952" cy="2057400"/>
        </p:xfrm>
        <a:graphic>
          <a:graphicData uri="http://schemas.openxmlformats.org/drawingml/2006/table">
            <a:tbl>
              <a:tblPr>
                <a:tableStyleId>{2D5ABB26-0587-4C30-8999-92F81FD0307C}</a:tableStyleId>
              </a:tblPr>
              <a:tblGrid>
                <a:gridCol w="2788920"/>
                <a:gridCol w="1417320"/>
                <a:gridCol w="1124712"/>
              </a:tblGrid>
              <a:tr h="411480">
                <a:tc>
                  <a:txBody>
                    <a:bodyPr wrap="square"/>
                    <a:lstStyle/>
                    <a:p>
                      <a:pPr algn="l"/>
                      <a:r>
                        <a:rPr sz="1300" b="1">
                          <a:solidFill>
                            <a:srgbClr val="FFFFFF"/>
                          </a:solidFill>
                          <a:latin typeface="Calibri"/>
                        </a:rPr>
                        <a:t>Policy</a:t>
                      </a:r>
                    </a:p>
                  </a:txBody>
                  <a:tcPr marL="73152" marR="73152" marT="18288" marB="18288" anchor="ctr">
                    <a:solidFill>
                      <a:srgbClr val="0F2B3A"/>
                    </a:solidFill>
                  </a:tcPr>
                </a:tc>
                <a:tc>
                  <a:txBody>
                    <a:bodyPr wrap="square"/>
                    <a:lstStyle/>
                    <a:p>
                      <a:pPr algn="r"/>
                      <a:r>
                        <a:rPr sz="1300" b="1">
                          <a:solidFill>
                            <a:srgbClr val="FFFFFF"/>
                          </a:solidFill>
                          <a:latin typeface="Calibri"/>
                        </a:rPr>
                        <a:t>Seven-day week</a:t>
                      </a:r>
                    </a:p>
                  </a:txBody>
                  <a:tcPr marL="73152" marR="73152" marT="18288" marB="18288" anchor="ctr">
                    <a:solidFill>
                      <a:srgbClr val="0F2B3A"/>
                    </a:solidFill>
                  </a:tcPr>
                </a:tc>
                <a:tc>
                  <a:txBody>
                    <a:bodyPr wrap="square"/>
                    <a:lstStyle/>
                    <a:p>
                      <a:pPr algn="r"/>
                      <a:r>
                        <a:rPr sz="1300" b="1">
                          <a:solidFill>
                            <a:srgbClr val="FFFFFF"/>
                          </a:solidFill>
                          <a:latin typeface="Calibri"/>
                        </a:rPr>
                        <a:t>Sundays off</a:t>
                      </a:r>
                    </a:p>
                  </a:txBody>
                  <a:tcPr marL="73152" marR="73152" marT="18288" marB="18288" anchor="ctr">
                    <a:solidFill>
                      <a:srgbClr val="0F2B3A"/>
                    </a:solidFill>
                  </a:tcPr>
                </a:tc>
              </a:tr>
              <a:tr h="411480">
                <a:tc>
                  <a:txBody>
                    <a:bodyPr wrap="square"/>
                    <a:lstStyle/>
                    <a:p>
                      <a:pPr algn="l"/>
                      <a:r>
                        <a:rPr sz="1300" b="0">
                          <a:solidFill>
                            <a:srgbClr val="14232E"/>
                          </a:solidFill>
                          <a:latin typeface="Calibri"/>
                        </a:rPr>
                        <a:t>random</a:t>
                      </a:r>
                    </a:p>
                  </a:txBody>
                  <a:tcPr marL="73152" marR="73152" marT="18288" marB="18288" anchor="ctr">
                    <a:solidFill>
                      <a:srgbClr val="FFFFFF"/>
                    </a:solidFill>
                  </a:tcPr>
                </a:tc>
                <a:tc>
                  <a:txBody>
                    <a:bodyPr wrap="square"/>
                    <a:lstStyle/>
                    <a:p>
                      <a:pPr algn="r"/>
                      <a:r>
                        <a:rPr sz="1300" b="0">
                          <a:solidFill>
                            <a:srgbClr val="14232E"/>
                          </a:solidFill>
                          <a:latin typeface="Calibri"/>
                        </a:rPr>
                        <a:t>34.2</a:t>
                      </a:r>
                    </a:p>
                  </a:txBody>
                  <a:tcPr marL="73152" marR="73152" marT="18288" marB="18288" anchor="ctr">
                    <a:solidFill>
                      <a:srgbClr val="FFFFFF"/>
                    </a:solidFill>
                  </a:tcPr>
                </a:tc>
                <a:tc>
                  <a:txBody>
                    <a:bodyPr wrap="square"/>
                    <a:lstStyle/>
                    <a:p>
                      <a:pPr algn="r"/>
                      <a:r>
                        <a:rPr sz="1300" b="0">
                          <a:solidFill>
                            <a:srgbClr val="14232E"/>
                          </a:solidFill>
                          <a:latin typeface="Calibri"/>
                        </a:rPr>
                        <a:t>50.2</a:t>
                      </a:r>
                    </a:p>
                  </a:txBody>
                  <a:tcPr marL="73152" marR="73152" marT="18288" marB="18288" anchor="ctr">
                    <a:solidFill>
                      <a:srgbClr val="FFFFFF"/>
                    </a:solidFill>
                  </a:tcPr>
                </a:tc>
              </a:tr>
              <a:tr h="411480">
                <a:tc>
                  <a:txBody>
                    <a:bodyPr wrap="square"/>
                    <a:lstStyle/>
                    <a:p>
                      <a:pPr algn="l"/>
                      <a:r>
                        <a:rPr sz="1300" b="0">
                          <a:solidFill>
                            <a:srgbClr val="14232E"/>
                          </a:solidFill>
                          <a:latin typeface="Calibri"/>
                        </a:rPr>
                        <a:t>earliest_finish  (simple rule)</a:t>
                      </a:r>
                    </a:p>
                  </a:txBody>
                  <a:tcPr marL="73152" marR="73152" marT="18288" marB="18288" anchor="ctr">
                    <a:solidFill>
                      <a:srgbClr val="FDEBE3"/>
                    </a:solidFill>
                  </a:tcPr>
                </a:tc>
                <a:tc>
                  <a:txBody>
                    <a:bodyPr wrap="square"/>
                    <a:lstStyle/>
                    <a:p>
                      <a:pPr algn="r"/>
                      <a:r>
                        <a:rPr sz="1300" b="0">
                          <a:solidFill>
                            <a:srgbClr val="14232E"/>
                          </a:solidFill>
                          <a:latin typeface="Calibri"/>
                        </a:rPr>
                        <a:t>1.7</a:t>
                      </a:r>
                    </a:p>
                  </a:txBody>
                  <a:tcPr marL="73152" marR="73152" marT="18288" marB="18288" anchor="ctr">
                    <a:solidFill>
                      <a:srgbClr val="FDEBE3"/>
                    </a:solidFill>
                  </a:tcPr>
                </a:tc>
                <a:tc>
                  <a:txBody>
                    <a:bodyPr wrap="square"/>
                    <a:lstStyle/>
                    <a:p>
                      <a:pPr algn="r"/>
                      <a:r>
                        <a:rPr sz="1300" b="0">
                          <a:solidFill>
                            <a:srgbClr val="14232E"/>
                          </a:solidFill>
                          <a:latin typeface="Calibri"/>
                        </a:rPr>
                        <a:t>3.7</a:t>
                      </a:r>
                    </a:p>
                  </a:txBody>
                  <a:tcPr marL="73152" marR="73152" marT="18288" marB="18288" anchor="ctr">
                    <a:solidFill>
                      <a:srgbClr val="FDEBE3"/>
                    </a:solidFill>
                  </a:tcPr>
                </a:tc>
              </a:tr>
              <a:tr h="411480">
                <a:tc>
                  <a:txBody>
                    <a:bodyPr wrap="square"/>
                    <a:lstStyle/>
                    <a:p>
                      <a:pPr algn="l"/>
                      <a:r>
                        <a:rPr sz="1300" b="1">
                          <a:solidFill>
                            <a:srgbClr val="14232E"/>
                          </a:solidFill>
                          <a:latin typeface="Calibri"/>
                        </a:rPr>
                        <a:t>lateness rule  (ours)</a:t>
                      </a:r>
                    </a:p>
                  </a:txBody>
                  <a:tcPr marL="73152" marR="73152" marT="18288" marB="18288" anchor="ctr">
                    <a:solidFill>
                      <a:srgbClr val="E6F0FC"/>
                    </a:solidFill>
                  </a:tcPr>
                </a:tc>
                <a:tc>
                  <a:txBody>
                    <a:bodyPr wrap="square"/>
                    <a:lstStyle/>
                    <a:p>
                      <a:pPr algn="r"/>
                      <a:r>
                        <a:rPr sz="1300" b="1">
                          <a:solidFill>
                            <a:srgbClr val="14232E"/>
                          </a:solidFill>
                          <a:latin typeface="Calibri"/>
                        </a:rPr>
                        <a:t>1.7</a:t>
                      </a:r>
                    </a:p>
                  </a:txBody>
                  <a:tcPr marL="73152" marR="73152" marT="18288" marB="18288" anchor="ctr">
                    <a:solidFill>
                      <a:srgbClr val="E6F0FC"/>
                    </a:solidFill>
                  </a:tcPr>
                </a:tc>
                <a:tc>
                  <a:txBody>
                    <a:bodyPr wrap="square"/>
                    <a:lstStyle/>
                    <a:p>
                      <a:pPr algn="r"/>
                      <a:r>
                        <a:rPr sz="1300" b="1">
                          <a:solidFill>
                            <a:srgbClr val="14232E"/>
                          </a:solidFill>
                          <a:latin typeface="Calibri"/>
                        </a:rPr>
                        <a:t>2.1</a:t>
                      </a:r>
                    </a:p>
                  </a:txBody>
                  <a:tcPr marL="73152" marR="73152" marT="18288" marB="18288" anchor="ctr">
                    <a:solidFill>
                      <a:srgbClr val="E6F0FC"/>
                    </a:solidFill>
                  </a:tcPr>
                </a:tc>
              </a:tr>
              <a:tr h="411480">
                <a:tc>
                  <a:txBody>
                    <a:bodyPr wrap="square"/>
                    <a:lstStyle/>
                    <a:p>
                      <a:pPr algn="l"/>
                      <a:r>
                        <a:rPr sz="1300" b="1">
                          <a:solidFill>
                            <a:srgbClr val="14232E"/>
                          </a:solidFill>
                          <a:latin typeface="Calibri"/>
                        </a:rPr>
                        <a:t>lateness rule, estimate knows Sundays</a:t>
                      </a:r>
                    </a:p>
                  </a:txBody>
                  <a:tcPr marL="73152" marR="73152" marT="18288" marB="18288" anchor="ctr">
                    <a:solidFill>
                      <a:srgbClr val="E6F0FC"/>
                    </a:solidFill>
                  </a:tcPr>
                </a:tc>
                <a:tc>
                  <a:txBody>
                    <a:bodyPr wrap="square"/>
                    <a:lstStyle/>
                    <a:p>
                      <a:pPr algn="r"/>
                      <a:r>
                        <a:rPr sz="1300" b="1">
                          <a:solidFill>
                            <a:srgbClr val="14232E"/>
                          </a:solidFill>
                          <a:latin typeface="Calibri"/>
                        </a:rPr>
                        <a:t>1.7</a:t>
                      </a:r>
                    </a:p>
                  </a:txBody>
                  <a:tcPr marL="73152" marR="73152" marT="18288" marB="18288" anchor="ctr">
                    <a:solidFill>
                      <a:srgbClr val="E6F0FC"/>
                    </a:solidFill>
                  </a:tcPr>
                </a:tc>
                <a:tc>
                  <a:txBody>
                    <a:bodyPr wrap="square"/>
                    <a:lstStyle/>
                    <a:p>
                      <a:pPr algn="r"/>
                      <a:r>
                        <a:rPr sz="1300" b="1">
                          <a:solidFill>
                            <a:srgbClr val="14232E"/>
                          </a:solidFill>
                          <a:latin typeface="Calibri"/>
                        </a:rPr>
                        <a:t>1.8</a:t>
                      </a:r>
                    </a:p>
                  </a:txBody>
                  <a:tcPr marL="73152" marR="73152" marT="18288" marB="18288" anchor="ctr">
                    <a:solidFill>
                      <a:srgbClr val="E6F0FC"/>
                    </a:solidFill>
                  </a:tcPr>
                </a:tc>
              </a:tr>
            </a:tbl>
          </a:graphicData>
        </a:graphic>
      </p:graphicFrame>
      <p:sp>
        <p:nvSpPr>
          <p:cNvPr id="13" name="Note"/>
          <p:cNvSpPr txBox="1"/>
          <p:nvPr/>
        </p:nvSpPr>
        <p:spPr>
          <a:xfrm>
            <a:off x="6309360" y="4389120"/>
            <a:ext cx="5330952" cy="1463040"/>
          </a:xfrm>
          <a:prstGeom prst="rect">
            <a:avLst/>
          </a:prstGeom>
          <a:noFill/>
        </p:spPr>
        <p:txBody>
          <a:bodyPr wrap="square" lIns="0" rIns="0" tIns="0" bIns="0" anchor="t">
            <a:noAutofit/>
          </a:bodyPr>
          <a:lstStyle/>
          <a:p>
            <a:pPr algn="l">
              <a:lnSpc>
                <a:spcPct val="100000"/>
              </a:lnSpc>
              <a:spcBef>
                <a:spcPts val="0"/>
              </a:spcBef>
              <a:spcAft>
                <a:spcPts val="0"/>
              </a:spcAft>
            </a:pPr>
            <a:r>
              <a:rPr sz="1250" b="0" i="0">
                <a:solidFill>
                  <a:srgbClr val="52606B"/>
                </a:solidFill>
                <a:latin typeface="Calibri"/>
              </a:rPr>
              <a:t>Same orders, same defect draws; only change: no work on Sundays. The allocators are not told. With the Sunday rule switched off the variant reproduces simulate.py exactly.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94415" cy="1188720"/>
          </a:xfrm>
          <a:prstGeom prst="rect">
            <a:avLst/>
          </a:prstGeom>
          <a:noFill/>
        </p:spPr>
        <p:txBody>
          <a:bodyPr wrap="square" lIns="0" rIns="0" tIns="0" bIns="0" anchor="t">
            <a:noAutofit/>
          </a:bodyPr>
          <a:lstStyle/>
          <a:p>
            <a:pPr algn="l">
              <a:lnSpc>
                <a:spcPct val="98000"/>
              </a:lnSpc>
              <a:spcBef>
                <a:spcPts val="0"/>
              </a:spcBef>
              <a:spcAft>
                <a:spcPts val="0"/>
              </a:spcAft>
            </a:pPr>
            <a:r>
              <a:rPr sz="3400" b="1" i="0">
                <a:solidFill>
                  <a:srgbClr val="14232E"/>
                </a:solidFill>
                <a:latin typeface="Cambria"/>
              </a:rPr>
              <a:t>Appendix E · Our rule ties the simple rule on the official data, and wins when the data moves</a:t>
            </a:r>
          </a:p>
        </p:txBody>
      </p:sp>
      <p:sp>
        <p:nvSpPr>
          <p:cNvPr id="3" name="Footer"/>
          <p:cNvSpPr txBox="1"/>
          <p:nvPr/>
        </p:nvSpPr>
        <p:spPr>
          <a:xfrm>
            <a:off x="548640" y="6446520"/>
            <a:ext cx="82296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2606B"/>
                </a:solidFill>
                <a:latin typeface="Calibri"/>
              </a:rPr>
              <a:t>DSS5105 Capstone  ·  Track 2  ·  Subcontracting Desk  ·  Sprint 1</a:t>
            </a:r>
          </a:p>
        </p:txBody>
      </p:sp>
      <p:sp>
        <p:nvSpPr>
          <p:cNvPr id="4" name="Slide number"/>
          <p:cNvSpPr txBox="1"/>
          <p:nvPr/>
        </p:nvSpPr>
        <p:spPr>
          <a:xfrm>
            <a:off x="10728655" y="6446520"/>
            <a:ext cx="9144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2606B"/>
                </a:solidFill>
                <a:latin typeface="Calibri"/>
              </a:rPr>
              <a:t>11</a:t>
            </a:r>
          </a:p>
        </p:txBody>
      </p:sp>
      <p:sp>
        <p:nvSpPr>
          <p:cNvPr id="5" name="Backup tag"/>
          <p:cNvSpPr txBox="1"/>
          <p:nvPr/>
        </p:nvSpPr>
        <p:spPr>
          <a:xfrm>
            <a:off x="10180015" y="146304"/>
            <a:ext cx="1463040" cy="237744"/>
          </a:xfrm>
          <a:prstGeom prst="rect">
            <a:avLst/>
          </a:prstGeom>
          <a:noFill/>
        </p:spPr>
        <p:txBody>
          <a:bodyPr wrap="square" lIns="0" rIns="0" tIns="0" bIns="0" anchor="t">
            <a:noAutofit/>
          </a:bodyPr>
          <a:lstStyle/>
          <a:p>
            <a:pPr algn="r">
              <a:lnSpc>
                <a:spcPct val="100000"/>
              </a:lnSpc>
              <a:spcBef>
                <a:spcPts val="0"/>
              </a:spcBef>
              <a:spcAft>
                <a:spcPts val="0"/>
              </a:spcAft>
            </a:pPr>
            <a:r>
              <a:rPr sz="1050" b="1" i="0">
                <a:solidFill>
                  <a:srgbClr val="52606B"/>
                </a:solidFill>
                <a:latin typeface="Calibri"/>
              </a:rPr>
              <a:t>BACKUP SLIDE</a:t>
            </a:r>
          </a:p>
        </p:txBody>
      </p:sp>
      <p:pic>
        <p:nvPicPr>
          <p:cNvPr id="6" name="Picture" descr="Paired bars of late batches for the simple rule and our rule on five kinds of data"/>
          <p:cNvPicPr>
            <a:picLocks noChangeAspect="1"/>
          </p:cNvPicPr>
          <p:nvPr/>
        </p:nvPicPr>
        <p:blipFill>
          <a:blip r:embed="rId2"/>
          <a:stretch>
            <a:fillRect/>
          </a:stretch>
        </p:blipFill>
        <p:spPr>
          <a:xfrm>
            <a:off x="548640" y="1783080"/>
            <a:ext cx="5760720" cy="4050791"/>
          </a:xfrm>
          <a:prstGeom prst="rect">
            <a:avLst/>
          </a:prstGeom>
        </p:spPr>
      </p:pic>
      <p:sp>
        <p:nvSpPr>
          <p:cNvPr id="7" name="Source"/>
          <p:cNvSpPr txBox="1"/>
          <p:nvPr/>
        </p:nvSpPr>
        <p:spPr>
          <a:xfrm>
            <a:off x="548640" y="5897880"/>
            <a:ext cx="6035040" cy="457200"/>
          </a:xfrm>
          <a:prstGeom prst="rect">
            <a:avLst/>
          </a:prstGeom>
          <a:noFill/>
        </p:spPr>
        <p:txBody>
          <a:bodyPr wrap="square" lIns="0" rIns="0" tIns="0" bIns="0" anchor="t">
            <a:noAutofit/>
          </a:bodyPr>
          <a:lstStyle/>
          <a:p>
            <a:pPr algn="l">
              <a:lnSpc>
                <a:spcPct val="100000"/>
              </a:lnSpc>
              <a:spcBef>
                <a:spcPts val="0"/>
              </a:spcBef>
              <a:spcAft>
                <a:spcPts val="0"/>
              </a:spcAft>
            </a:pPr>
            <a:r>
              <a:rPr sz="1050" b="0" i="0">
                <a:solidFill>
                  <a:srgbClr val="52606B"/>
                </a:solidFill>
                <a:latin typeface="Calibri"/>
              </a:rPr>
              <a:t>Official: seeds 5105 to 5114. Fresh sets were generated after the rule was fixed (seeds 20000+), 3 seeds each. The allocators are not told about Sundays.</a:t>
            </a:r>
          </a:p>
        </p:txBody>
      </p:sp>
      <p:sp>
        <p:nvSpPr>
          <p:cNvPr id="8" name="Rule"/>
          <p:cNvSpPr txBox="1"/>
          <p:nvPr/>
        </p:nvSpPr>
        <p:spPr>
          <a:xfrm>
            <a:off x="6949440" y="1828800"/>
            <a:ext cx="4690872" cy="1463040"/>
          </a:xfrm>
          <a:prstGeom prst="rect">
            <a:avLst/>
          </a:prstGeom>
          <a:noFill/>
        </p:spPr>
        <p:txBody>
          <a:bodyPr wrap="square" lIns="0" rIns="0" tIns="0" bIns="0" anchor="t">
            <a:noAutofit/>
          </a:bodyPr>
          <a:lstStyle/>
          <a:p>
            <a:pPr algn="l">
              <a:lnSpc>
                <a:spcPct val="100000"/>
              </a:lnSpc>
              <a:spcBef>
                <a:spcPts val="0"/>
              </a:spcBef>
              <a:spcAft>
                <a:spcPts val="0"/>
              </a:spcAft>
            </a:pPr>
            <a:r>
              <a:rPr sz="1350" b="1" i="0">
                <a:solidFill>
                  <a:srgbClr val="14232E"/>
                </a:solidFill>
                <a:latin typeface="Calibri"/>
              </a:rPr>
              <a:t>The rule, in order: </a:t>
            </a:r>
            <a:r>
              <a:rPr sz="1350" b="0" i="0">
                <a:solidFill>
                  <a:srgbClr val="14232E"/>
                </a:solidFill>
                <a:latin typeface="Calibri"/>
              </a:rPr>
              <a:t>on time even if the batch is reworked; then the least flexible shop (a specialist before one that makes both categories); then earliest finish.</a:t>
            </a:r>
          </a:p>
        </p:txBody>
      </p:sp>
      <p:sp>
        <p:nvSpPr>
          <p:cNvPr id="9" name="Findings"/>
          <p:cNvSpPr txBox="1"/>
          <p:nvPr/>
        </p:nvSpPr>
        <p:spPr>
          <a:xfrm>
            <a:off x="6949440" y="3383280"/>
            <a:ext cx="4690872" cy="2743200"/>
          </a:xfrm>
          <a:prstGeom prst="rect">
            <a:avLst/>
          </a:prstGeom>
          <a:noFill/>
        </p:spPr>
        <p:txBody>
          <a:bodyPr wrap="square" lIns="0" rIns="0" tIns="0" bIns="0" anchor="t">
            <a:noAutofit/>
          </a:bodyPr>
          <a:lstStyle/>
          <a:p>
            <a:pPr algn="l" marL="201168" indent="-201168">
              <a:lnSpc>
                <a:spcPct val="100000"/>
              </a:lnSpc>
              <a:spcBef>
                <a:spcPts val="0"/>
              </a:spcBef>
              <a:spcAft>
                <a:spcPts val="800"/>
              </a:spcAft>
              <a:buFont typeface="Arial"/>
              <a:buChar char="•"/>
            </a:pPr>
            <a:r>
              <a:rPr sz="1350" b="1" i="0">
                <a:solidFill>
                  <a:srgbClr val="14232E"/>
                </a:solidFill>
                <a:latin typeface="Calibri"/>
              </a:rPr>
              <a:t>Why it helps: </a:t>
            </a:r>
            <a:r>
              <a:rPr sz="1350" b="0" i="0">
                <a:solidFill>
                  <a:srgbClr val="14232E"/>
                </a:solidFill>
                <a:latin typeface="Calibri"/>
              </a:rPr>
              <a:t>earliest-finish spends the fast, flexible shops on batches that had slack; the next tight batch then has nowhere to go.</a:t>
            </a:r>
          </a:p>
          <a:p>
            <a:pPr algn="l" marL="201168" indent="-201168">
              <a:lnSpc>
                <a:spcPct val="100000"/>
              </a:lnSpc>
              <a:spcBef>
                <a:spcPts val="0"/>
              </a:spcBef>
              <a:spcAft>
                <a:spcPts val="800"/>
              </a:spcAft>
              <a:buFont typeface="Arial"/>
              <a:buChar char="•"/>
            </a:pPr>
            <a:r>
              <a:rPr sz="1350" b="1" i="0">
                <a:solidFill>
                  <a:srgbClr val="14232E"/>
                </a:solidFill>
                <a:latin typeface="Calibri"/>
              </a:rPr>
              <a:t>Official data: </a:t>
            </a:r>
            <a:r>
              <a:rPr sz="1350" b="0" i="0">
                <a:solidFill>
                  <a:srgbClr val="14232E"/>
                </a:solidFill>
                <a:latin typeface="Calibri"/>
              </a:rPr>
              <a:t>a tie on late batches (1.7%), half the late days (0.09 against 0.18).</a:t>
            </a:r>
          </a:p>
          <a:p>
            <a:pPr algn="l" marL="201168" indent="-201168">
              <a:lnSpc>
                <a:spcPct val="100000"/>
              </a:lnSpc>
              <a:spcBef>
                <a:spcPts val="0"/>
              </a:spcBef>
              <a:spcAft>
                <a:spcPts val="800"/>
              </a:spcAft>
              <a:buFont typeface="Arial"/>
              <a:buChar char="•"/>
            </a:pPr>
            <a:r>
              <a:rPr sz="1350" b="1" i="0">
                <a:solidFill>
                  <a:srgbClr val="14232E"/>
                </a:solidFill>
                <a:latin typeface="Calibri"/>
              </a:rPr>
              <a:t>Fresh data: </a:t>
            </a:r>
            <a:r>
              <a:rPr sz="1350" b="0" i="0">
                <a:solidFill>
                  <a:srgbClr val="14232E"/>
                </a:solidFill>
                <a:latin typeface="Calibri"/>
              </a:rPr>
              <a:t>better on 72 of 100 jittered order books, worse on 3.</a:t>
            </a:r>
          </a:p>
          <a:p>
            <a:pPr algn="l" marL="201168" indent="-201168">
              <a:lnSpc>
                <a:spcPct val="100000"/>
              </a:lnSpc>
              <a:spcBef>
                <a:spcPts val="0"/>
              </a:spcBef>
              <a:spcAft>
                <a:spcPts val="0"/>
              </a:spcAft>
              <a:buFont typeface="Arial"/>
              <a:buChar char="•"/>
            </a:pPr>
            <a:r>
              <a:rPr sz="1350" b="1" i="0">
                <a:solidFill>
                  <a:srgbClr val="14232E"/>
                </a:solidFill>
                <a:latin typeface="Calibri"/>
              </a:rPr>
              <a:t>Where the simple rule still wins: </a:t>
            </a:r>
            <a:r>
              <a:rPr sz="1350" b="0" i="0">
                <a:solidFill>
                  <a:srgbClr val="14232E"/>
                </a:solidFill>
                <a:latin typeface="Calibri"/>
              </a:rPr>
              <a:t>mean turnaround, 8.3 against 9.3 days; the shock run, by one batch in ten.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84048"/>
            <a:ext cx="11094415" cy="1188720"/>
          </a:xfrm>
          <a:prstGeom prst="rect">
            <a:avLst/>
          </a:prstGeom>
          <a:noFill/>
        </p:spPr>
        <p:txBody>
          <a:bodyPr wrap="square" lIns="0" rIns="0" tIns="0" bIns="0" anchor="t">
            <a:noAutofit/>
          </a:bodyPr>
          <a:lstStyle/>
          <a:p>
            <a:pPr algn="l">
              <a:lnSpc>
                <a:spcPct val="98000"/>
              </a:lnSpc>
              <a:spcBef>
                <a:spcPts val="0"/>
              </a:spcBef>
              <a:spcAft>
                <a:spcPts val="0"/>
              </a:spcAft>
            </a:pPr>
            <a:r>
              <a:rPr sz="3400" b="1" i="0">
                <a:solidFill>
                  <a:srgbClr val="14232E"/>
                </a:solidFill>
                <a:latin typeface="Cambria"/>
              </a:rPr>
              <a:t>Appendix F · Why not the setting with 1.0% late? Its edge does not hold on fresh data</a:t>
            </a:r>
          </a:p>
        </p:txBody>
      </p:sp>
      <p:sp>
        <p:nvSpPr>
          <p:cNvPr id="3" name="Footer"/>
          <p:cNvSpPr txBox="1"/>
          <p:nvPr/>
        </p:nvSpPr>
        <p:spPr>
          <a:xfrm>
            <a:off x="548640" y="6446520"/>
            <a:ext cx="8229600" cy="22860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2606B"/>
                </a:solidFill>
                <a:latin typeface="Calibri"/>
              </a:rPr>
              <a:t>DSS5105 Capstone  ·  Track 2  ·  Subcontracting Desk  ·  Sprint 1</a:t>
            </a:r>
          </a:p>
        </p:txBody>
      </p:sp>
      <p:sp>
        <p:nvSpPr>
          <p:cNvPr id="4" name="Slide number"/>
          <p:cNvSpPr txBox="1"/>
          <p:nvPr/>
        </p:nvSpPr>
        <p:spPr>
          <a:xfrm>
            <a:off x="10728655" y="6446520"/>
            <a:ext cx="91440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i="0">
                <a:solidFill>
                  <a:srgbClr val="52606B"/>
                </a:solidFill>
                <a:latin typeface="Calibri"/>
              </a:rPr>
              <a:t>12</a:t>
            </a:r>
          </a:p>
        </p:txBody>
      </p:sp>
      <p:sp>
        <p:nvSpPr>
          <p:cNvPr id="5" name="Backup tag"/>
          <p:cNvSpPr txBox="1"/>
          <p:nvPr/>
        </p:nvSpPr>
        <p:spPr>
          <a:xfrm>
            <a:off x="10180015" y="146304"/>
            <a:ext cx="1463040" cy="237744"/>
          </a:xfrm>
          <a:prstGeom prst="rect">
            <a:avLst/>
          </a:prstGeom>
          <a:noFill/>
        </p:spPr>
        <p:txBody>
          <a:bodyPr wrap="square" lIns="0" rIns="0" tIns="0" bIns="0" anchor="t">
            <a:noAutofit/>
          </a:bodyPr>
          <a:lstStyle/>
          <a:p>
            <a:pPr algn="r">
              <a:lnSpc>
                <a:spcPct val="100000"/>
              </a:lnSpc>
              <a:spcBef>
                <a:spcPts val="0"/>
              </a:spcBef>
              <a:spcAft>
                <a:spcPts val="0"/>
              </a:spcAft>
            </a:pPr>
            <a:r>
              <a:rPr sz="1050" b="1" i="0">
                <a:solidFill>
                  <a:srgbClr val="52606B"/>
                </a:solidFill>
                <a:latin typeface="Calibri"/>
              </a:rPr>
              <a:t>BACKUP SLIDE</a:t>
            </a:r>
          </a:p>
        </p:txBody>
      </p:sp>
      <p:sp>
        <p:nvSpPr>
          <p:cNvPr id="6" name="Intro"/>
          <p:cNvSpPr txBox="1"/>
          <p:nvPr/>
        </p:nvSpPr>
        <p:spPr>
          <a:xfrm>
            <a:off x="548640" y="1737360"/>
            <a:ext cx="11064240" cy="640080"/>
          </a:xfrm>
          <a:prstGeom prst="rect">
            <a:avLst/>
          </a:prstGeom>
          <a:noFill/>
        </p:spPr>
        <p:txBody>
          <a:bodyPr wrap="square" lIns="0" rIns="0" tIns="0" bIns="0" anchor="t">
            <a:noAutofit/>
          </a:bodyPr>
          <a:lstStyle/>
          <a:p>
            <a:pPr algn="l">
              <a:lnSpc>
                <a:spcPct val="100000"/>
              </a:lnSpc>
              <a:spcBef>
                <a:spcPts val="0"/>
              </a:spcBef>
              <a:spcAft>
                <a:spcPts val="0"/>
              </a:spcAft>
            </a:pPr>
            <a:r>
              <a:rPr sz="1250" b="0" i="0">
                <a:solidFill>
                  <a:srgbClr val="14232E"/>
                </a:solidFill>
                <a:latin typeface="Calibri"/>
              </a:rPr>
              <a:t>Both settings share steps 1 and 2 (rework-safe shops, specialist first) and differ only in the tie-break: earliest finish, or the latest finish that is still safe (use_slack). Paired runs on the same data and seeds; a sign test on how often use_slack is later or earlier.</a:t>
            </a:r>
          </a:p>
        </p:txBody>
      </p:sp>
      <p:graphicFrame>
        <p:nvGraphicFramePr>
          <p:cNvPr id="7" name="Head to head"/>
          <p:cNvGraphicFramePr>
            <a:graphicFrameLocks noGrp="1"/>
          </p:cNvGraphicFramePr>
          <p:nvPr/>
        </p:nvGraphicFramePr>
        <p:xfrm>
          <a:off x="548640" y="2468880"/>
          <a:ext cx="11064240" cy="2304288"/>
        </p:xfrm>
        <a:graphic>
          <a:graphicData uri="http://schemas.openxmlformats.org/drawingml/2006/table">
            <a:tbl>
              <a:tblPr>
                <a:tableStyleId>{2D5ABB26-0587-4C30-8999-92F81FD0307C}</a:tableStyleId>
              </a:tblPr>
              <a:tblGrid>
                <a:gridCol w="2834640"/>
                <a:gridCol w="731520"/>
                <a:gridCol w="2743200"/>
                <a:gridCol w="1005840"/>
                <a:gridCol w="2103120"/>
                <a:gridCol w="1645920"/>
              </a:tblGrid>
              <a:tr h="384048">
                <a:tc>
                  <a:txBody>
                    <a:bodyPr wrap="square"/>
                    <a:lstStyle/>
                    <a:p>
                      <a:pPr algn="l"/>
                      <a:r>
                        <a:rPr sz="1200" b="1">
                          <a:solidFill>
                            <a:srgbClr val="FFFFFF"/>
                          </a:solidFill>
                          <a:latin typeface="Calibri"/>
                        </a:rPr>
                        <a:t>Data</a:t>
                      </a:r>
                    </a:p>
                  </a:txBody>
                  <a:tcPr marL="73152" marR="73152" marT="18288" marB="18288" anchor="ctr">
                    <a:solidFill>
                      <a:srgbClr val="0F2B3A"/>
                    </a:solidFill>
                  </a:tcPr>
                </a:tc>
                <a:tc>
                  <a:txBody>
                    <a:bodyPr wrap="square"/>
                    <a:lstStyle/>
                    <a:p>
                      <a:pPr algn="r"/>
                      <a:r>
                        <a:rPr sz="1200" b="1">
                          <a:solidFill>
                            <a:srgbClr val="FFFFFF"/>
                          </a:solidFill>
                          <a:latin typeface="Calibri"/>
                        </a:rPr>
                        <a:t>Runs</a:t>
                      </a:r>
                    </a:p>
                  </a:txBody>
                  <a:tcPr marL="73152" marR="73152" marT="18288" marB="18288" anchor="ctr">
                    <a:solidFill>
                      <a:srgbClr val="0F2B3A"/>
                    </a:solidFill>
                  </a:tcPr>
                </a:tc>
                <a:tc>
                  <a:txBody>
                    <a:bodyPr wrap="square"/>
                    <a:lstStyle/>
                    <a:p>
                      <a:pPr algn="r"/>
                      <a:r>
                        <a:rPr sz="1200" b="1">
                          <a:solidFill>
                            <a:srgbClr val="FFFFFF"/>
                          </a:solidFill>
                          <a:latin typeface="Calibri"/>
                        </a:rPr>
                        <a:t>use_slack better / equal / worse on late %</a:t>
                      </a:r>
                    </a:p>
                  </a:txBody>
                  <a:tcPr marL="73152" marR="73152" marT="18288" marB="18288" anchor="ctr">
                    <a:solidFill>
                      <a:srgbClr val="0F2B3A"/>
                    </a:solidFill>
                  </a:tcPr>
                </a:tc>
                <a:tc>
                  <a:txBody>
                    <a:bodyPr wrap="square"/>
                    <a:lstStyle/>
                    <a:p>
                      <a:pPr algn="r"/>
                      <a:r>
                        <a:rPr sz="1200" b="1">
                          <a:solidFill>
                            <a:srgbClr val="FFFFFF"/>
                          </a:solidFill>
                          <a:latin typeface="Calibri"/>
                        </a:rPr>
                        <a:t>Sign test p</a:t>
                      </a:r>
                    </a:p>
                  </a:txBody>
                  <a:tcPr marL="73152" marR="73152" marT="18288" marB="18288" anchor="ctr">
                    <a:solidFill>
                      <a:srgbClr val="0F2B3A"/>
                    </a:solidFill>
                  </a:tcPr>
                </a:tc>
                <a:tc>
                  <a:txBody>
                    <a:bodyPr wrap="square"/>
                    <a:lstStyle/>
                    <a:p>
                      <a:pPr algn="r"/>
                      <a:r>
                        <a:rPr sz="1200" b="1">
                          <a:solidFill>
                            <a:srgbClr val="FFFFFF"/>
                          </a:solidFill>
                          <a:latin typeface="Calibri"/>
                        </a:rPr>
                        <a:t>Mean late % (ours / use_slack)</a:t>
                      </a:r>
                    </a:p>
                  </a:txBody>
                  <a:tcPr marL="73152" marR="73152" marT="18288" marB="18288" anchor="ctr">
                    <a:solidFill>
                      <a:srgbClr val="0F2B3A"/>
                    </a:solidFill>
                  </a:tcPr>
                </a:tc>
                <a:tc>
                  <a:txBody>
                    <a:bodyPr wrap="square"/>
                    <a:lstStyle/>
                    <a:p>
                      <a:pPr algn="r"/>
                      <a:r>
                        <a:rPr sz="1200" b="1">
                          <a:solidFill>
                            <a:srgbClr val="FFFFFF"/>
                          </a:solidFill>
                          <a:latin typeface="Calibri"/>
                        </a:rPr>
                        <a:t>Mean turnaround, days</a:t>
                      </a:r>
                    </a:p>
                  </a:txBody>
                  <a:tcPr marL="73152" marR="73152" marT="18288" marB="18288" anchor="ctr">
                    <a:solidFill>
                      <a:srgbClr val="0F2B3A"/>
                    </a:solidFill>
                  </a:tcPr>
                </a:tc>
              </a:tr>
              <a:tr h="384048">
                <a:tc>
                  <a:txBody>
                    <a:bodyPr wrap="square"/>
                    <a:lstStyle/>
                    <a:p>
                      <a:pPr algn="l"/>
                      <a:r>
                        <a:rPr sz="1200" b="0">
                          <a:solidFill>
                            <a:srgbClr val="14232E"/>
                          </a:solidFill>
                          <a:latin typeface="Calibri"/>
                        </a:rPr>
                        <a:t>Official 120 orders, 10 seeds</a:t>
                      </a:r>
                    </a:p>
                  </a:txBody>
                  <a:tcPr marL="73152" marR="73152" marT="18288" marB="18288" anchor="ctr">
                    <a:solidFill>
                      <a:srgbClr val="FFFFFF"/>
                    </a:solidFill>
                  </a:tcPr>
                </a:tc>
                <a:tc>
                  <a:txBody>
                    <a:bodyPr wrap="square"/>
                    <a:lstStyle/>
                    <a:p>
                      <a:pPr algn="r"/>
                      <a:r>
                        <a:rPr sz="1200" b="0">
                          <a:solidFill>
                            <a:srgbClr val="14232E"/>
                          </a:solidFill>
                          <a:latin typeface="Calibri"/>
                        </a:rPr>
                        <a:t>10</a:t>
                      </a:r>
                    </a:p>
                  </a:txBody>
                  <a:tcPr marL="73152" marR="73152" marT="18288" marB="18288" anchor="ctr">
                    <a:solidFill>
                      <a:srgbClr val="FFFFFF"/>
                    </a:solidFill>
                  </a:tcPr>
                </a:tc>
                <a:tc>
                  <a:txBody>
                    <a:bodyPr wrap="square"/>
                    <a:lstStyle/>
                    <a:p>
                      <a:pPr algn="r"/>
                      <a:r>
                        <a:rPr sz="1200" b="0">
                          <a:solidFill>
                            <a:srgbClr val="14232E"/>
                          </a:solidFill>
                          <a:latin typeface="Calibri"/>
                        </a:rPr>
                        <a:t>8 / 2 / 0</a:t>
                      </a:r>
                    </a:p>
                  </a:txBody>
                  <a:tcPr marL="73152" marR="73152" marT="18288" marB="18288" anchor="ctr">
                    <a:solidFill>
                      <a:srgbClr val="FFFFFF"/>
                    </a:solidFill>
                  </a:tcPr>
                </a:tc>
                <a:tc>
                  <a:txBody>
                    <a:bodyPr wrap="square"/>
                    <a:lstStyle/>
                    <a:p>
                      <a:pPr algn="r"/>
                      <a:r>
                        <a:rPr sz="1200" b="0">
                          <a:solidFill>
                            <a:srgbClr val="14232E"/>
                          </a:solidFill>
                          <a:latin typeface="Calibri"/>
                        </a:rPr>
                        <a:t>0.008</a:t>
                      </a:r>
                    </a:p>
                  </a:txBody>
                  <a:tcPr marL="73152" marR="73152" marT="18288" marB="18288" anchor="ctr">
                    <a:solidFill>
                      <a:srgbClr val="FFFFFF"/>
                    </a:solidFill>
                  </a:tcPr>
                </a:tc>
                <a:tc>
                  <a:txBody>
                    <a:bodyPr wrap="square"/>
                    <a:lstStyle/>
                    <a:p>
                      <a:pPr algn="r"/>
                      <a:r>
                        <a:rPr sz="1200" b="0">
                          <a:solidFill>
                            <a:srgbClr val="14232E"/>
                          </a:solidFill>
                          <a:latin typeface="Calibri"/>
                        </a:rPr>
                        <a:t>1.67 / 1.00</a:t>
                      </a:r>
                    </a:p>
                  </a:txBody>
                  <a:tcPr marL="73152" marR="73152" marT="18288" marB="18288" anchor="ctr">
                    <a:solidFill>
                      <a:srgbClr val="FFFFFF"/>
                    </a:solidFill>
                  </a:tcPr>
                </a:tc>
                <a:tc>
                  <a:txBody>
                    <a:bodyPr wrap="square"/>
                    <a:lstStyle/>
                    <a:p>
                      <a:pPr algn="r"/>
                      <a:r>
                        <a:rPr sz="1200" b="0">
                          <a:solidFill>
                            <a:srgbClr val="14232E"/>
                          </a:solidFill>
                          <a:latin typeface="Calibri"/>
                        </a:rPr>
                        <a:t>9.3 / 14.0</a:t>
                      </a:r>
                    </a:p>
                  </a:txBody>
                  <a:tcPr marL="73152" marR="73152" marT="18288" marB="18288" anchor="ctr">
                    <a:solidFill>
                      <a:srgbClr val="FFFFFF"/>
                    </a:solidFill>
                  </a:tcPr>
                </a:tc>
              </a:tr>
              <a:tr h="384048">
                <a:tc>
                  <a:txBody>
                    <a:bodyPr wrap="square"/>
                    <a:lstStyle/>
                    <a:p>
                      <a:pPr algn="l"/>
                      <a:r>
                        <a:rPr sz="1200" b="0">
                          <a:solidFill>
                            <a:srgbClr val="14232E"/>
                          </a:solidFill>
                          <a:latin typeface="Calibri"/>
                        </a:rPr>
                        <a:t>Official, shock, 10 seeds</a:t>
                      </a:r>
                    </a:p>
                  </a:txBody>
                  <a:tcPr marL="73152" marR="73152" marT="18288" marB="18288" anchor="ctr">
                    <a:solidFill>
                      <a:srgbClr val="FFFFFF"/>
                    </a:solidFill>
                  </a:tcPr>
                </a:tc>
                <a:tc>
                  <a:txBody>
                    <a:bodyPr wrap="square"/>
                    <a:lstStyle/>
                    <a:p>
                      <a:pPr algn="r"/>
                      <a:r>
                        <a:rPr sz="1200" b="0">
                          <a:solidFill>
                            <a:srgbClr val="14232E"/>
                          </a:solidFill>
                          <a:latin typeface="Calibri"/>
                        </a:rPr>
                        <a:t>10</a:t>
                      </a:r>
                    </a:p>
                  </a:txBody>
                  <a:tcPr marL="73152" marR="73152" marT="18288" marB="18288" anchor="ctr">
                    <a:solidFill>
                      <a:srgbClr val="FFFFFF"/>
                    </a:solidFill>
                  </a:tcPr>
                </a:tc>
                <a:tc>
                  <a:txBody>
                    <a:bodyPr wrap="square"/>
                    <a:lstStyle/>
                    <a:p>
                      <a:pPr algn="r"/>
                      <a:r>
                        <a:rPr sz="1200" b="0">
                          <a:solidFill>
                            <a:srgbClr val="14232E"/>
                          </a:solidFill>
                          <a:latin typeface="Calibri"/>
                        </a:rPr>
                        <a:t>5 / 4 / 1</a:t>
                      </a:r>
                    </a:p>
                  </a:txBody>
                  <a:tcPr marL="73152" marR="73152" marT="18288" marB="18288" anchor="ctr">
                    <a:solidFill>
                      <a:srgbClr val="FFFFFF"/>
                    </a:solidFill>
                  </a:tcPr>
                </a:tc>
                <a:tc>
                  <a:txBody>
                    <a:bodyPr wrap="square"/>
                    <a:lstStyle/>
                    <a:p>
                      <a:pPr algn="r"/>
                      <a:r>
                        <a:rPr sz="1200" b="0">
                          <a:solidFill>
                            <a:srgbClr val="14232E"/>
                          </a:solidFill>
                          <a:latin typeface="Calibri"/>
                        </a:rPr>
                        <a:t>0.219</a:t>
                      </a:r>
                    </a:p>
                  </a:txBody>
                  <a:tcPr marL="73152" marR="73152" marT="18288" marB="18288" anchor="ctr">
                    <a:solidFill>
                      <a:srgbClr val="FFFFFF"/>
                    </a:solidFill>
                  </a:tcPr>
                </a:tc>
                <a:tc>
                  <a:txBody>
                    <a:bodyPr wrap="square"/>
                    <a:lstStyle/>
                    <a:p>
                      <a:pPr algn="r"/>
                      <a:r>
                        <a:rPr sz="1200" b="0">
                          <a:solidFill>
                            <a:srgbClr val="14232E"/>
                          </a:solidFill>
                          <a:latin typeface="Calibri"/>
                        </a:rPr>
                        <a:t>2.00 / 1.67</a:t>
                      </a:r>
                    </a:p>
                  </a:txBody>
                  <a:tcPr marL="73152" marR="73152" marT="18288" marB="18288" anchor="ctr">
                    <a:solidFill>
                      <a:srgbClr val="FFFFFF"/>
                    </a:solidFill>
                  </a:tcPr>
                </a:tc>
                <a:tc>
                  <a:txBody>
                    <a:bodyPr wrap="square"/>
                    <a:lstStyle/>
                    <a:p>
                      <a:pPr algn="r"/>
                      <a:r>
                        <a:rPr sz="1200" b="0">
                          <a:solidFill>
                            <a:srgbClr val="14232E"/>
                          </a:solidFill>
                          <a:latin typeface="Calibri"/>
                        </a:rPr>
                        <a:t>9.4 / 14.0</a:t>
                      </a:r>
                    </a:p>
                  </a:txBody>
                  <a:tcPr marL="73152" marR="73152" marT="18288" marB="18288" anchor="ctr">
                    <a:solidFill>
                      <a:srgbClr val="FFFFFF"/>
                    </a:solidFill>
                  </a:tcPr>
                </a:tc>
              </a:tr>
              <a:tr h="384048">
                <a:tc>
                  <a:txBody>
                    <a:bodyPr wrap="square"/>
                    <a:lstStyle/>
                    <a:p>
                      <a:pPr algn="l"/>
                      <a:r>
                        <a:rPr sz="1200" b="0">
                          <a:solidFill>
                            <a:srgbClr val="14232E"/>
                          </a:solidFill>
                          <a:latin typeface="Calibri"/>
                        </a:rPr>
                        <a:t>100 jittered order books</a:t>
                      </a:r>
                    </a:p>
                  </a:txBody>
                  <a:tcPr marL="73152" marR="73152" marT="18288" marB="18288" anchor="ctr">
                    <a:solidFill>
                      <a:srgbClr val="FFFFFF"/>
                    </a:solidFill>
                  </a:tcPr>
                </a:tc>
                <a:tc>
                  <a:txBody>
                    <a:bodyPr wrap="square"/>
                    <a:lstStyle/>
                    <a:p>
                      <a:pPr algn="r"/>
                      <a:r>
                        <a:rPr sz="1200" b="0">
                          <a:solidFill>
                            <a:srgbClr val="14232E"/>
                          </a:solidFill>
                          <a:latin typeface="Calibri"/>
                        </a:rPr>
                        <a:t>100</a:t>
                      </a:r>
                    </a:p>
                  </a:txBody>
                  <a:tcPr marL="73152" marR="73152" marT="18288" marB="18288" anchor="ctr">
                    <a:solidFill>
                      <a:srgbClr val="FFFFFF"/>
                    </a:solidFill>
                  </a:tcPr>
                </a:tc>
                <a:tc>
                  <a:txBody>
                    <a:bodyPr wrap="square"/>
                    <a:lstStyle/>
                    <a:p>
                      <a:pPr algn="r"/>
                      <a:r>
                        <a:rPr sz="1200" b="0">
                          <a:solidFill>
                            <a:srgbClr val="14232E"/>
                          </a:solidFill>
                          <a:latin typeface="Calibri"/>
                        </a:rPr>
                        <a:t>38 / 40 / 22</a:t>
                      </a:r>
                    </a:p>
                  </a:txBody>
                  <a:tcPr marL="73152" marR="73152" marT="18288" marB="18288" anchor="ctr">
                    <a:solidFill>
                      <a:srgbClr val="FFFFFF"/>
                    </a:solidFill>
                  </a:tcPr>
                </a:tc>
                <a:tc>
                  <a:txBody>
                    <a:bodyPr wrap="square"/>
                    <a:lstStyle/>
                    <a:p>
                      <a:pPr algn="r"/>
                      <a:r>
                        <a:rPr sz="1200" b="0">
                          <a:solidFill>
                            <a:srgbClr val="14232E"/>
                          </a:solidFill>
                          <a:latin typeface="Calibri"/>
                        </a:rPr>
                        <a:t>0.052</a:t>
                      </a:r>
                    </a:p>
                  </a:txBody>
                  <a:tcPr marL="73152" marR="73152" marT="18288" marB="18288" anchor="ctr">
                    <a:solidFill>
                      <a:srgbClr val="FFFFFF"/>
                    </a:solidFill>
                  </a:tcPr>
                </a:tc>
                <a:tc>
                  <a:txBody>
                    <a:bodyPr wrap="square"/>
                    <a:lstStyle/>
                    <a:p>
                      <a:pPr algn="r"/>
                      <a:r>
                        <a:rPr sz="1200" b="0">
                          <a:solidFill>
                            <a:srgbClr val="14232E"/>
                          </a:solidFill>
                          <a:latin typeface="Calibri"/>
                        </a:rPr>
                        <a:t>0.91 / 0.79</a:t>
                      </a:r>
                    </a:p>
                  </a:txBody>
                  <a:tcPr marL="73152" marR="73152" marT="18288" marB="18288" anchor="ctr">
                    <a:solidFill>
                      <a:srgbClr val="FFFFFF"/>
                    </a:solidFill>
                  </a:tcPr>
                </a:tc>
                <a:tc>
                  <a:txBody>
                    <a:bodyPr wrap="square"/>
                    <a:lstStyle/>
                    <a:p>
                      <a:pPr algn="r"/>
                      <a:r>
                        <a:rPr sz="1200" b="0">
                          <a:solidFill>
                            <a:srgbClr val="14232E"/>
                          </a:solidFill>
                          <a:latin typeface="Calibri"/>
                        </a:rPr>
                        <a:t>8.8 / 13.6</a:t>
                      </a:r>
                    </a:p>
                  </a:txBody>
                  <a:tcPr marL="73152" marR="73152" marT="18288" marB="18288" anchor="ctr">
                    <a:solidFill>
                      <a:srgbClr val="FFFFFF"/>
                    </a:solidFill>
                  </a:tcPr>
                </a:tc>
              </a:tr>
              <a:tr h="384048">
                <a:tc>
                  <a:txBody>
                    <a:bodyPr wrap="square"/>
                    <a:lstStyle/>
                    <a:p>
                      <a:pPr algn="l"/>
                      <a:r>
                        <a:rPr sz="1200" b="0">
                          <a:solidFill>
                            <a:srgbClr val="14232E"/>
                          </a:solidFill>
                          <a:latin typeface="Calibri"/>
                        </a:rPr>
                        <a:t>50 sets, tighter due dates</a:t>
                      </a:r>
                    </a:p>
                  </a:txBody>
                  <a:tcPr marL="73152" marR="73152" marT="18288" marB="18288" anchor="ctr">
                    <a:solidFill>
                      <a:srgbClr val="FFFFFF"/>
                    </a:solidFill>
                  </a:tcPr>
                </a:tc>
                <a:tc>
                  <a:txBody>
                    <a:bodyPr wrap="square"/>
                    <a:lstStyle/>
                    <a:p>
                      <a:pPr algn="r"/>
                      <a:r>
                        <a:rPr sz="1200" b="0">
                          <a:solidFill>
                            <a:srgbClr val="14232E"/>
                          </a:solidFill>
                          <a:latin typeface="Calibri"/>
                        </a:rPr>
                        <a:t>50</a:t>
                      </a:r>
                    </a:p>
                  </a:txBody>
                  <a:tcPr marL="73152" marR="73152" marT="18288" marB="18288" anchor="ctr">
                    <a:solidFill>
                      <a:srgbClr val="FFFFFF"/>
                    </a:solidFill>
                  </a:tcPr>
                </a:tc>
                <a:tc>
                  <a:txBody>
                    <a:bodyPr wrap="square"/>
                    <a:lstStyle/>
                    <a:p>
                      <a:pPr algn="r"/>
                      <a:r>
                        <a:rPr sz="1200" b="0">
                          <a:solidFill>
                            <a:srgbClr val="14232E"/>
                          </a:solidFill>
                          <a:latin typeface="Calibri"/>
                        </a:rPr>
                        <a:t>26 / 4 / 20</a:t>
                      </a:r>
                    </a:p>
                  </a:txBody>
                  <a:tcPr marL="73152" marR="73152" marT="18288" marB="18288" anchor="ctr">
                    <a:solidFill>
                      <a:srgbClr val="FFFFFF"/>
                    </a:solidFill>
                  </a:tcPr>
                </a:tc>
                <a:tc>
                  <a:txBody>
                    <a:bodyPr wrap="square"/>
                    <a:lstStyle/>
                    <a:p>
                      <a:pPr algn="r"/>
                      <a:r>
                        <a:rPr sz="1200" b="0">
                          <a:solidFill>
                            <a:srgbClr val="14232E"/>
                          </a:solidFill>
                          <a:latin typeface="Calibri"/>
                        </a:rPr>
                        <a:t>0.461</a:t>
                      </a:r>
                    </a:p>
                  </a:txBody>
                  <a:tcPr marL="73152" marR="73152" marT="18288" marB="18288" anchor="ctr">
                    <a:solidFill>
                      <a:srgbClr val="FFFFFF"/>
                    </a:solidFill>
                  </a:tcPr>
                </a:tc>
                <a:tc>
                  <a:txBody>
                    <a:bodyPr wrap="square"/>
                    <a:lstStyle/>
                    <a:p>
                      <a:pPr algn="r"/>
                      <a:r>
                        <a:rPr sz="1200" b="0">
                          <a:solidFill>
                            <a:srgbClr val="14232E"/>
                          </a:solidFill>
                          <a:latin typeface="Calibri"/>
                        </a:rPr>
                        <a:t>4.52 / 4.37</a:t>
                      </a:r>
                    </a:p>
                  </a:txBody>
                  <a:tcPr marL="73152" marR="73152" marT="18288" marB="18288" anchor="ctr">
                    <a:solidFill>
                      <a:srgbClr val="FFFFFF"/>
                    </a:solidFill>
                  </a:tcPr>
                </a:tc>
                <a:tc>
                  <a:txBody>
                    <a:bodyPr wrap="square"/>
                    <a:lstStyle/>
                    <a:p>
                      <a:pPr algn="r"/>
                      <a:r>
                        <a:rPr sz="1200" b="0">
                          <a:solidFill>
                            <a:srgbClr val="14232E"/>
                          </a:solidFill>
                          <a:latin typeface="Calibri"/>
                        </a:rPr>
                        <a:t>8.0 / 10.0</a:t>
                      </a:r>
                    </a:p>
                  </a:txBody>
                  <a:tcPr marL="73152" marR="73152" marT="18288" marB="18288" anchor="ctr">
                    <a:solidFill>
                      <a:srgbClr val="FFFFFF"/>
                    </a:solidFill>
                  </a:tcPr>
                </a:tc>
              </a:tr>
              <a:tr h="384048">
                <a:tc>
                  <a:txBody>
                    <a:bodyPr wrap="square"/>
                    <a:lstStyle/>
                    <a:p>
                      <a:pPr algn="l"/>
                      <a:r>
                        <a:rPr sz="1200" b="0">
                          <a:solidFill>
                            <a:srgbClr val="14232E"/>
                          </a:solidFill>
                          <a:latin typeface="Calibri"/>
                        </a:rPr>
                        <a:t>50 sets, extra accessory orders</a:t>
                      </a:r>
                    </a:p>
                  </a:txBody>
                  <a:tcPr marL="73152" marR="73152" marT="18288" marB="18288" anchor="ctr">
                    <a:solidFill>
                      <a:srgbClr val="FFFFFF"/>
                    </a:solidFill>
                  </a:tcPr>
                </a:tc>
                <a:tc>
                  <a:txBody>
                    <a:bodyPr wrap="square"/>
                    <a:lstStyle/>
                    <a:p>
                      <a:pPr algn="r"/>
                      <a:r>
                        <a:rPr sz="1200" b="0">
                          <a:solidFill>
                            <a:srgbClr val="14232E"/>
                          </a:solidFill>
                          <a:latin typeface="Calibri"/>
                        </a:rPr>
                        <a:t>50</a:t>
                      </a:r>
                    </a:p>
                  </a:txBody>
                  <a:tcPr marL="73152" marR="73152" marT="18288" marB="18288" anchor="ctr">
                    <a:solidFill>
                      <a:srgbClr val="FFFFFF"/>
                    </a:solidFill>
                  </a:tcPr>
                </a:tc>
                <a:tc>
                  <a:txBody>
                    <a:bodyPr wrap="square"/>
                    <a:lstStyle/>
                    <a:p>
                      <a:pPr algn="r"/>
                      <a:r>
                        <a:rPr sz="1200" b="0">
                          <a:solidFill>
                            <a:srgbClr val="14232E"/>
                          </a:solidFill>
                          <a:latin typeface="Calibri"/>
                        </a:rPr>
                        <a:t>23 / 11 / 16</a:t>
                      </a:r>
                    </a:p>
                  </a:txBody>
                  <a:tcPr marL="73152" marR="73152" marT="18288" marB="18288" anchor="ctr">
                    <a:solidFill>
                      <a:srgbClr val="FFFFFF"/>
                    </a:solidFill>
                  </a:tcPr>
                </a:tc>
                <a:tc>
                  <a:txBody>
                    <a:bodyPr wrap="square"/>
                    <a:lstStyle/>
                    <a:p>
                      <a:pPr algn="r"/>
                      <a:r>
                        <a:rPr sz="1200" b="0">
                          <a:solidFill>
                            <a:srgbClr val="14232E"/>
                          </a:solidFill>
                          <a:latin typeface="Calibri"/>
                        </a:rPr>
                        <a:t>0.337</a:t>
                      </a:r>
                    </a:p>
                  </a:txBody>
                  <a:tcPr marL="73152" marR="73152" marT="18288" marB="18288" anchor="ctr">
                    <a:solidFill>
                      <a:srgbClr val="FFFFFF"/>
                    </a:solidFill>
                  </a:tcPr>
                </a:tc>
                <a:tc>
                  <a:txBody>
                    <a:bodyPr wrap="square"/>
                    <a:lstStyle/>
                    <a:p>
                      <a:pPr algn="r"/>
                      <a:r>
                        <a:rPr sz="1200" b="0">
                          <a:solidFill>
                            <a:srgbClr val="14232E"/>
                          </a:solidFill>
                          <a:latin typeface="Calibri"/>
                        </a:rPr>
                        <a:t>2.75 / 2.69</a:t>
                      </a:r>
                    </a:p>
                  </a:txBody>
                  <a:tcPr marL="73152" marR="73152" marT="18288" marB="18288" anchor="ctr">
                    <a:solidFill>
                      <a:srgbClr val="FFFFFF"/>
                    </a:solidFill>
                  </a:tcPr>
                </a:tc>
                <a:tc>
                  <a:txBody>
                    <a:bodyPr wrap="square"/>
                    <a:lstStyle/>
                    <a:p>
                      <a:pPr algn="r"/>
                      <a:r>
                        <a:rPr sz="1200" b="0">
                          <a:solidFill>
                            <a:srgbClr val="14232E"/>
                          </a:solidFill>
                          <a:latin typeface="Calibri"/>
                        </a:rPr>
                        <a:t>9.8 / 14.5</a:t>
                      </a:r>
                    </a:p>
                  </a:txBody>
                  <a:tcPr marL="73152" marR="73152" marT="18288" marB="18288" anchor="ctr">
                    <a:solidFill>
                      <a:srgbClr val="FFFFFF"/>
                    </a:solidFill>
                  </a:tcPr>
                </a:tc>
              </a:tr>
            </a:tbl>
          </a:graphicData>
        </a:graphic>
      </p:graphicFrame>
      <p:sp>
        <p:nvSpPr>
          <p:cNvPr id="8" name="Reading"/>
          <p:cNvSpPr txBox="1"/>
          <p:nvPr/>
        </p:nvSpPr>
        <p:spPr>
          <a:xfrm>
            <a:off x="548640" y="4892040"/>
            <a:ext cx="11064240" cy="1371600"/>
          </a:xfrm>
          <a:prstGeom prst="rect">
            <a:avLst/>
          </a:prstGeom>
          <a:noFill/>
        </p:spPr>
        <p:txBody>
          <a:bodyPr wrap="square" lIns="0" rIns="0" tIns="0" bIns="0" anchor="t">
            <a:noAutofit/>
          </a:bodyPr>
          <a:lstStyle/>
          <a:p>
            <a:pPr algn="l">
              <a:lnSpc>
                <a:spcPct val="100000"/>
              </a:lnSpc>
              <a:spcBef>
                <a:spcPts val="0"/>
              </a:spcBef>
              <a:spcAft>
                <a:spcPts val="0"/>
              </a:spcAft>
            </a:pPr>
            <a:r>
              <a:rPr sz="1250" b="1" i="0">
                <a:solidFill>
                  <a:srgbClr val="14232E"/>
                </a:solidFill>
                <a:latin typeface="Calibri"/>
              </a:rPr>
              <a:t>Reading. </a:t>
            </a:r>
            <a:r>
              <a:rPr sz="1250" b="0" i="0">
                <a:solidFill>
                  <a:srgbClr val="14232E"/>
                </a:solidFill>
                <a:latin typeface="Calibri"/>
              </a:rPr>
              <a:t>use_slack is reliably better only on the official orders, which both settings were shaped on (8 of 10 seeds, p = 0.008). On 200 fresh order books the two are indistinguishable on lateness (p ≥ 0.05). The robust differences are elsewhere: use_slack returns batches about 5 days later and costs about 9% less. The track names turnaround days as the business impact, so we declared the faster tie-break and keep use_slack as the cost-saving setting.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Subcontracting Desk · Sprint 1</dc:title>
  <dc:subject>Sprint 1 review, 16 October 2026 (v3, story first)</dc:subject>
  <dc:creator>DSS5105 Track 2 team</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