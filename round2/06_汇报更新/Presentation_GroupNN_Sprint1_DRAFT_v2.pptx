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Good evening, we are Group NN. Our project is the Subcontracting Desk: it turns the chat message that sends a batch to an outside workshop into a checked, recorded allocation.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Today the decision is a chat message. Behind it are three questions: can the workshop make the product, can it take the batch now, is it allowed to? Get one wrong and the batch bounces back a day later. Our desk checks all three and recommends one workshop, with the reason.</a:t>
            </a:r>
          </a:p>
          <a:p>
            <a:r>
              <a:t>This is a real message, R12: nothing new to QuickStitch this week. The desk records that, gives two dates per shop, expected and if reworked, and books nothing until the dispatcher confirms.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The language layer extracts the order, pieces, due date and constraint, asks when something is unclear, and declines what the data cannot answer. The model only proposes: code checks every extracted value against the message text.</a:t>
            </a:r>
          </a:p>
          <a:p>
            <a:r>
              <a:t>Everything numeric happens in the kernel, which has no LLM: eligibility, two delivery dates per shop, and a ranking by an objective that is a setting. The dispatcher confirms before anything is booked.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We replayed 120 orders through the shared simulator. Picking workshops at random returns 34 percent of batches late; our lateness setting returns 1.7 percent, and mean turnaround falls from 22 to 9 days, for about 3 percent more cost. On the morning inbox, 17 of 30 messages cannot simply be dispatched. A chat thread lets those through; the desk stops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The whole loop runs. 56 tests pass, and every number in every reply traces to a tool output. The interface puts the tightest requests first and confirms the safe ones in one click. All six of us labelled the requests independently: kappa 0.70. And we measured the language model: the cheapest one got 86 percent of behaviours right; with a sharper prompt and code checks, 100 percent on these thirty, which we developed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Our primary objective is minimise lateness. On the official 120 orders a simple earliest-finish rule ties us at 1.7 percent late. But earliest-finish is greedy: it spends the fast, flexible shops on batches that had slack, and the next tight batch has nowhere to go. Our rule keeps the shops that make the date even if the batch is reworked, takes the least flexible of them, and only then looks at speed. That halves the late days on the official data. On order books the rule was never shaped on, it wins: 0.9 percent late against 1.7 on a hundred jittered copies, and likewise with extra accessory orders, tighter due dates, and Sundays off. The simple rule is still a day faster on average.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Four risks. Our labels are frozen, but five needed a team vote, so we state the rule we used. On the official data we only tie the simple rule, so we show both the tie and the stressed results. The cheap language model misreads messages; code now checks what it extracts, and the real test is an inbox our teammates still have to write. And the simulator is a what-if replay. On the right, our assumptions: above all, a confirmed dispatch occupies capacity for later requests.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The plan has four steps; the two ahead of us matter most. First the evidence: a held-out inbox written by teammates who do not touch the prompt, a user test of the interface, and detecting a closed workshop from a stuck queue. Then a public demo and the evaluation. Our criteria are on the bottom row: under 2 percent late, beating the simple rule on fresh data, 90 percent right behaviour on the held-out inbox, and every promised rework date kept.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results table, seeds 5105 to 5114.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request, coloured by the desk's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behaviour accuracy by parser, before and after.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two dates per promise; Sundays 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B3A"/>
        </a:solidFill>
        <a:effectLst/>
      </p:bgPr>
    </p:bg>
    <p:spTree>
      <p:nvGrpSpPr>
        <p:cNvPr id="1" name=""/>
        <p:cNvGrpSpPr/>
        <p:nvPr/>
      </p:nvGrpSpPr>
      <p:grpSpPr/>
      <p:sp>
        <p:nvSpPr>
          <p:cNvPr id="2" name="Eyebrow"/>
          <p:cNvSpPr txBox="1"/>
          <p:nvPr/>
        </p:nvSpPr>
        <p:spPr>
          <a:xfrm>
            <a:off x="731520" y="1051560"/>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AFC3D1"/>
                </a:solidFill>
                <a:latin typeface="Calibri"/>
              </a:rPr>
              <a:t>DSS5105 CAPSTONE  ·  TRACK 2  ·  SPRINT 1</a:t>
            </a:r>
          </a:p>
        </p:txBody>
      </p:sp>
      <p:sp>
        <p:nvSpPr>
          <p:cNvPr id="3" name="Title"/>
          <p:cNvSpPr txBox="1"/>
          <p:nvPr/>
        </p:nvSpPr>
        <p:spPr>
          <a:xfrm>
            <a:off x="731520" y="1554480"/>
            <a:ext cx="6766560" cy="914400"/>
          </a:xfrm>
          <a:prstGeom prst="rect">
            <a:avLst/>
          </a:prstGeom>
          <a:noFill/>
        </p:spPr>
        <p:txBody>
          <a:bodyPr wrap="square" lIns="0" rIns="0" tIns="0" bIns="0" anchor="t">
            <a:noAutofit/>
          </a:bodyPr>
          <a:lstStyle/>
          <a:p>
            <a:pPr algn="l">
              <a:lnSpc>
                <a:spcPct val="100000"/>
              </a:lnSpc>
              <a:spcBef>
                <a:spcPts val="0"/>
              </a:spcBef>
              <a:spcAft>
                <a:spcPts val="0"/>
              </a:spcAft>
            </a:pPr>
            <a:r>
              <a:rPr sz="4800" b="1" i="0">
                <a:solidFill>
                  <a:srgbClr val="FFFFFF"/>
                </a:solidFill>
                <a:latin typeface="Cambria"/>
              </a:rPr>
              <a:t>Subcontracting Desk</a:t>
            </a:r>
          </a:p>
        </p:txBody>
      </p:sp>
      <p:sp>
        <p:nvSpPr>
          <p:cNvPr id="4" name="Subtitle"/>
          <p:cNvSpPr txBox="1"/>
          <p:nvPr/>
        </p:nvSpPr>
        <p:spPr>
          <a:xfrm>
            <a:off x="731520" y="2606040"/>
            <a:ext cx="6309360" cy="1097280"/>
          </a:xfrm>
          <a:prstGeom prst="rect">
            <a:avLst/>
          </a:prstGeom>
          <a:noFill/>
        </p:spPr>
        <p:txBody>
          <a:bodyPr wrap="square" lIns="0" rIns="0" tIns="0" bIns="0" anchor="t">
            <a:noAutofit/>
          </a:bodyPr>
          <a:lstStyle/>
          <a:p>
            <a:pPr algn="l">
              <a:lnSpc>
                <a:spcPct val="100000"/>
              </a:lnSpc>
              <a:spcBef>
                <a:spcPts val="0"/>
              </a:spcBef>
              <a:spcAft>
                <a:spcPts val="0"/>
              </a:spcAft>
            </a:pPr>
            <a:r>
              <a:rPr sz="2400" b="0" i="0">
                <a:solidFill>
                  <a:srgbClr val="CADCFC"/>
                </a:solidFill>
                <a:latin typeface="Calibri"/>
              </a:rPr>
              <a:t>From a group-chat decision</a:t>
            </a:r>
            <a:br/>
            <a:r>
              <a:rPr sz="2400" b="0" i="0">
                <a:solidFill>
                  <a:srgbClr val="CADCFC"/>
                </a:solidFill>
                <a:latin typeface="Calibri"/>
              </a:rPr>
              <a:t>to a checked, recorded allocation</a:t>
            </a:r>
          </a:p>
        </p:txBody>
      </p:sp>
      <p:sp>
        <p:nvSpPr>
          <p:cNvPr id="5" name="Team"/>
          <p:cNvSpPr txBox="1"/>
          <p:nvPr/>
        </p:nvSpPr>
        <p:spPr>
          <a:xfrm>
            <a:off x="731520" y="4343400"/>
            <a:ext cx="6675120" cy="1737360"/>
          </a:xfrm>
          <a:prstGeom prst="rect">
            <a:avLst/>
          </a:prstGeom>
          <a:noFill/>
        </p:spPr>
        <p:txBody>
          <a:bodyPr wrap="square" lIns="0" rIns="0" tIns="0" bIns="0" anchor="t">
            <a:noAutofit/>
          </a:bodyPr>
          <a:lstStyle/>
          <a:p>
            <a:pPr algn="l">
              <a:lnSpc>
                <a:spcPct val="100000"/>
              </a:lnSpc>
              <a:spcBef>
                <a:spcPts val="0"/>
              </a:spcBef>
              <a:spcAft>
                <a:spcPts val="600"/>
              </a:spcAft>
            </a:pPr>
            <a:r>
              <a:rPr sz="1700" b="1" i="0">
                <a:solidFill>
                  <a:srgbClr val="FFFFFF"/>
                </a:solidFill>
                <a:latin typeface="Calibri"/>
              </a:rPr>
              <a:t>Group NN</a:t>
            </a:r>
          </a:p>
          <a:p>
            <a:pPr algn="l">
              <a:lnSpc>
                <a:spcPct val="100000"/>
              </a:lnSpc>
              <a:spcBef>
                <a:spcPts val="0"/>
              </a:spcBef>
              <a:spcAft>
                <a:spcPts val="300"/>
              </a:spcAft>
            </a:pPr>
            <a:r>
              <a:rPr sz="1400" b="0" i="0">
                <a:solidFill>
                  <a:srgbClr val="CADCFC"/>
                </a:solidFill>
                <a:latin typeface="Calibri"/>
              </a:rPr>
              <a:t>屈妍玥 Qu Yanyue  ·  张锦若 Zhang Jinruo  ·  吴杰 Wu Jie</a:t>
            </a:r>
          </a:p>
          <a:p>
            <a:pPr algn="l">
              <a:lnSpc>
                <a:spcPct val="100000"/>
              </a:lnSpc>
              <a:spcBef>
                <a:spcPts val="0"/>
              </a:spcBef>
              <a:spcAft>
                <a:spcPts val="1000"/>
              </a:spcAft>
            </a:pPr>
            <a:r>
              <a:rPr sz="1400" b="0" i="0">
                <a:solidFill>
                  <a:srgbClr val="CADCFC"/>
                </a:solidFill>
                <a:latin typeface="Calibri"/>
              </a:rPr>
              <a:t>李岩 Li Yan  ·  吴若晗 Wu Ruohan  ·  许佩瑶 Xu Peiyao</a:t>
            </a:r>
          </a:p>
          <a:p>
            <a:pPr algn="l">
              <a:lnSpc>
                <a:spcPct val="100000"/>
              </a:lnSpc>
              <a:spcBef>
                <a:spcPts val="0"/>
              </a:spcBef>
              <a:spcAft>
                <a:spcPts val="0"/>
              </a:spcAft>
            </a:pPr>
            <a:r>
              <a:rPr sz="1300" b="0" i="0">
                <a:solidFill>
                  <a:srgbClr val="AFC3D1"/>
                </a:solidFill>
                <a:latin typeface="Calibri"/>
              </a:rPr>
              <a:t>github.com/dss5105-track2/track2-desk   ·   16 October 2026</a:t>
            </a:r>
          </a:p>
        </p:txBody>
      </p:sp>
      <p:sp>
        <p:nvSpPr>
          <p:cNvPr id="6" name="Chat bubble"/>
          <p:cNvSpPr/>
          <p:nvPr/>
        </p:nvSpPr>
        <p:spPr>
          <a:xfrm>
            <a:off x="7726679" y="1325880"/>
            <a:ext cx="3931920" cy="1417320"/>
          </a:xfrm>
          <a:prstGeom prst="roundRect">
            <a:avLst>
              <a:gd name="adj" fmla="val 9032"/>
            </a:avLst>
          </a:prstGeom>
          <a:solidFill>
            <a:srgbClr val="1639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ct val="100000"/>
              </a:lnSpc>
              <a:spcBef>
                <a:spcPts val="0"/>
              </a:spcBef>
              <a:spcAft>
                <a:spcPts val="600"/>
              </a:spcAft>
            </a:pPr>
            <a:r>
              <a:rPr sz="1100" b="1" i="0">
                <a:solidFill>
                  <a:srgbClr val="AFC3D1"/>
                </a:solidFill>
                <a:latin typeface="Calibri"/>
              </a:rPr>
              <a:t>THE CHAT MESSAGE</a:t>
            </a:r>
          </a:p>
          <a:p>
            <a:pPr algn="l">
              <a:lnSpc>
                <a:spcPct val="100000"/>
              </a:lnSpc>
              <a:spcBef>
                <a:spcPts val="0"/>
              </a:spcBef>
              <a:spcAft>
                <a:spcPts val="0"/>
              </a:spcAft>
            </a:pPr>
            <a:r>
              <a:rPr sz="1700" b="0" i="1">
                <a:solidFill>
                  <a:srgbClr val="FFFFFF"/>
                </a:solidFill>
                <a:latin typeface="Calibri"/>
              </a:rPr>
              <a:t>“Send it to QuickStitch, need it back by the 19th.”</a:t>
            </a:r>
          </a:p>
        </p:txBody>
      </p:sp>
      <p:cxnSp>
        <p:nvCxnSpPr>
          <p:cNvPr id="7" name="Arrow"/>
          <p:cNvCxnSpPr/>
          <p:nvPr/>
        </p:nvCxnSpPr>
        <p:spPr>
          <a:xfrm>
            <a:off x="9692640" y="2852928"/>
            <a:ext cx="0" cy="548640"/>
          </a:xfrm>
          <a:prstGeom prst="line">
            <a:avLst/>
          </a:prstGeom>
          <a:ln w="25400">
            <a:solidFill>
              <a:srgbClr val="AFC3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Answer card"/>
          <p:cNvSpPr/>
          <p:nvPr/>
        </p:nvSpPr>
        <p:spPr>
          <a:xfrm>
            <a:off x="7726679" y="3474720"/>
            <a:ext cx="3931920" cy="2514600"/>
          </a:xfrm>
          <a:prstGeom prst="roundRect">
            <a:avLst>
              <a:gd name="adj" fmla="val 5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ct val="100000"/>
              </a:lnSpc>
              <a:spcBef>
                <a:spcPts val="0"/>
              </a:spcBef>
              <a:spcAft>
                <a:spcPts val="600"/>
              </a:spcAft>
            </a:pPr>
            <a:r>
              <a:rPr sz="1100" b="1" i="0">
                <a:solidFill>
                  <a:srgbClr val="52606B"/>
                </a:solidFill>
                <a:latin typeface="Calibri"/>
              </a:rPr>
              <a:t>THE DESK'S ANSWER</a:t>
            </a:r>
          </a:p>
          <a:p>
            <a:pPr algn="l">
              <a:lnSpc>
                <a:spcPct val="100000"/>
              </a:lnSpc>
              <a:spcBef>
                <a:spcPts val="0"/>
              </a:spcBef>
              <a:spcAft>
                <a:spcPts val="200"/>
              </a:spcAft>
            </a:pPr>
            <a:r>
              <a:rPr sz="2400" b="1" i="0">
                <a:solidFill>
                  <a:srgbClr val="14232E"/>
                </a:solidFill>
                <a:latin typeface="Calibri"/>
              </a:rPr>
              <a:t>GiantWeave</a:t>
            </a:r>
          </a:p>
          <a:p>
            <a:pPr algn="l">
              <a:lnSpc>
                <a:spcPct val="100000"/>
              </a:lnSpc>
              <a:spcBef>
                <a:spcPts val="0"/>
              </a:spcBef>
              <a:spcAft>
                <a:spcPts val="800"/>
              </a:spcAft>
            </a:pPr>
            <a:r>
              <a:rPr sz="1450" b="0" i="0">
                <a:solidFill>
                  <a:srgbClr val="14232E"/>
                </a:solidFill>
                <a:latin typeface="Calibri"/>
              </a:rPr>
              <a:t>back Fri 10 Apr, on time  ·  Sat 11 Apr if reworked</a:t>
            </a:r>
          </a:p>
          <a:p>
            <a:pPr algn="l">
              <a:lnSpc>
                <a:spcPct val="100000"/>
              </a:lnSpc>
              <a:spcBef>
                <a:spcPts val="0"/>
              </a:spcBef>
              <a:spcAft>
                <a:spcPts val="300"/>
              </a:spcAft>
            </a:pPr>
            <a:r>
              <a:rPr sz="1300" b="0" i="0">
                <a:solidFill>
                  <a:srgbClr val="52606B"/>
                </a:solidFill>
                <a:latin typeface="Calibri"/>
              </a:rPr>
              <a:t>QuickStitch not considered: excluded by Boss</a:t>
            </a:r>
          </a:p>
          <a:p>
            <a:pPr algn="l">
              <a:lnSpc>
                <a:spcPct val="100000"/>
              </a:lnSpc>
              <a:spcBef>
                <a:spcPts val="0"/>
              </a:spcBef>
              <a:spcAft>
                <a:spcPts val="0"/>
              </a:spcAft>
            </a:pPr>
            <a:r>
              <a:rPr sz="1300" b="0" i="0">
                <a:solidFill>
                  <a:srgbClr val="52606B"/>
                </a:solidFill>
                <a:latin typeface="Calibri"/>
              </a:rPr>
              <a:t>Every number traced to a tool 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 batch goes outside on one chat message: unchecked and unrecorded</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2</a:t>
            </a:r>
          </a:p>
        </p:txBody>
      </p:sp>
      <p:sp>
        <p:nvSpPr>
          <p:cNvPr id="5" name="Label"/>
          <p:cNvSpPr txBox="1"/>
          <p:nvPr/>
        </p:nvSpPr>
        <p:spPr>
          <a:xfrm>
            <a:off x="548640" y="1783080"/>
            <a:ext cx="27432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TODAY</a:t>
            </a:r>
          </a:p>
        </p:txBody>
      </p:sp>
      <p:sp>
        <p:nvSpPr>
          <p:cNvPr id="6" name="Chat bubble"/>
          <p:cNvSpPr/>
          <p:nvPr/>
        </p:nvSpPr>
        <p:spPr>
          <a:xfrm>
            <a:off x="548640" y="2103120"/>
            <a:ext cx="5212080" cy="1005840"/>
          </a:xfrm>
          <a:prstGeom prst="roundRect">
            <a:avLst>
              <a:gd name="adj" fmla="val 12727"/>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noAutofit/>
          </a:bodyPr>
          <a:lstStyle/>
          <a:p>
            <a:pPr algn="l">
              <a:lnSpc>
                <a:spcPct val="100000"/>
              </a:lnSpc>
              <a:spcBef>
                <a:spcPts val="0"/>
              </a:spcBef>
              <a:spcAft>
                <a:spcPts val="0"/>
              </a:spcAft>
            </a:pPr>
            <a:r>
              <a:rPr sz="1600" b="0" i="1">
                <a:solidFill>
                  <a:srgbClr val="14232E"/>
                </a:solidFill>
                <a:latin typeface="Calibri"/>
              </a:rPr>
              <a:t>“@Chen — order 042, 1,500 crewnecks. Send it to QuickStitch, need it back by the 19th.”</a:t>
            </a:r>
          </a:p>
        </p:txBody>
      </p:sp>
      <p:sp>
        <p:nvSpPr>
          <p:cNvPr id="7" name="Badge"/>
          <p:cNvSpPr/>
          <p:nvPr/>
        </p:nvSpPr>
        <p:spPr>
          <a:xfrm>
            <a:off x="548640" y="3374136"/>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600" b="1" i="0">
                <a:solidFill>
                  <a:srgbClr val="FFFFFF"/>
                </a:solidFill>
                <a:latin typeface="Calibri"/>
              </a:rPr>
              <a:t>1</a:t>
            </a:r>
          </a:p>
        </p:txBody>
      </p:sp>
      <p:sp>
        <p:nvSpPr>
          <p:cNvPr id="8" name="Question 1"/>
          <p:cNvSpPr txBox="1"/>
          <p:nvPr/>
        </p:nvSpPr>
        <p:spPr>
          <a:xfrm>
            <a:off x="1143000" y="3337560"/>
            <a:ext cx="461772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4232E"/>
                </a:solidFill>
                <a:latin typeface="Calibri"/>
              </a:rPr>
              <a:t>Can they make it? </a:t>
            </a:r>
            <a:r>
              <a:rPr sz="1500" b="0" i="0">
                <a:solidFill>
                  <a:srgbClr val="14232E"/>
                </a:solidFill>
                <a:latin typeface="Calibri"/>
              </a:rPr>
              <a:t>Not every workshop makes every product.</a:t>
            </a:r>
          </a:p>
        </p:txBody>
      </p:sp>
      <p:sp>
        <p:nvSpPr>
          <p:cNvPr id="9" name="Badge"/>
          <p:cNvSpPr/>
          <p:nvPr/>
        </p:nvSpPr>
        <p:spPr>
          <a:xfrm>
            <a:off x="548640" y="4123944"/>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600" b="1" i="0">
                <a:solidFill>
                  <a:srgbClr val="FFFFFF"/>
                </a:solidFill>
                <a:latin typeface="Calibri"/>
              </a:rPr>
              <a:t>2</a:t>
            </a:r>
          </a:p>
        </p:txBody>
      </p:sp>
      <p:sp>
        <p:nvSpPr>
          <p:cNvPr id="10" name="Question 2"/>
          <p:cNvSpPr txBox="1"/>
          <p:nvPr/>
        </p:nvSpPr>
        <p:spPr>
          <a:xfrm>
            <a:off x="1143000" y="4087368"/>
            <a:ext cx="461772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4232E"/>
                </a:solidFill>
                <a:latin typeface="Calibri"/>
              </a:rPr>
              <a:t>Can they take it now? </a:t>
            </a:r>
            <a:r>
              <a:rPr sz="1500" b="0" i="0">
                <a:solidFill>
                  <a:srgbClr val="14232E"/>
                </a:solidFill>
                <a:latin typeface="Calibri"/>
              </a:rPr>
              <a:t>A fast shop with a 3-day queue is not fast today.</a:t>
            </a:r>
          </a:p>
        </p:txBody>
      </p:sp>
      <p:sp>
        <p:nvSpPr>
          <p:cNvPr id="11" name="Badge"/>
          <p:cNvSpPr/>
          <p:nvPr/>
        </p:nvSpPr>
        <p:spPr>
          <a:xfrm>
            <a:off x="548640" y="4873752"/>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600" b="1" i="0">
                <a:solidFill>
                  <a:srgbClr val="FFFFFF"/>
                </a:solidFill>
                <a:latin typeface="Calibri"/>
              </a:rPr>
              <a:t>3</a:t>
            </a:r>
          </a:p>
        </p:txBody>
      </p:sp>
      <p:sp>
        <p:nvSpPr>
          <p:cNvPr id="12" name="Question 3"/>
          <p:cNvSpPr txBox="1"/>
          <p:nvPr/>
        </p:nvSpPr>
        <p:spPr>
          <a:xfrm>
            <a:off x="1143000" y="4837176"/>
            <a:ext cx="461772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4232E"/>
                </a:solidFill>
                <a:latin typeface="Calibri"/>
              </a:rPr>
              <a:t>Are they allowed to? </a:t>
            </a:r>
            <a:r>
              <a:rPr sz="1500" b="0" i="0">
                <a:solidFill>
                  <a:srgbClr val="14232E"/>
                </a:solidFill>
                <a:latin typeface="Calibri"/>
              </a:rPr>
              <a:t>One shop is suspended after an audit, one is on trial with small batches only.</a:t>
            </a:r>
          </a:p>
        </p:txBody>
      </p:sp>
      <p:sp>
        <p:nvSpPr>
          <p:cNvPr id="13" name="Cost of error"/>
          <p:cNvSpPr txBox="1"/>
          <p:nvPr/>
        </p:nvSpPr>
        <p:spPr>
          <a:xfrm>
            <a:off x="548640" y="5623560"/>
            <a:ext cx="5212080" cy="685800"/>
          </a:xfrm>
          <a:prstGeom prst="rect">
            <a:avLst/>
          </a:prstGeom>
          <a:noFill/>
        </p:spPr>
        <p:txBody>
          <a:bodyPr wrap="square" lIns="0" rIns="0" tIns="0" bIns="0" anchor="t">
            <a:noAutofit/>
          </a:bodyPr>
          <a:lstStyle/>
          <a:p>
            <a:pPr algn="l">
              <a:lnSpc>
                <a:spcPct val="100000"/>
              </a:lnSpc>
              <a:spcBef>
                <a:spcPts val="0"/>
              </a:spcBef>
              <a:spcAft>
                <a:spcPts val="0"/>
              </a:spcAft>
            </a:pPr>
            <a:r>
              <a:rPr sz="1400" b="0" i="1">
                <a:solidFill>
                  <a:srgbClr val="52606B"/>
                </a:solidFill>
                <a:latin typeface="Calibri"/>
              </a:rPr>
              <a:t>Get one wrong and the batch bounces back a day later. In a ten-day cycle that is the margin gone.</a:t>
            </a:r>
          </a:p>
        </p:txBody>
      </p:sp>
      <p:sp>
        <p:nvSpPr>
          <p:cNvPr id="14" name="Label"/>
          <p:cNvSpPr txBox="1"/>
          <p:nvPr/>
        </p:nvSpPr>
        <p:spPr>
          <a:xfrm>
            <a:off x="6309360" y="1783080"/>
            <a:ext cx="27432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WITH THE DESK</a:t>
            </a:r>
          </a:p>
        </p:txBody>
      </p:sp>
      <p:sp>
        <p:nvSpPr>
          <p:cNvPr id="15" name="Decision card"/>
          <p:cNvSpPr/>
          <p:nvPr/>
        </p:nvSpPr>
        <p:spPr>
          <a:xfrm>
            <a:off x="6309360" y="2103120"/>
            <a:ext cx="5330952" cy="4206240"/>
          </a:xfrm>
          <a:prstGeom prst="roundRect">
            <a:avLst>
              <a:gd name="adj" fmla="val 3043"/>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quest"/>
          <p:cNvSpPr txBox="1"/>
          <p:nvPr/>
        </p:nvSpPr>
        <p:spPr>
          <a:xfrm>
            <a:off x="6492240" y="2212848"/>
            <a:ext cx="498348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4232E"/>
                </a:solidFill>
                <a:latin typeface="Calibri"/>
              </a:rPr>
              <a:t>R12  ·  ORD-053  ·  </a:t>
            </a:r>
            <a:r>
              <a:rPr sz="1500" b="0" i="0">
                <a:solidFill>
                  <a:srgbClr val="14232E"/>
                </a:solidFill>
                <a:latin typeface="Calibri"/>
              </a:rPr>
              <a:t>800 polo shirts, due Fri 10 Apr</a:t>
            </a:r>
          </a:p>
        </p:txBody>
      </p:sp>
      <p:sp>
        <p:nvSpPr>
          <p:cNvPr id="17" name="Constraint chip"/>
          <p:cNvSpPr/>
          <p:nvPr/>
        </p:nvSpPr>
        <p:spPr>
          <a:xfrm>
            <a:off x="6492240" y="2651760"/>
            <a:ext cx="4965192" cy="566928"/>
          </a:xfrm>
          <a:prstGeom prst="roundRect">
            <a:avLst>
              <a:gd name="adj" fmla="val 12903"/>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noAutofit/>
          </a:bodyPr>
          <a:lstStyle/>
          <a:p>
            <a:pPr algn="l">
              <a:lnSpc>
                <a:spcPct val="100000"/>
              </a:lnSpc>
              <a:spcBef>
                <a:spcPts val="0"/>
              </a:spcBef>
              <a:spcAft>
                <a:spcPts val="0"/>
              </a:spcAft>
            </a:pPr>
            <a:r>
              <a:rPr sz="1250" b="1" i="0">
                <a:solidFill>
                  <a:srgbClr val="A3410F"/>
                </a:solidFill>
                <a:latin typeface="Calibri"/>
              </a:rPr>
              <a:t>Standing constraint recorded: Boss, nothing new to QuickStitch this week</a:t>
            </a:r>
          </a:p>
        </p:txBody>
      </p:sp>
      <p:graphicFrame>
        <p:nvGraphicFramePr>
          <p:cNvPr id="18" name="Candidates"/>
          <p:cNvGraphicFramePr>
            <a:graphicFrameLocks noGrp="1"/>
          </p:cNvGraphicFramePr>
          <p:nvPr/>
        </p:nvGraphicFramePr>
        <p:xfrm>
          <a:off x="6492240" y="3383280"/>
          <a:ext cx="4965192" cy="1828800"/>
        </p:xfrm>
        <a:graphic>
          <a:graphicData uri="http://schemas.openxmlformats.org/drawingml/2006/table">
            <a:tbl>
              <a:tblPr>
                <a:tableStyleId>{2D5ABB26-0587-4C30-8999-92F81FD0307C}</a:tableStyleId>
              </a:tblPr>
              <a:tblGrid>
                <a:gridCol w="329184"/>
                <a:gridCol w="1572768"/>
                <a:gridCol w="1097280"/>
                <a:gridCol w="1188720"/>
                <a:gridCol w="777240"/>
              </a:tblGrid>
              <a:tr h="365760">
                <a:tc>
                  <a:txBody>
                    <a:bodyPr wrap="square"/>
                    <a:lstStyle/>
                    <a:p>
                      <a:pPr algn="l"/>
                      <a:r>
                        <a:rPr sz="1250" b="1">
                          <a:solidFill>
                            <a:srgbClr val="FFFFFF"/>
                          </a:solidFill>
                          <a:latin typeface="Calibri"/>
                        </a:rPr>
                        <a:t/>
                      </a:r>
                    </a:p>
                  </a:txBody>
                  <a:tcPr marL="73152" marR="73152" marT="18288" marB="18288" anchor="ctr">
                    <a:solidFill>
                      <a:srgbClr val="0F2B3A"/>
                    </a:solidFill>
                  </a:tcPr>
                </a:tc>
                <a:tc>
                  <a:txBody>
                    <a:bodyPr wrap="square"/>
                    <a:lstStyle/>
                    <a:p>
                      <a:pPr algn="l"/>
                      <a:r>
                        <a:rPr sz="1250" b="1">
                          <a:solidFill>
                            <a:srgbClr val="FFFFFF"/>
                          </a:solidFill>
                          <a:latin typeface="Calibri"/>
                        </a:rPr>
                        <a:t>Workshop</a:t>
                      </a:r>
                    </a:p>
                  </a:txBody>
                  <a:tcPr marL="73152" marR="73152" marT="18288" marB="18288" anchor="ctr">
                    <a:solidFill>
                      <a:srgbClr val="0F2B3A"/>
                    </a:solidFill>
                  </a:tcPr>
                </a:tc>
                <a:tc>
                  <a:txBody>
                    <a:bodyPr wrap="square"/>
                    <a:lstStyle/>
                    <a:p>
                      <a:pPr algn="r"/>
                      <a:r>
                        <a:rPr sz="1250" b="1">
                          <a:solidFill>
                            <a:srgbClr val="FFFFFF"/>
                          </a:solidFill>
                          <a:latin typeface="Calibri"/>
                        </a:rPr>
                        <a:t>Back</a:t>
                      </a:r>
                    </a:p>
                  </a:txBody>
                  <a:tcPr marL="73152" marR="73152" marT="18288" marB="18288" anchor="ctr">
                    <a:solidFill>
                      <a:srgbClr val="0F2B3A"/>
                    </a:solidFill>
                  </a:tcPr>
                </a:tc>
                <a:tc>
                  <a:txBody>
                    <a:bodyPr wrap="square"/>
                    <a:lstStyle/>
                    <a:p>
                      <a:pPr algn="r"/>
                      <a:r>
                        <a:rPr sz="1250" b="1">
                          <a:solidFill>
                            <a:srgbClr val="FFFFFF"/>
                          </a:solidFill>
                          <a:latin typeface="Calibri"/>
                        </a:rPr>
                        <a:t>If reworked</a:t>
                      </a:r>
                    </a:p>
                  </a:txBody>
                  <a:tcPr marL="73152" marR="73152" marT="18288" marB="18288" anchor="ctr">
                    <a:solidFill>
                      <a:srgbClr val="0F2B3A"/>
                    </a:solidFill>
                  </a:tcPr>
                </a:tc>
                <a:tc>
                  <a:txBody>
                    <a:bodyPr wrap="square"/>
                    <a:lstStyle/>
                    <a:p>
                      <a:pPr algn="r"/>
                      <a:r>
                        <a:rPr sz="1250" b="1">
                          <a:solidFill>
                            <a:srgbClr val="FFFFFF"/>
                          </a:solidFill>
                          <a:latin typeface="Calibri"/>
                        </a:rPr>
                        <a:t>Status</a:t>
                      </a:r>
                    </a:p>
                  </a:txBody>
                  <a:tcPr marL="73152" marR="73152" marT="18288" marB="18288" anchor="ctr">
                    <a:solidFill>
                      <a:srgbClr val="0F2B3A"/>
                    </a:solidFill>
                  </a:tcPr>
                </a:tc>
              </a:tr>
              <a:tr h="365760">
                <a:tc>
                  <a:txBody>
                    <a:bodyPr wrap="square"/>
                    <a:lstStyle/>
                    <a:p>
                      <a:pPr algn="ctr"/>
                      <a:r>
                        <a:rPr sz="1250" b="1">
                          <a:solidFill>
                            <a:srgbClr val="1C5CAB"/>
                          </a:solidFill>
                          <a:latin typeface="Calibri"/>
                        </a:rPr>
                        <a:t>★</a:t>
                      </a:r>
                    </a:p>
                  </a:txBody>
                  <a:tcPr marL="73152" marR="73152" marT="18288" marB="18288" anchor="ctr">
                    <a:solidFill>
                      <a:srgbClr val="FFFFFF"/>
                    </a:solidFill>
                  </a:tcPr>
                </a:tc>
                <a:tc>
                  <a:txBody>
                    <a:bodyPr wrap="square"/>
                    <a:lstStyle/>
                    <a:p>
                      <a:pPr algn="l"/>
                      <a:r>
                        <a:rPr sz="1250" b="1">
                          <a:solidFill>
                            <a:srgbClr val="1C5CAB"/>
                          </a:solidFill>
                          <a:latin typeface="Calibri"/>
                        </a:rPr>
                        <a:t>GiantWeave</a:t>
                      </a:r>
                    </a:p>
                  </a:txBody>
                  <a:tcPr marL="73152" marR="73152" marT="18288" marB="18288" anchor="ctr">
                    <a:solidFill>
                      <a:srgbClr val="FFFFFF"/>
                    </a:solidFill>
                  </a:tcPr>
                </a:tc>
                <a:tc>
                  <a:txBody>
                    <a:bodyPr wrap="square"/>
                    <a:lstStyle/>
                    <a:p>
                      <a:pPr algn="r"/>
                      <a:r>
                        <a:rPr sz="1250" b="1">
                          <a:solidFill>
                            <a:srgbClr val="1C5CAB"/>
                          </a:solidFill>
                          <a:latin typeface="Calibri"/>
                        </a:rPr>
                        <a:t>Fri 10 Apr</a:t>
                      </a:r>
                    </a:p>
                  </a:txBody>
                  <a:tcPr marL="73152" marR="73152" marT="18288" marB="18288" anchor="ctr">
                    <a:solidFill>
                      <a:srgbClr val="FFFFFF"/>
                    </a:solidFill>
                  </a:tcPr>
                </a:tc>
                <a:tc>
                  <a:txBody>
                    <a:bodyPr wrap="square"/>
                    <a:lstStyle/>
                    <a:p>
                      <a:pPr algn="r"/>
                      <a:r>
                        <a:rPr sz="1250" b="1">
                          <a:solidFill>
                            <a:srgbClr val="1C5CAB"/>
                          </a:solidFill>
                          <a:latin typeface="Calibri"/>
                        </a:rPr>
                        <a:t>Sat 11 Apr</a:t>
                      </a:r>
                    </a:p>
                  </a:txBody>
                  <a:tcPr marL="73152" marR="73152" marT="18288" marB="18288" anchor="ctr">
                    <a:solidFill>
                      <a:srgbClr val="FFFFFF"/>
                    </a:solidFill>
                  </a:tcPr>
                </a:tc>
                <a:tc>
                  <a:txBody>
                    <a:bodyPr wrap="square"/>
                    <a:lstStyle/>
                    <a:p>
                      <a:pPr algn="r"/>
                      <a:r>
                        <a:rPr sz="1250" b="1">
                          <a:solidFill>
                            <a:srgbClr val="1C5CAB"/>
                          </a:solidFill>
                          <a:latin typeface="Calibri"/>
                        </a:rPr>
                        <a:t>on time</a:t>
                      </a:r>
                    </a:p>
                  </a:txBody>
                  <a:tcPr marL="73152" marR="73152" marT="18288" marB="18288" anchor="ctr">
                    <a:solidFill>
                      <a:srgbClr val="FFFFFF"/>
                    </a:solidFill>
                  </a:tcPr>
                </a:tc>
              </a:tr>
              <a:tr h="365760">
                <a:tc>
                  <a:txBody>
                    <a:bodyPr wrap="square"/>
                    <a:lstStyle/>
                    <a:p>
                      <a:pPr algn="l"/>
                      <a:r>
                        <a:rPr sz="1250" b="0">
                          <a:solidFill>
                            <a:srgbClr val="14232E"/>
                          </a:solidFill>
                          <a:latin typeface="Calibri"/>
                        </a:rPr>
                        <a:t/>
                      </a:r>
                    </a:p>
                  </a:txBody>
                  <a:tcPr marL="73152" marR="73152" marT="18288" marB="18288" anchor="ctr">
                    <a:solidFill>
                      <a:srgbClr val="FFFFFF"/>
                    </a:solidFill>
                  </a:tcPr>
                </a:tc>
                <a:tc>
                  <a:txBody>
                    <a:bodyPr wrap="square"/>
                    <a:lstStyle/>
                    <a:p>
                      <a:pPr algn="l"/>
                      <a:r>
                        <a:rPr sz="1250" b="0">
                          <a:solidFill>
                            <a:srgbClr val="14232E"/>
                          </a:solidFill>
                          <a:latin typeface="Calibri"/>
                        </a:rPr>
                        <a:t>Nimble Needle</a:t>
                      </a:r>
                    </a:p>
                  </a:txBody>
                  <a:tcPr marL="73152" marR="73152" marT="18288" marB="18288" anchor="ctr">
                    <a:solidFill>
                      <a:srgbClr val="FFFFFF"/>
                    </a:solidFill>
                  </a:tcPr>
                </a:tc>
                <a:tc>
                  <a:txBody>
                    <a:bodyPr wrap="square"/>
                    <a:lstStyle/>
                    <a:p>
                      <a:pPr algn="r"/>
                      <a:r>
                        <a:rPr sz="1250" b="0">
                          <a:solidFill>
                            <a:srgbClr val="14232E"/>
                          </a:solidFill>
                          <a:latin typeface="Calibri"/>
                        </a:rPr>
                        <a:t>Thu 9 Apr</a:t>
                      </a:r>
                    </a:p>
                  </a:txBody>
                  <a:tcPr marL="73152" marR="73152" marT="18288" marB="18288" anchor="ctr">
                    <a:solidFill>
                      <a:srgbClr val="FFFFFF"/>
                    </a:solidFill>
                  </a:tcPr>
                </a:tc>
                <a:tc>
                  <a:txBody>
                    <a:bodyPr wrap="square"/>
                    <a:lstStyle/>
                    <a:p>
                      <a:pPr algn="r"/>
                      <a:r>
                        <a:rPr sz="1250" b="0">
                          <a:solidFill>
                            <a:srgbClr val="14232E"/>
                          </a:solidFill>
                          <a:latin typeface="Calibri"/>
                        </a:rPr>
                        <a:t>Sun 12 Apr</a:t>
                      </a:r>
                    </a:p>
                  </a:txBody>
                  <a:tcPr marL="73152" marR="73152" marT="18288" marB="18288" anchor="ctr">
                    <a:solidFill>
                      <a:srgbClr val="FFFFFF"/>
                    </a:solidFill>
                  </a:tcPr>
                </a:tc>
                <a:tc>
                  <a:txBody>
                    <a:bodyPr wrap="square"/>
                    <a:lstStyle/>
                    <a:p>
                      <a:pPr algn="r"/>
                      <a:r>
                        <a:rPr sz="1250" b="0">
                          <a:solidFill>
                            <a:srgbClr val="14232E"/>
                          </a:solidFill>
                          <a:latin typeface="Calibri"/>
                        </a:rPr>
                        <a:t>on time</a:t>
                      </a:r>
                    </a:p>
                  </a:txBody>
                  <a:tcPr marL="73152" marR="73152" marT="18288" marB="18288" anchor="ctr">
                    <a:solidFill>
                      <a:srgbClr val="FFFFFF"/>
                    </a:solidFill>
                  </a:tcPr>
                </a:tc>
              </a:tr>
              <a:tr h="365760">
                <a:tc>
                  <a:txBody>
                    <a:bodyPr wrap="square"/>
                    <a:lstStyle/>
                    <a:p>
                      <a:pPr algn="l"/>
                      <a:r>
                        <a:rPr sz="1250" b="0">
                          <a:solidFill>
                            <a:srgbClr val="14232E"/>
                          </a:solidFill>
                          <a:latin typeface="Calibri"/>
                        </a:rPr>
                        <a:t/>
                      </a:r>
                    </a:p>
                  </a:txBody>
                  <a:tcPr marL="73152" marR="73152" marT="18288" marB="18288" anchor="ctr">
                    <a:solidFill>
                      <a:srgbClr val="FFFFFF"/>
                    </a:solidFill>
                  </a:tcPr>
                </a:tc>
                <a:tc>
                  <a:txBody>
                    <a:bodyPr wrap="square"/>
                    <a:lstStyle/>
                    <a:p>
                      <a:pPr algn="l"/>
                      <a:r>
                        <a:rPr sz="1250" b="0">
                          <a:solidFill>
                            <a:srgbClr val="14232E"/>
                          </a:solidFill>
                          <a:latin typeface="Calibri"/>
                        </a:rPr>
                        <a:t>SteadyHands</a:t>
                      </a:r>
                    </a:p>
                  </a:txBody>
                  <a:tcPr marL="73152" marR="73152" marT="18288" marB="18288" anchor="ctr">
                    <a:solidFill>
                      <a:srgbClr val="FFFFFF"/>
                    </a:solidFill>
                  </a:tcPr>
                </a:tc>
                <a:tc>
                  <a:txBody>
                    <a:bodyPr wrap="square"/>
                    <a:lstStyle/>
                    <a:p>
                      <a:pPr algn="r"/>
                      <a:r>
                        <a:rPr sz="1250" b="0">
                          <a:solidFill>
                            <a:srgbClr val="14232E"/>
                          </a:solidFill>
                          <a:latin typeface="Calibri"/>
                        </a:rPr>
                        <a:t>Fri 10 Apr</a:t>
                      </a:r>
                    </a:p>
                  </a:txBody>
                  <a:tcPr marL="73152" marR="73152" marT="18288" marB="18288" anchor="ctr">
                    <a:solidFill>
                      <a:srgbClr val="FFFFFF"/>
                    </a:solidFill>
                  </a:tcPr>
                </a:tc>
                <a:tc>
                  <a:txBody>
                    <a:bodyPr wrap="square"/>
                    <a:lstStyle/>
                    <a:p>
                      <a:pPr algn="r"/>
                      <a:r>
                        <a:rPr sz="1250" b="0">
                          <a:solidFill>
                            <a:srgbClr val="14232E"/>
                          </a:solidFill>
                          <a:latin typeface="Calibri"/>
                        </a:rPr>
                        <a:t>Mon 13 Apr</a:t>
                      </a:r>
                    </a:p>
                  </a:txBody>
                  <a:tcPr marL="73152" marR="73152" marT="18288" marB="18288" anchor="ctr">
                    <a:solidFill>
                      <a:srgbClr val="FFFFFF"/>
                    </a:solidFill>
                  </a:tcPr>
                </a:tc>
                <a:tc>
                  <a:txBody>
                    <a:bodyPr wrap="square"/>
                    <a:lstStyle/>
                    <a:p>
                      <a:pPr algn="r"/>
                      <a:r>
                        <a:rPr sz="1250" b="0">
                          <a:solidFill>
                            <a:srgbClr val="14232E"/>
                          </a:solidFill>
                          <a:latin typeface="Calibri"/>
                        </a:rPr>
                        <a:t>on time</a:t>
                      </a:r>
                    </a:p>
                  </a:txBody>
                  <a:tcPr marL="73152" marR="73152" marT="18288" marB="18288" anchor="ctr">
                    <a:solidFill>
                      <a:srgbClr val="FFFFFF"/>
                    </a:solidFill>
                  </a:tcPr>
                </a:tc>
              </a:tr>
              <a:tr h="365760">
                <a:tc>
                  <a:txBody>
                    <a:bodyPr wrap="square"/>
                    <a:lstStyle/>
                    <a:p>
                      <a:pPr algn="l"/>
                      <a:r>
                        <a:rPr sz="1250" b="0">
                          <a:solidFill>
                            <a:srgbClr val="14232E"/>
                          </a:solidFill>
                          <a:latin typeface="Calibri"/>
                        </a:rPr>
                        <a:t/>
                      </a:r>
                    </a:p>
                  </a:txBody>
                  <a:tcPr marL="73152" marR="73152" marT="18288" marB="18288" anchor="ctr">
                    <a:solidFill>
                      <a:srgbClr val="FFFFFF"/>
                    </a:solidFill>
                  </a:tcPr>
                </a:tc>
                <a:tc>
                  <a:txBody>
                    <a:bodyPr wrap="square"/>
                    <a:lstStyle/>
                    <a:p>
                      <a:pPr algn="l"/>
                      <a:r>
                        <a:rPr sz="1250" b="0">
                          <a:solidFill>
                            <a:srgbClr val="14232E"/>
                          </a:solidFill>
                          <a:latin typeface="Calibri"/>
                        </a:rPr>
                        <a:t>BudgetWorks</a:t>
                      </a:r>
                    </a:p>
                  </a:txBody>
                  <a:tcPr marL="73152" marR="73152" marT="18288" marB="18288" anchor="ctr">
                    <a:solidFill>
                      <a:srgbClr val="FFFFFF"/>
                    </a:solidFill>
                  </a:tcPr>
                </a:tc>
                <a:tc>
                  <a:txBody>
                    <a:bodyPr wrap="square"/>
                    <a:lstStyle/>
                    <a:p>
                      <a:pPr algn="r"/>
                      <a:r>
                        <a:rPr sz="1250" b="0">
                          <a:solidFill>
                            <a:srgbClr val="14232E"/>
                          </a:solidFill>
                          <a:latin typeface="Calibri"/>
                        </a:rPr>
                        <a:t>Mon 13 Apr</a:t>
                      </a:r>
                    </a:p>
                  </a:txBody>
                  <a:tcPr marL="73152" marR="73152" marT="18288" marB="18288" anchor="ctr">
                    <a:solidFill>
                      <a:srgbClr val="FFFFFF"/>
                    </a:solidFill>
                  </a:tcPr>
                </a:tc>
                <a:tc>
                  <a:txBody>
                    <a:bodyPr wrap="square"/>
                    <a:lstStyle/>
                    <a:p>
                      <a:pPr algn="r"/>
                      <a:r>
                        <a:rPr sz="1250" b="0">
                          <a:solidFill>
                            <a:srgbClr val="14232E"/>
                          </a:solidFill>
                          <a:latin typeface="Calibri"/>
                        </a:rPr>
                        <a:t>Tue 14 Apr</a:t>
                      </a:r>
                    </a:p>
                  </a:txBody>
                  <a:tcPr marL="73152" marR="73152" marT="18288" marB="18288" anchor="ctr">
                    <a:solidFill>
                      <a:srgbClr val="FFFFFF"/>
                    </a:solidFill>
                  </a:tcPr>
                </a:tc>
                <a:tc>
                  <a:txBody>
                    <a:bodyPr wrap="square"/>
                    <a:lstStyle/>
                    <a:p>
                      <a:pPr algn="r"/>
                      <a:r>
                        <a:rPr sz="1250" b="0">
                          <a:solidFill>
                            <a:srgbClr val="A3410F"/>
                          </a:solidFill>
                          <a:latin typeface="Calibri"/>
                        </a:rPr>
                        <a:t>3 d late</a:t>
                      </a:r>
                    </a:p>
                  </a:txBody>
                  <a:tcPr marL="73152" marR="73152" marT="18288" marB="18288" anchor="ctr">
                    <a:solidFill>
                      <a:srgbClr val="FFFFFF"/>
                    </a:solidFill>
                  </a:tcPr>
                </a:tc>
              </a:tr>
            </a:tbl>
          </a:graphicData>
        </a:graphic>
      </p:graphicFrame>
      <p:sp>
        <p:nvSpPr>
          <p:cNvPr id="19" name="Card footer"/>
          <p:cNvSpPr txBox="1"/>
          <p:nvPr/>
        </p:nvSpPr>
        <p:spPr>
          <a:xfrm>
            <a:off x="6492240" y="5321808"/>
            <a:ext cx="4965192" cy="960120"/>
          </a:xfrm>
          <a:prstGeom prst="rect">
            <a:avLst/>
          </a:prstGeom>
          <a:noFill/>
        </p:spPr>
        <p:txBody>
          <a:bodyPr wrap="square" lIns="0" rIns="0" tIns="0" bIns="0" anchor="t">
            <a:noAutofit/>
          </a:bodyPr>
          <a:lstStyle/>
          <a:p>
            <a:pPr algn="l">
              <a:lnSpc>
                <a:spcPct val="100000"/>
              </a:lnSpc>
              <a:spcBef>
                <a:spcPts val="0"/>
              </a:spcBef>
              <a:spcAft>
                <a:spcPts val="400"/>
              </a:spcAft>
            </a:pPr>
            <a:r>
              <a:rPr sz="1200" b="1" i="0">
                <a:solidFill>
                  <a:srgbClr val="14232E"/>
                </a:solidFill>
                <a:latin typeface="Calibri"/>
              </a:rPr>
              <a:t>Why GiantWeave: </a:t>
            </a:r>
            <a:r>
              <a:rPr sz="1200" b="0" i="0">
                <a:solidFill>
                  <a:srgbClr val="14232E"/>
                </a:solidFill>
                <a:latin typeface="Calibri"/>
              </a:rPr>
              <a:t>it only makes tops, so the two shops that also make accessories stay free for tighter batches.</a:t>
            </a:r>
          </a:p>
          <a:p>
            <a:pPr algn="l">
              <a:lnSpc>
                <a:spcPct val="100000"/>
              </a:lnSpc>
              <a:spcBef>
                <a:spcPts val="0"/>
              </a:spcBef>
              <a:spcAft>
                <a:spcPts val="0"/>
              </a:spcAft>
            </a:pPr>
            <a:r>
              <a:rPr sz="1200" b="0" i="0">
                <a:solidFill>
                  <a:srgbClr val="52606B"/>
                </a:solidFill>
                <a:latin typeface="Calibri"/>
              </a:rPr>
              <a:t>Not eligible: QuickStitch (excluded), OldMill (suspended), FreshStart (300-piece cap), Little Loom (accessories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The language model reads and explains; the arithmetic stays in code</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3</a:t>
            </a:r>
          </a:p>
        </p:txBody>
      </p:sp>
      <p:sp>
        <p:nvSpPr>
          <p:cNvPr id="5" name="Chat message"/>
          <p:cNvSpPr/>
          <p:nvPr/>
        </p:nvSpPr>
        <p:spPr>
          <a:xfrm>
            <a:off x="548640" y="2103120"/>
            <a:ext cx="2011680" cy="2514600"/>
          </a:xfrm>
          <a:prstGeom prst="roundRect">
            <a:avLst>
              <a:gd name="adj" fmla="val 6363"/>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900"/>
              </a:spcBef>
              <a:spcAft>
                <a:spcPts val="400"/>
              </a:spcAft>
            </a:pPr>
            <a:r>
              <a:rPr sz="1050" b="1" i="0">
                <a:solidFill>
                  <a:srgbClr val="52606B"/>
                </a:solidFill>
                <a:latin typeface="Calibri"/>
              </a:rPr>
              <a:t>INPUT</a:t>
            </a:r>
          </a:p>
          <a:p>
            <a:pPr algn="l">
              <a:lnSpc>
                <a:spcPct val="100000"/>
              </a:lnSpc>
              <a:spcBef>
                <a:spcPts val="0"/>
              </a:spcBef>
              <a:spcAft>
                <a:spcPts val="600"/>
              </a:spcAft>
            </a:pPr>
            <a:r>
              <a:rPr sz="1800" b="1" i="0">
                <a:solidFill>
                  <a:srgbClr val="14232E"/>
                </a:solidFill>
                <a:latin typeface="Calibri"/>
              </a:rPr>
              <a:t>Chat message</a:t>
            </a:r>
          </a:p>
          <a:p>
            <a:pPr algn="l">
              <a:lnSpc>
                <a:spcPct val="100000"/>
              </a:lnSpc>
              <a:spcBef>
                <a:spcPts val="0"/>
              </a:spcBef>
              <a:spcAft>
                <a:spcPts val="0"/>
              </a:spcAft>
            </a:pPr>
            <a:r>
              <a:rPr sz="1400" b="0" i="0">
                <a:solidFill>
                  <a:srgbClr val="14232E"/>
                </a:solidFill>
                <a:latin typeface="Calibri"/>
              </a:rPr>
              <a:t>Free text from five people: “Send it to QuickStitch, need it back by the 19th.”</a:t>
            </a:r>
          </a:p>
        </p:txBody>
      </p:sp>
      <p:cxnSp>
        <p:nvCxnSpPr>
          <p:cNvPr id="6" name="Flow arrow"/>
          <p:cNvCxnSpPr/>
          <p:nvPr/>
        </p:nvCxnSpPr>
        <p:spPr>
          <a:xfrm>
            <a:off x="2587752" y="336042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Language layer"/>
          <p:cNvSpPr/>
          <p:nvPr/>
        </p:nvSpPr>
        <p:spPr>
          <a:xfrm>
            <a:off x="2816352" y="2103120"/>
            <a:ext cx="2011680" cy="2514600"/>
          </a:xfrm>
          <a:prstGeom prst="roundRect">
            <a:avLst>
              <a:gd name="adj" fmla="val 6363"/>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900"/>
              </a:spcBef>
              <a:spcAft>
                <a:spcPts val="400"/>
              </a:spcAft>
            </a:pPr>
            <a:r>
              <a:rPr sz="1050" b="1" i="0">
                <a:solidFill>
                  <a:srgbClr val="1C5CAB"/>
                </a:solidFill>
                <a:latin typeface="Calibri"/>
              </a:rPr>
              <a:t>LANGUAGE MODEL + CHECK</a:t>
            </a:r>
          </a:p>
          <a:p>
            <a:pPr algn="l">
              <a:lnSpc>
                <a:spcPct val="100000"/>
              </a:lnSpc>
              <a:spcBef>
                <a:spcPts val="0"/>
              </a:spcBef>
              <a:spcAft>
                <a:spcPts val="600"/>
              </a:spcAft>
            </a:pPr>
            <a:r>
              <a:rPr sz="1800" b="1" i="0">
                <a:solidFill>
                  <a:srgbClr val="14232E"/>
                </a:solidFill>
                <a:latin typeface="Calibri"/>
              </a:rPr>
              <a:t>Language layer</a:t>
            </a:r>
          </a:p>
          <a:p>
            <a:pPr algn="l">
              <a:lnSpc>
                <a:spcPct val="100000"/>
              </a:lnSpc>
              <a:spcBef>
                <a:spcPts val="0"/>
              </a:spcBef>
              <a:spcAft>
                <a:spcPts val="0"/>
              </a:spcAft>
            </a:pPr>
            <a:r>
              <a:rPr sz="1400" b="0" i="0">
                <a:solidFill>
                  <a:srgbClr val="14232E"/>
                </a:solidFill>
                <a:latin typeface="Calibri"/>
              </a:rPr>
              <a:t>The model extracts order, pieces, date, constraint. Code checks each value against the message text.</a:t>
            </a:r>
          </a:p>
        </p:txBody>
      </p:sp>
      <p:cxnSp>
        <p:nvCxnSpPr>
          <p:cNvPr id="8" name="Flow arrow"/>
          <p:cNvCxnSpPr/>
          <p:nvPr/>
        </p:nvCxnSpPr>
        <p:spPr>
          <a:xfrm>
            <a:off x="4855464" y="336042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Kernel"/>
          <p:cNvSpPr/>
          <p:nvPr/>
        </p:nvSpPr>
        <p:spPr>
          <a:xfrm>
            <a:off x="5084064" y="2103120"/>
            <a:ext cx="2011680" cy="2514600"/>
          </a:xfrm>
          <a:prstGeom prst="roundRect">
            <a:avLst>
              <a:gd name="adj" fmla="val 6363"/>
            </a:avLst>
          </a:prstGeom>
          <a:solidFill>
            <a:srgbClr val="0F2B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900"/>
              </a:spcBef>
              <a:spcAft>
                <a:spcPts val="400"/>
              </a:spcAft>
            </a:pPr>
            <a:r>
              <a:rPr sz="1050" b="1" i="0">
                <a:solidFill>
                  <a:srgbClr val="7ED9B8"/>
                </a:solidFill>
                <a:latin typeface="Calibri"/>
              </a:rPr>
              <a:t>CODE · NO LLM</a:t>
            </a:r>
          </a:p>
          <a:p>
            <a:pPr algn="l">
              <a:lnSpc>
                <a:spcPct val="100000"/>
              </a:lnSpc>
              <a:spcBef>
                <a:spcPts val="0"/>
              </a:spcBef>
              <a:spcAft>
                <a:spcPts val="600"/>
              </a:spcAft>
            </a:pPr>
            <a:r>
              <a:rPr sz="1800" b="1" i="0">
                <a:solidFill>
                  <a:srgbClr val="FFFFFF"/>
                </a:solidFill>
                <a:latin typeface="Calibri"/>
              </a:rPr>
              <a:t>Kernel</a:t>
            </a:r>
          </a:p>
          <a:p>
            <a:pPr algn="l">
              <a:lnSpc>
                <a:spcPct val="100000"/>
              </a:lnSpc>
              <a:spcBef>
                <a:spcPts val="0"/>
              </a:spcBef>
              <a:spcAft>
                <a:spcPts val="0"/>
              </a:spcAft>
            </a:pPr>
            <a:r>
              <a:rPr sz="1400" b="0" i="0">
                <a:solidFill>
                  <a:srgbClr val="FFFFFF"/>
                </a:solidFill>
                <a:latin typeface="Calibri"/>
              </a:rPr>
              <a:t>Register: can they make it, take it, are they allowed? Estimator: two dates per shop. Allocator: the objective is a setting.</a:t>
            </a:r>
          </a:p>
        </p:txBody>
      </p:sp>
      <p:cxnSp>
        <p:nvCxnSpPr>
          <p:cNvPr id="10" name="Flow arrow"/>
          <p:cNvCxnSpPr/>
          <p:nvPr/>
        </p:nvCxnSpPr>
        <p:spPr>
          <a:xfrm>
            <a:off x="7123176" y="336042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Explain and check"/>
          <p:cNvSpPr/>
          <p:nvPr/>
        </p:nvSpPr>
        <p:spPr>
          <a:xfrm>
            <a:off x="7351776" y="2103120"/>
            <a:ext cx="2011680" cy="2514600"/>
          </a:xfrm>
          <a:prstGeom prst="roundRect">
            <a:avLst>
              <a:gd name="adj" fmla="val 6363"/>
            </a:avLst>
          </a:prstGeom>
          <a:solidFill>
            <a:srgbClr val="E3F6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900"/>
              </a:spcBef>
              <a:spcAft>
                <a:spcPts val="400"/>
              </a:spcAft>
            </a:pPr>
            <a:r>
              <a:rPr sz="1050" b="1" i="0">
                <a:solidFill>
                  <a:srgbClr val="0B7A52"/>
                </a:solidFill>
                <a:latin typeface="Calibri"/>
              </a:rPr>
              <a:t>CODE</a:t>
            </a:r>
          </a:p>
          <a:p>
            <a:pPr algn="l">
              <a:lnSpc>
                <a:spcPct val="100000"/>
              </a:lnSpc>
              <a:spcBef>
                <a:spcPts val="0"/>
              </a:spcBef>
              <a:spcAft>
                <a:spcPts val="600"/>
              </a:spcAft>
            </a:pPr>
            <a:r>
              <a:rPr sz="1800" b="1" i="0">
                <a:solidFill>
                  <a:srgbClr val="14232E"/>
                </a:solidFill>
                <a:latin typeface="Calibri"/>
              </a:rPr>
              <a:t>Explain and check</a:t>
            </a:r>
          </a:p>
          <a:p>
            <a:pPr algn="l">
              <a:lnSpc>
                <a:spcPct val="100000"/>
              </a:lnSpc>
              <a:spcBef>
                <a:spcPts val="0"/>
              </a:spcBef>
              <a:spcAft>
                <a:spcPts val="0"/>
              </a:spcAft>
            </a:pPr>
            <a:r>
              <a:rPr sz="1400" b="0" i="0">
                <a:solidFill>
                  <a:srgbClr val="14232E"/>
                </a:solidFill>
                <a:latin typeface="Calibri"/>
              </a:rPr>
              <a:t>Writes the reason from tool outputs. Flags any number that is not in one.</a:t>
            </a:r>
          </a:p>
        </p:txBody>
      </p:sp>
      <p:cxnSp>
        <p:nvCxnSpPr>
          <p:cNvPr id="12" name="Flow arrow"/>
          <p:cNvCxnSpPr/>
          <p:nvPr/>
        </p:nvCxnSpPr>
        <p:spPr>
          <a:xfrm>
            <a:off x="9390888" y="336042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Dispatcher"/>
          <p:cNvSpPr/>
          <p:nvPr/>
        </p:nvSpPr>
        <p:spPr>
          <a:xfrm>
            <a:off x="9619488" y="2103120"/>
            <a:ext cx="2011680" cy="2514600"/>
          </a:xfrm>
          <a:prstGeom prst="roundRect">
            <a:avLst>
              <a:gd name="adj" fmla="val 6363"/>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900"/>
              </a:spcBef>
              <a:spcAft>
                <a:spcPts val="400"/>
              </a:spcAft>
            </a:pPr>
            <a:r>
              <a:rPr sz="1050" b="1" i="0">
                <a:solidFill>
                  <a:srgbClr val="A3410F"/>
                </a:solidFill>
                <a:latin typeface="Calibri"/>
              </a:rPr>
              <a:t>HUMAN</a:t>
            </a:r>
          </a:p>
          <a:p>
            <a:pPr algn="l">
              <a:lnSpc>
                <a:spcPct val="100000"/>
              </a:lnSpc>
              <a:spcBef>
                <a:spcPts val="0"/>
              </a:spcBef>
              <a:spcAft>
                <a:spcPts val="600"/>
              </a:spcAft>
            </a:pPr>
            <a:r>
              <a:rPr sz="1800" b="1" i="0">
                <a:solidFill>
                  <a:srgbClr val="14232E"/>
                </a:solidFill>
                <a:latin typeface="Calibri"/>
              </a:rPr>
              <a:t>Dispatcher</a:t>
            </a:r>
          </a:p>
          <a:p>
            <a:pPr algn="l">
              <a:lnSpc>
                <a:spcPct val="100000"/>
              </a:lnSpc>
              <a:spcBef>
                <a:spcPts val="0"/>
              </a:spcBef>
              <a:spcAft>
                <a:spcPts val="0"/>
              </a:spcAft>
            </a:pPr>
            <a:r>
              <a:rPr sz="1400" b="0" i="0">
                <a:solidFill>
                  <a:srgbClr val="14232E"/>
                </a:solidFill>
                <a:latin typeface="Calibri"/>
              </a:rPr>
              <a:t>Sees candidates, dates and one recommendation. Confirms, changes or escalates. Then the audit record is written.</a:t>
            </a:r>
          </a:p>
        </p:txBody>
      </p:sp>
      <p:cxnSp>
        <p:nvCxnSpPr>
          <p:cNvPr id="14" name="Simulator link"/>
          <p:cNvCxnSpPr/>
          <p:nvPr/>
        </p:nvCxnSpPr>
        <p:spPr>
          <a:xfrm flipV="1">
            <a:off x="6089904" y="4654296"/>
            <a:ext cx="0" cy="374904"/>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imulator"/>
          <p:cNvSpPr/>
          <p:nvPr/>
        </p:nvSpPr>
        <p:spPr>
          <a:xfrm>
            <a:off x="5084064" y="5029200"/>
            <a:ext cx="4279392" cy="1188720"/>
          </a:xfrm>
          <a:prstGeom prst="roundRect">
            <a:avLst>
              <a:gd name="adj" fmla="val 9230"/>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0" bIns="0">
            <a:noAutofit/>
          </a:bodyPr>
          <a:lstStyle/>
          <a:p>
            <a:pPr algn="l">
              <a:lnSpc>
                <a:spcPct val="100000"/>
              </a:lnSpc>
              <a:spcBef>
                <a:spcPts val="0"/>
              </a:spcBef>
              <a:spcAft>
                <a:spcPts val="300"/>
              </a:spcAft>
            </a:pPr>
            <a:r>
              <a:rPr sz="1400" b="1" i="0">
                <a:solidFill>
                  <a:srgbClr val="14232E"/>
                </a:solidFill>
                <a:latin typeface="Calibri"/>
              </a:rPr>
              <a:t>Shared simulator (harness/simulate.py, v3)</a:t>
            </a:r>
          </a:p>
          <a:p>
            <a:pPr algn="l">
              <a:lnSpc>
                <a:spcPct val="100000"/>
              </a:lnSpc>
              <a:spcBef>
                <a:spcPts val="0"/>
              </a:spcBef>
              <a:spcAft>
                <a:spcPts val="0"/>
              </a:spcAft>
            </a:pPr>
            <a:r>
              <a:rPr sz="1300" b="0" i="0">
                <a:solidFill>
                  <a:srgbClr val="14232E"/>
                </a:solidFill>
                <a:latin typeface="Calibri"/>
              </a:rPr>
              <a:t>Replays 120 orders through the allocator, against three baselines. Its shock option closes one workshop for two weeks.</a:t>
            </a:r>
          </a:p>
        </p:txBody>
      </p:sp>
      <p:sp>
        <p:nvSpPr>
          <p:cNvPr id="16" name="Principle"/>
          <p:cNvSpPr txBox="1"/>
          <p:nvPr/>
        </p:nvSpPr>
        <p:spPr>
          <a:xfrm>
            <a:off x="548640" y="5029200"/>
            <a:ext cx="4279392" cy="1188720"/>
          </a:xfrm>
          <a:prstGeom prst="rect">
            <a:avLst/>
          </a:prstGeom>
          <a:noFill/>
        </p:spPr>
        <p:txBody>
          <a:bodyPr wrap="square" lIns="0" rIns="0" tIns="0" bIns="0" anchor="ctr">
            <a:noAutofit/>
          </a:bodyPr>
          <a:lstStyle/>
          <a:p>
            <a:pPr algn="l">
              <a:lnSpc>
                <a:spcPct val="100000"/>
              </a:lnSpc>
              <a:spcBef>
                <a:spcPts val="0"/>
              </a:spcBef>
              <a:spcAft>
                <a:spcPts val="0"/>
              </a:spcAft>
            </a:pPr>
            <a:r>
              <a:rPr sz="1450" b="1" i="0">
                <a:solidFill>
                  <a:srgbClr val="14232E"/>
                </a:solidFill>
                <a:latin typeface="Calibri"/>
              </a:rPr>
              <a:t>The model proposes; the text and the code decide. </a:t>
            </a:r>
            <a:r>
              <a:rPr sz="1450" b="0" i="0">
                <a:solidFill>
                  <a:srgbClr val="14232E"/>
                </a:solidFill>
                <a:latin typeface="Calibri"/>
              </a:rPr>
              <a:t>Queues, estimates, rankings and costs come from code, so every number can be audited.</a:t>
            </a:r>
          </a:p>
        </p:txBody>
      </p:sp>
      <p:sp>
        <p:nvSpPr>
          <p:cNvPr id="17" name="Legend swatch"/>
          <p:cNvSpPr/>
          <p:nvPr/>
        </p:nvSpPr>
        <p:spPr>
          <a:xfrm>
            <a:off x="9619488" y="5120640"/>
            <a:ext cx="201168" cy="201168"/>
          </a:xfrm>
          <a:prstGeom prst="rect">
            <a:avLst/>
          </a:prstGeom>
          <a:solidFill>
            <a:srgbClr val="E6F0FC"/>
          </a:solidFill>
          <a:ln w="9525">
            <a:solidFill>
              <a:srgbClr val="CB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end label"/>
          <p:cNvSpPr txBox="1"/>
          <p:nvPr/>
        </p:nvSpPr>
        <p:spPr>
          <a:xfrm>
            <a:off x="9948672" y="5093208"/>
            <a:ext cx="1645920" cy="274320"/>
          </a:xfrm>
          <a:prstGeom prst="rect">
            <a:avLst/>
          </a:prstGeom>
          <a:noFill/>
        </p:spPr>
        <p:txBody>
          <a:bodyPr wrap="square" lIns="0" rIns="0" tIns="0" bIns="0" anchor="ctr">
            <a:noAutofit/>
          </a:bodyPr>
          <a:lstStyle/>
          <a:p>
            <a:pPr algn="l">
              <a:lnSpc>
                <a:spcPct val="100000"/>
              </a:lnSpc>
              <a:spcBef>
                <a:spcPts val="0"/>
              </a:spcBef>
              <a:spcAft>
                <a:spcPts val="0"/>
              </a:spcAft>
            </a:pPr>
            <a:r>
              <a:rPr sz="1250" b="0" i="0">
                <a:solidFill>
                  <a:srgbClr val="14232E"/>
                </a:solidFill>
                <a:latin typeface="Calibri"/>
              </a:rPr>
              <a:t>Language model</a:t>
            </a:r>
          </a:p>
        </p:txBody>
      </p:sp>
      <p:sp>
        <p:nvSpPr>
          <p:cNvPr id="19" name="Legend swatch"/>
          <p:cNvSpPr/>
          <p:nvPr/>
        </p:nvSpPr>
        <p:spPr>
          <a:xfrm>
            <a:off x="9619488" y="5504688"/>
            <a:ext cx="201168" cy="201168"/>
          </a:xfrm>
          <a:prstGeom prst="rect">
            <a:avLst/>
          </a:prstGeom>
          <a:solidFill>
            <a:srgbClr val="0F2B3A"/>
          </a:solidFill>
          <a:ln w="9525">
            <a:solidFill>
              <a:srgbClr val="CB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gend label"/>
          <p:cNvSpPr txBox="1"/>
          <p:nvPr/>
        </p:nvSpPr>
        <p:spPr>
          <a:xfrm>
            <a:off x="9948672" y="5477256"/>
            <a:ext cx="1645920" cy="274320"/>
          </a:xfrm>
          <a:prstGeom prst="rect">
            <a:avLst/>
          </a:prstGeom>
          <a:noFill/>
        </p:spPr>
        <p:txBody>
          <a:bodyPr wrap="square" lIns="0" rIns="0" tIns="0" bIns="0" anchor="ctr">
            <a:noAutofit/>
          </a:bodyPr>
          <a:lstStyle/>
          <a:p>
            <a:pPr algn="l">
              <a:lnSpc>
                <a:spcPct val="100000"/>
              </a:lnSpc>
              <a:spcBef>
                <a:spcPts val="0"/>
              </a:spcBef>
              <a:spcAft>
                <a:spcPts val="0"/>
              </a:spcAft>
            </a:pPr>
            <a:r>
              <a:rPr sz="1250" b="0" i="0">
                <a:solidFill>
                  <a:srgbClr val="14232E"/>
                </a:solidFill>
                <a:latin typeface="Calibri"/>
              </a:rPr>
              <a:t>Code</a:t>
            </a:r>
          </a:p>
        </p:txBody>
      </p:sp>
      <p:sp>
        <p:nvSpPr>
          <p:cNvPr id="21" name="Legend swatch"/>
          <p:cNvSpPr/>
          <p:nvPr/>
        </p:nvSpPr>
        <p:spPr>
          <a:xfrm>
            <a:off x="9619488" y="5888736"/>
            <a:ext cx="201168" cy="201168"/>
          </a:xfrm>
          <a:prstGeom prst="rect">
            <a:avLst/>
          </a:prstGeom>
          <a:solidFill>
            <a:srgbClr val="FDEBE3"/>
          </a:solidFill>
          <a:ln w="9525">
            <a:solidFill>
              <a:srgbClr val="CB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gend label"/>
          <p:cNvSpPr txBox="1"/>
          <p:nvPr/>
        </p:nvSpPr>
        <p:spPr>
          <a:xfrm>
            <a:off x="9948672" y="5861304"/>
            <a:ext cx="1645920" cy="274320"/>
          </a:xfrm>
          <a:prstGeom prst="rect">
            <a:avLst/>
          </a:prstGeom>
          <a:noFill/>
        </p:spPr>
        <p:txBody>
          <a:bodyPr wrap="square" lIns="0" rIns="0" tIns="0" bIns="0" anchor="ctr">
            <a:noAutofit/>
          </a:bodyPr>
          <a:lstStyle/>
          <a:p>
            <a:pPr algn="l">
              <a:lnSpc>
                <a:spcPct val="100000"/>
              </a:lnSpc>
              <a:spcBef>
                <a:spcPts val="0"/>
              </a:spcBef>
              <a:spcAft>
                <a:spcPts val="0"/>
              </a:spcAft>
            </a:pPr>
            <a:r>
              <a:rPr sz="1250" b="0" i="0">
                <a:solidFill>
                  <a:srgbClr val="14232E"/>
                </a:solidFill>
                <a:latin typeface="Calibri"/>
              </a:rPr>
              <a:t>Human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In replay, late batches fall from 34% to 1.7%</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4</a:t>
            </a:r>
          </a:p>
        </p:txBody>
      </p:sp>
      <p:pic>
        <p:nvPicPr>
          <p:cNvPr id="5" name="Picture" descr="Bar chart of late batches by policy: cheapest 92%, greedy_biggest 84%, random 34%, simple rule 1.7%, our allocator 1.7%"/>
          <p:cNvPicPr>
            <a:picLocks noChangeAspect="1"/>
          </p:cNvPicPr>
          <p:nvPr/>
        </p:nvPicPr>
        <p:blipFill>
          <a:blip r:embed="rId2"/>
          <a:stretch>
            <a:fillRect/>
          </a:stretch>
        </p:blipFill>
        <p:spPr>
          <a:xfrm>
            <a:off x="548640" y="1828800"/>
            <a:ext cx="5852160" cy="3383280"/>
          </a:xfrm>
          <a:prstGeom prst="rect">
            <a:avLst/>
          </a:prstGeom>
        </p:spPr>
      </p:pic>
      <p:sp>
        <p:nvSpPr>
          <p:cNvPr id="6" name="Source"/>
          <p:cNvSpPr txBox="1"/>
          <p:nvPr/>
        </p:nvSpPr>
        <p:spPr>
          <a:xfrm>
            <a:off x="548640" y="5349240"/>
            <a:ext cx="5852160" cy="82296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52606B"/>
                </a:solidFill>
                <a:latin typeface="Calibri"/>
              </a:rPr>
              <a:t>Source: harness/simulate.py v3, seeds 5105 to 5114, repo commit 1c6cb61. Every order is replayed as if it had gone outside on its order date.</a:t>
            </a:r>
          </a:p>
        </p:txBody>
      </p:sp>
      <p:sp>
        <p:nvSpPr>
          <p:cNvPr id="7" name="Label"/>
          <p:cNvSpPr txBox="1"/>
          <p:nvPr/>
        </p:nvSpPr>
        <p:spPr>
          <a:xfrm>
            <a:off x="6858000" y="1783080"/>
            <a:ext cx="3657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WHAT THE DISPATCHER GETS</a:t>
            </a:r>
          </a:p>
        </p:txBody>
      </p:sp>
      <p:sp>
        <p:nvSpPr>
          <p:cNvPr id="8" name="Stat"/>
          <p:cNvSpPr txBox="1"/>
          <p:nvPr/>
        </p:nvSpPr>
        <p:spPr>
          <a:xfrm>
            <a:off x="6858000" y="2148840"/>
            <a:ext cx="475488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9.3 days</a:t>
            </a:r>
          </a:p>
        </p:txBody>
      </p:sp>
      <p:sp>
        <p:nvSpPr>
          <p:cNvPr id="9" name="Stat label"/>
          <p:cNvSpPr txBox="1"/>
          <p:nvPr/>
        </p:nvSpPr>
        <p:spPr>
          <a:xfrm>
            <a:off x="6858000" y="2770632"/>
            <a:ext cx="4754880" cy="50292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mean turnaround, down from 21.9 days when workshops are picked at random</a:t>
            </a:r>
          </a:p>
        </p:txBody>
      </p:sp>
      <p:sp>
        <p:nvSpPr>
          <p:cNvPr id="10" name="Stat"/>
          <p:cNvSpPr txBox="1"/>
          <p:nvPr/>
        </p:nvSpPr>
        <p:spPr>
          <a:xfrm>
            <a:off x="6858000" y="3520440"/>
            <a:ext cx="475488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+3.3% cost</a:t>
            </a:r>
          </a:p>
        </p:txBody>
      </p:sp>
      <p:sp>
        <p:nvSpPr>
          <p:cNvPr id="11" name="Stat label"/>
          <p:cNvSpPr txBox="1"/>
          <p:nvPr/>
        </p:nvSpPr>
        <p:spPr>
          <a:xfrm>
            <a:off x="6858000" y="4142232"/>
            <a:ext cx="4754880" cy="50292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against random (115.4k against 111.8k): speed is not free</a:t>
            </a:r>
          </a:p>
        </p:txBody>
      </p:sp>
      <p:sp>
        <p:nvSpPr>
          <p:cNvPr id="12" name="Stat"/>
          <p:cNvSpPr txBox="1"/>
          <p:nvPr/>
        </p:nvSpPr>
        <p:spPr>
          <a:xfrm>
            <a:off x="6858000" y="4846320"/>
            <a:ext cx="475488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17 of 30</a:t>
            </a:r>
          </a:p>
        </p:txBody>
      </p:sp>
      <p:sp>
        <p:nvSpPr>
          <p:cNvPr id="13" name="Stat label"/>
          <p:cNvSpPr txBox="1"/>
          <p:nvPr/>
        </p:nvSpPr>
        <p:spPr>
          <a:xfrm>
            <a:off x="6858000" y="5468112"/>
            <a:ext cx="4754880" cy="100584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morning messages cannot simply be dispatched: 7 need a question, 4 name a workshop that cannot take the job, 3 cannot meet the date, 3 have no answer in the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Sprint 1 so far: the loop runs end to end, and each part is now measured</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5</a:t>
            </a:r>
          </a:p>
        </p:txBody>
      </p:sp>
      <p:pic>
        <p:nvPicPr>
          <p:cNvPr id="5" name="Picture" descr="Screenshot of the dispatcher interface: inbox grouped by next step with a one-click confirm, and the decision card for R12"/>
          <p:cNvPicPr>
            <a:picLocks noChangeAspect="1"/>
          </p:cNvPicPr>
          <p:nvPr/>
        </p:nvPicPr>
        <p:blipFill>
          <a:blip r:embed="rId2"/>
          <a:stretch>
            <a:fillRect/>
          </a:stretch>
        </p:blipFill>
        <p:spPr>
          <a:xfrm>
            <a:off x="548640" y="1783080"/>
            <a:ext cx="5120640" cy="4169663"/>
          </a:xfrm>
          <a:prstGeom prst="rect">
            <a:avLst/>
          </a:prstGeom>
        </p:spPr>
      </p:pic>
      <p:sp>
        <p:nvSpPr>
          <p:cNvPr id="6" name="Screenshot frame"/>
          <p:cNvSpPr/>
          <p:nvPr/>
        </p:nvSpPr>
        <p:spPr>
          <a:xfrm>
            <a:off x="548640" y="1783080"/>
            <a:ext cx="5120640" cy="4169663"/>
          </a:xfrm>
          <a:prstGeom prst="rect">
            <a:avLst/>
          </a:prstGeom>
          <a:noFill/>
          <a:ln w="12700">
            <a:solidFill>
              <a:srgbClr val="CB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ption"/>
          <p:cNvSpPr txBox="1"/>
          <p:nvPr/>
        </p:nvSpPr>
        <p:spPr>
          <a:xfrm>
            <a:off x="548640" y="5998464"/>
            <a:ext cx="5120640" cy="41148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52606B"/>
                </a:solidFill>
                <a:latin typeface="Calibri"/>
              </a:rPr>
              <a:t>Dispatcher interface: grouped by next step, tightest first; one click confirms the rework-safe recommendations</a:t>
            </a:r>
          </a:p>
        </p:txBody>
      </p:sp>
      <p:sp>
        <p:nvSpPr>
          <p:cNvPr id="8" name="Number"/>
          <p:cNvSpPr txBox="1"/>
          <p:nvPr/>
        </p:nvSpPr>
        <p:spPr>
          <a:xfrm>
            <a:off x="5989320" y="1783080"/>
            <a:ext cx="2148840" cy="822960"/>
          </a:xfrm>
          <a:prstGeom prst="rect">
            <a:avLst/>
          </a:prstGeom>
          <a:noFill/>
        </p:spPr>
        <p:txBody>
          <a:bodyPr wrap="square" lIns="0" rIns="0" tIns="0" bIns="0" anchor="t">
            <a:noAutofit/>
          </a:bodyPr>
          <a:lstStyle/>
          <a:p>
            <a:pPr algn="l">
              <a:lnSpc>
                <a:spcPct val="95000"/>
              </a:lnSpc>
              <a:spcBef>
                <a:spcPts val="0"/>
              </a:spcBef>
              <a:spcAft>
                <a:spcPts val="0"/>
              </a:spcAft>
            </a:pPr>
            <a:r>
              <a:rPr sz="3000" b="1" i="0">
                <a:solidFill>
                  <a:srgbClr val="2A78D6"/>
                </a:solidFill>
                <a:latin typeface="Calibri"/>
              </a:rPr>
              <a:t>56 / 56</a:t>
            </a:r>
          </a:p>
        </p:txBody>
      </p:sp>
      <p:sp>
        <p:nvSpPr>
          <p:cNvPr id="9" name="Tile text"/>
          <p:cNvSpPr txBox="1"/>
          <p:nvPr/>
        </p:nvSpPr>
        <p:spPr>
          <a:xfrm>
            <a:off x="8183879" y="1801368"/>
            <a:ext cx="3456432" cy="1051560"/>
          </a:xfrm>
          <a:prstGeom prst="rect">
            <a:avLst/>
          </a:prstGeom>
          <a:noFill/>
        </p:spPr>
        <p:txBody>
          <a:bodyPr wrap="square" lIns="0" rIns="0" tIns="0" bIns="0" anchor="t">
            <a:noAutofit/>
          </a:bodyPr>
          <a:lstStyle/>
          <a:p>
            <a:pPr algn="l">
              <a:lnSpc>
                <a:spcPct val="100000"/>
              </a:lnSpc>
              <a:spcBef>
                <a:spcPts val="0"/>
              </a:spcBef>
              <a:spcAft>
                <a:spcPts val="0"/>
              </a:spcAft>
            </a:pPr>
            <a:r>
              <a:rPr sz="1350" b="1" i="0">
                <a:solidFill>
                  <a:srgbClr val="14232E"/>
                </a:solidFill>
                <a:latin typeface="Calibri"/>
              </a:rPr>
              <a:t>Tests pass. </a:t>
            </a:r>
            <a:r>
              <a:rPr sz="1350" b="0" i="0">
                <a:solidFill>
                  <a:srgbClr val="14232E"/>
                </a:solidFill>
                <a:latin typeface="Calibri"/>
              </a:rPr>
              <a:t>Kernel, dispatcher workflow, the new rule, and the checks on what the model extracts.</a:t>
            </a:r>
          </a:p>
        </p:txBody>
      </p:sp>
      <p:sp>
        <p:nvSpPr>
          <p:cNvPr id="10" name="Number"/>
          <p:cNvSpPr txBox="1"/>
          <p:nvPr/>
        </p:nvSpPr>
        <p:spPr>
          <a:xfrm>
            <a:off x="5989320" y="2898648"/>
            <a:ext cx="2148840" cy="822960"/>
          </a:xfrm>
          <a:prstGeom prst="rect">
            <a:avLst/>
          </a:prstGeom>
          <a:noFill/>
        </p:spPr>
        <p:txBody>
          <a:bodyPr wrap="square" lIns="0" rIns="0" tIns="0" bIns="0" anchor="t">
            <a:noAutofit/>
          </a:bodyPr>
          <a:lstStyle/>
          <a:p>
            <a:pPr algn="l">
              <a:lnSpc>
                <a:spcPct val="95000"/>
              </a:lnSpc>
              <a:spcBef>
                <a:spcPts val="0"/>
              </a:spcBef>
              <a:spcAft>
                <a:spcPts val="0"/>
              </a:spcAft>
            </a:pPr>
            <a:r>
              <a:rPr sz="3000" b="1" i="0">
                <a:solidFill>
                  <a:srgbClr val="2A78D6"/>
                </a:solidFill>
                <a:latin typeface="Calibri"/>
              </a:rPr>
              <a:t>30 / 30</a:t>
            </a:r>
          </a:p>
        </p:txBody>
      </p:sp>
      <p:sp>
        <p:nvSpPr>
          <p:cNvPr id="11" name="Tile text"/>
          <p:cNvSpPr txBox="1"/>
          <p:nvPr/>
        </p:nvSpPr>
        <p:spPr>
          <a:xfrm>
            <a:off x="8183879" y="2916936"/>
            <a:ext cx="3456432" cy="1051560"/>
          </a:xfrm>
          <a:prstGeom prst="rect">
            <a:avLst/>
          </a:prstGeom>
          <a:noFill/>
        </p:spPr>
        <p:txBody>
          <a:bodyPr wrap="square" lIns="0" rIns="0" tIns="0" bIns="0" anchor="t">
            <a:noAutofit/>
          </a:bodyPr>
          <a:lstStyle/>
          <a:p>
            <a:pPr algn="l">
              <a:lnSpc>
                <a:spcPct val="100000"/>
              </a:lnSpc>
              <a:spcBef>
                <a:spcPts val="0"/>
              </a:spcBef>
              <a:spcAft>
                <a:spcPts val="0"/>
              </a:spcAft>
            </a:pPr>
            <a:r>
              <a:rPr sz="1350" b="1" i="0">
                <a:solidFill>
                  <a:srgbClr val="14232E"/>
                </a:solidFill>
                <a:latin typeface="Calibri"/>
              </a:rPr>
              <a:t>Replies fully traced. </a:t>
            </a:r>
            <a:r>
              <a:rPr sz="1350" b="0" i="0">
                <a:solidFill>
                  <a:srgbClr val="14232E"/>
                </a:solidFill>
                <a:latin typeface="Calibri"/>
              </a:rPr>
              <a:t>Every number in every reply on the 30-message inbox comes from a tool output.</a:t>
            </a:r>
          </a:p>
        </p:txBody>
      </p:sp>
      <p:sp>
        <p:nvSpPr>
          <p:cNvPr id="12" name="Number"/>
          <p:cNvSpPr txBox="1"/>
          <p:nvPr/>
        </p:nvSpPr>
        <p:spPr>
          <a:xfrm>
            <a:off x="5989320" y="4014215"/>
            <a:ext cx="2148840" cy="822960"/>
          </a:xfrm>
          <a:prstGeom prst="rect">
            <a:avLst/>
          </a:prstGeom>
          <a:noFill/>
        </p:spPr>
        <p:txBody>
          <a:bodyPr wrap="square" lIns="0" rIns="0" tIns="0" bIns="0" anchor="t">
            <a:noAutofit/>
          </a:bodyPr>
          <a:lstStyle/>
          <a:p>
            <a:pPr algn="l">
              <a:lnSpc>
                <a:spcPct val="95000"/>
              </a:lnSpc>
              <a:spcBef>
                <a:spcPts val="0"/>
              </a:spcBef>
              <a:spcAft>
                <a:spcPts val="0"/>
              </a:spcAft>
            </a:pPr>
            <a:r>
              <a:rPr sz="3000" b="1" i="0">
                <a:solidFill>
                  <a:srgbClr val="2A78D6"/>
                </a:solidFill>
                <a:latin typeface="Calibri"/>
              </a:rPr>
              <a:t>κ 0.70</a:t>
            </a:r>
          </a:p>
        </p:txBody>
      </p:sp>
      <p:sp>
        <p:nvSpPr>
          <p:cNvPr id="13" name="Tile text"/>
          <p:cNvSpPr txBox="1"/>
          <p:nvPr/>
        </p:nvSpPr>
        <p:spPr>
          <a:xfrm>
            <a:off x="8183879" y="4032503"/>
            <a:ext cx="3456432" cy="1051560"/>
          </a:xfrm>
          <a:prstGeom prst="rect">
            <a:avLst/>
          </a:prstGeom>
          <a:noFill/>
        </p:spPr>
        <p:txBody>
          <a:bodyPr wrap="square" lIns="0" rIns="0" tIns="0" bIns="0" anchor="t">
            <a:noAutofit/>
          </a:bodyPr>
          <a:lstStyle/>
          <a:p>
            <a:pPr algn="l">
              <a:lnSpc>
                <a:spcPct val="100000"/>
              </a:lnSpc>
              <a:spcBef>
                <a:spcPts val="0"/>
              </a:spcBef>
              <a:spcAft>
                <a:spcPts val="0"/>
              </a:spcAft>
            </a:pPr>
            <a:r>
              <a:rPr sz="1350" b="1" i="0">
                <a:solidFill>
                  <a:srgbClr val="14232E"/>
                </a:solidFill>
                <a:latin typeface="Calibri"/>
              </a:rPr>
              <a:t>Six members labelled the inbox on their own. </a:t>
            </a:r>
            <a:r>
              <a:rPr sz="1350" b="0" i="0">
                <a:solidFill>
                  <a:srgbClr val="14232E"/>
                </a:solidFill>
                <a:latin typeface="Calibri"/>
              </a:rPr>
              <a:t>The 9 changed requests: unanimous. Weakest where the named workshop cannot take the job.</a:t>
            </a:r>
          </a:p>
        </p:txBody>
      </p:sp>
      <p:sp>
        <p:nvSpPr>
          <p:cNvPr id="14" name="Number"/>
          <p:cNvSpPr txBox="1"/>
          <p:nvPr/>
        </p:nvSpPr>
        <p:spPr>
          <a:xfrm>
            <a:off x="5989320" y="5129784"/>
            <a:ext cx="2148840" cy="822960"/>
          </a:xfrm>
          <a:prstGeom prst="rect">
            <a:avLst/>
          </a:prstGeom>
          <a:noFill/>
        </p:spPr>
        <p:txBody>
          <a:bodyPr wrap="square" lIns="0" rIns="0" tIns="0" bIns="0" anchor="t">
            <a:noAutofit/>
          </a:bodyPr>
          <a:lstStyle/>
          <a:p>
            <a:pPr algn="l">
              <a:lnSpc>
                <a:spcPct val="95000"/>
              </a:lnSpc>
              <a:spcBef>
                <a:spcPts val="0"/>
              </a:spcBef>
              <a:spcAft>
                <a:spcPts val="0"/>
              </a:spcAft>
            </a:pPr>
            <a:r>
              <a:rPr sz="3000" b="1" i="0">
                <a:solidFill>
                  <a:srgbClr val="2A78D6"/>
                </a:solidFill>
                <a:latin typeface="Calibri"/>
              </a:rPr>
              <a:t>86% → 100%</a:t>
            </a:r>
          </a:p>
        </p:txBody>
      </p:sp>
      <p:sp>
        <p:nvSpPr>
          <p:cNvPr id="15" name="Tile text"/>
          <p:cNvSpPr txBox="1"/>
          <p:nvPr/>
        </p:nvSpPr>
        <p:spPr>
          <a:xfrm>
            <a:off x="8183879" y="5148072"/>
            <a:ext cx="3456432" cy="1051560"/>
          </a:xfrm>
          <a:prstGeom prst="rect">
            <a:avLst/>
          </a:prstGeom>
          <a:noFill/>
        </p:spPr>
        <p:txBody>
          <a:bodyPr wrap="square" lIns="0" rIns="0" tIns="0" bIns="0" anchor="t">
            <a:noAutofit/>
          </a:bodyPr>
          <a:lstStyle/>
          <a:p>
            <a:pPr algn="l">
              <a:lnSpc>
                <a:spcPct val="100000"/>
              </a:lnSpc>
              <a:spcBef>
                <a:spcPts val="0"/>
              </a:spcBef>
              <a:spcAft>
                <a:spcPts val="0"/>
              </a:spcAft>
            </a:pPr>
            <a:r>
              <a:rPr sz="1350" b="1" i="0">
                <a:solidFill>
                  <a:srgbClr val="14232E"/>
                </a:solidFill>
                <a:latin typeface="Calibri"/>
              </a:rPr>
              <a:t>Right behaviour with GPT-5 nano on the 30 we developed on. </a:t>
            </a:r>
            <a:r>
              <a:rPr sz="1350" b="0" i="0">
                <a:solidFill>
                  <a:srgbClr val="14232E"/>
                </a:solidFill>
                <a:latin typeface="Calibri"/>
              </a:rPr>
              <a:t>A sharper prompt, plus code that checks each extracted value against the message. 97% on 38 new messages.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Our lateness rule ties the simple rule on the official data, and wins when the data moves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6</a:t>
            </a:r>
          </a:p>
        </p:txBody>
      </p:sp>
      <p:pic>
        <p:nvPicPr>
          <p:cNvPr id="5" name="Picture" descr="Paired bars of late batches for the simple rule and our rule on five kinds of data"/>
          <p:cNvPicPr>
            <a:picLocks noChangeAspect="1"/>
          </p:cNvPicPr>
          <p:nvPr/>
        </p:nvPicPr>
        <p:blipFill>
          <a:blip r:embed="rId2"/>
          <a:stretch>
            <a:fillRect/>
          </a:stretch>
        </p:blipFill>
        <p:spPr>
          <a:xfrm>
            <a:off x="548640" y="1783080"/>
            <a:ext cx="5760720" cy="4050791"/>
          </a:xfrm>
          <a:prstGeom prst="rect">
            <a:avLst/>
          </a:prstGeom>
        </p:spPr>
      </p:pic>
      <p:sp>
        <p:nvSpPr>
          <p:cNvPr id="6" name="Source"/>
          <p:cNvSpPr txBox="1"/>
          <p:nvPr/>
        </p:nvSpPr>
        <p:spPr>
          <a:xfrm>
            <a:off x="548640" y="5897880"/>
            <a:ext cx="6035040" cy="45720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52606B"/>
                </a:solidFill>
                <a:latin typeface="Calibri"/>
              </a:rPr>
              <a:t>Official: seeds 5105 to 5114. Fresh sets were generated after the rule was fixed (seeds 20000+), 3 seeds each. The allocators are not told about Sundays.</a:t>
            </a:r>
          </a:p>
        </p:txBody>
      </p:sp>
      <p:sp>
        <p:nvSpPr>
          <p:cNvPr id="7" name="Label"/>
          <p:cNvSpPr txBox="1"/>
          <p:nvPr/>
        </p:nvSpPr>
        <p:spPr>
          <a:xfrm>
            <a:off x="6949440" y="1783080"/>
            <a:ext cx="466344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PRIMARY OBJECTIVE</a:t>
            </a:r>
          </a:p>
        </p:txBody>
      </p:sp>
      <p:sp>
        <p:nvSpPr>
          <p:cNvPr id="8" name="Objective"/>
          <p:cNvSpPr txBox="1"/>
          <p:nvPr/>
        </p:nvSpPr>
        <p:spPr>
          <a:xfrm>
            <a:off x="6949440" y="2103120"/>
            <a:ext cx="4690872" cy="548640"/>
          </a:xfrm>
          <a:prstGeom prst="rect">
            <a:avLst/>
          </a:prstGeom>
          <a:noFill/>
        </p:spPr>
        <p:txBody>
          <a:bodyPr wrap="square" lIns="0" rIns="0" tIns="0" bIns="0" anchor="t">
            <a:noAutofit/>
          </a:bodyPr>
          <a:lstStyle/>
          <a:p>
            <a:pPr algn="l">
              <a:lnSpc>
                <a:spcPct val="100000"/>
              </a:lnSpc>
              <a:spcBef>
                <a:spcPts val="0"/>
              </a:spcBef>
              <a:spcAft>
                <a:spcPts val="0"/>
              </a:spcAft>
            </a:pPr>
            <a:r>
              <a:rPr sz="2800" b="1" i="0">
                <a:solidFill>
                  <a:srgbClr val="14232E"/>
                </a:solidFill>
                <a:latin typeface="Cambria"/>
              </a:rPr>
              <a:t>Minimise lateness</a:t>
            </a:r>
          </a:p>
        </p:txBody>
      </p:sp>
      <p:sp>
        <p:nvSpPr>
          <p:cNvPr id="9" name="Rule"/>
          <p:cNvSpPr txBox="1"/>
          <p:nvPr/>
        </p:nvSpPr>
        <p:spPr>
          <a:xfrm>
            <a:off x="6949440" y="2724912"/>
            <a:ext cx="4690872" cy="11887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4232E"/>
                </a:solidFill>
                <a:latin typeface="Calibri"/>
              </a:rPr>
              <a:t>The rule, in order: </a:t>
            </a:r>
            <a:r>
              <a:rPr sz="1400" b="0" i="0">
                <a:solidFill>
                  <a:srgbClr val="14232E"/>
                </a:solidFill>
                <a:latin typeface="Calibri"/>
              </a:rPr>
              <a:t>on time even if the batch is reworked; then the least flexible shop (a specialist before one that makes both categories); then earliest finish.</a:t>
            </a:r>
          </a:p>
        </p:txBody>
      </p:sp>
      <p:sp>
        <p:nvSpPr>
          <p:cNvPr id="10" name="Findings"/>
          <p:cNvSpPr txBox="1"/>
          <p:nvPr/>
        </p:nvSpPr>
        <p:spPr>
          <a:xfrm>
            <a:off x="6949440" y="3931920"/>
            <a:ext cx="4690872" cy="2103120"/>
          </a:xfrm>
          <a:prstGeom prst="rect">
            <a:avLst/>
          </a:prstGeom>
          <a:noFill/>
        </p:spPr>
        <p:txBody>
          <a:bodyPr wrap="square" lIns="0" rIns="0" tIns="0" bIns="0" anchor="t">
            <a:noAutofit/>
          </a:bodyPr>
          <a:lstStyle/>
          <a:p>
            <a:pPr algn="l" marL="201168" indent="-201168">
              <a:lnSpc>
                <a:spcPct val="100000"/>
              </a:lnSpc>
              <a:spcBef>
                <a:spcPts val="0"/>
              </a:spcBef>
              <a:spcAft>
                <a:spcPts val="800"/>
              </a:spcAft>
              <a:buFont typeface="Arial"/>
              <a:buChar char="•"/>
            </a:pPr>
            <a:r>
              <a:rPr sz="1400" b="1" i="0">
                <a:solidFill>
                  <a:srgbClr val="14232E"/>
                </a:solidFill>
                <a:latin typeface="Calibri"/>
              </a:rPr>
              <a:t>Official data: </a:t>
            </a:r>
            <a:r>
              <a:rPr sz="1400" b="0" i="0">
                <a:solidFill>
                  <a:srgbClr val="14232E"/>
                </a:solidFill>
                <a:latin typeface="Calibri"/>
              </a:rPr>
              <a:t>a tie on late batches (1.7%), half the late days (0.09 against 0.18).</a:t>
            </a:r>
          </a:p>
          <a:p>
            <a:pPr algn="l" marL="201168" indent="-201168">
              <a:lnSpc>
                <a:spcPct val="100000"/>
              </a:lnSpc>
              <a:spcBef>
                <a:spcPts val="0"/>
              </a:spcBef>
              <a:spcAft>
                <a:spcPts val="800"/>
              </a:spcAft>
              <a:buFont typeface="Arial"/>
              <a:buChar char="•"/>
            </a:pPr>
            <a:r>
              <a:rPr sz="1400" b="1" i="0">
                <a:solidFill>
                  <a:srgbClr val="14232E"/>
                </a:solidFill>
                <a:latin typeface="Calibri"/>
              </a:rPr>
              <a:t>Fresh data: </a:t>
            </a:r>
            <a:r>
              <a:rPr sz="1400" b="0" i="0">
                <a:solidFill>
                  <a:srgbClr val="14232E"/>
                </a:solidFill>
                <a:latin typeface="Calibri"/>
              </a:rPr>
              <a:t>better on 72 of 100 jittered order books, worse on 3.</a:t>
            </a:r>
          </a:p>
          <a:p>
            <a:pPr algn="l" marL="201168" indent="-201168">
              <a:lnSpc>
                <a:spcPct val="100000"/>
              </a:lnSpc>
              <a:spcBef>
                <a:spcPts val="0"/>
              </a:spcBef>
              <a:spcAft>
                <a:spcPts val="0"/>
              </a:spcAft>
              <a:buFont typeface="Arial"/>
              <a:buChar char="•"/>
            </a:pPr>
            <a:r>
              <a:rPr sz="1400" b="1" i="0">
                <a:solidFill>
                  <a:srgbClr val="14232E"/>
                </a:solidFill>
                <a:latin typeface="Calibri"/>
              </a:rPr>
              <a:t>Where the simple rule still wins: </a:t>
            </a:r>
            <a:r>
              <a:rPr sz="1400" b="0" i="0">
                <a:solidFill>
                  <a:srgbClr val="14232E"/>
                </a:solidFill>
                <a:latin typeface="Calibri"/>
              </a:rPr>
              <a:t>mean turnaround, 8.3 against 9.3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What could go wrong, and what we are assuming</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7</a:t>
            </a:r>
          </a:p>
        </p:txBody>
      </p:sp>
      <p:sp>
        <p:nvSpPr>
          <p:cNvPr id="5" name="Label"/>
          <p:cNvSpPr txBox="1"/>
          <p:nvPr/>
        </p:nvSpPr>
        <p:spPr>
          <a:xfrm>
            <a:off x="548640" y="1783080"/>
            <a:ext cx="3657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A3410F"/>
                </a:solidFill>
                <a:latin typeface="Calibri"/>
              </a:rPr>
              <a:t>RISKS</a:t>
            </a:r>
          </a:p>
        </p:txBody>
      </p:sp>
      <p:sp>
        <p:nvSpPr>
          <p:cNvPr id="6" name="Label"/>
          <p:cNvSpPr txBox="1"/>
          <p:nvPr/>
        </p:nvSpPr>
        <p:spPr>
          <a:xfrm>
            <a:off x="6355080" y="1783080"/>
            <a:ext cx="3657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C5CAB"/>
                </a:solidFill>
                <a:latin typeface="Calibri"/>
              </a:rPr>
              <a:t>ASSUMPTIONS</a:t>
            </a:r>
          </a:p>
        </p:txBody>
      </p:sp>
      <p:sp>
        <p:nvSpPr>
          <p:cNvPr id="7" name="Risk 1"/>
          <p:cNvSpPr/>
          <p:nvPr/>
        </p:nvSpPr>
        <p:spPr>
          <a:xfrm>
            <a:off x="548640" y="2103120"/>
            <a:ext cx="5532120" cy="914400"/>
          </a:xfrm>
          <a:prstGeom prst="roundRect">
            <a:avLst>
              <a:gd name="adj" fmla="val 10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Our labels are ours, not the instructor's. </a:t>
            </a:r>
            <a:r>
              <a:rPr sz="1400" b="0" i="0">
                <a:solidFill>
                  <a:srgbClr val="14232E"/>
                </a:solidFill>
                <a:latin typeface="Calibri"/>
              </a:rPr>
              <a:t>Frozen on 7 Oct: 5 of 30 fell short of 5/6 agreement and were settled by a team vote on one stated rule. The counts per kind match the instructor's.</a:t>
            </a:r>
          </a:p>
        </p:txBody>
      </p:sp>
      <p:sp>
        <p:nvSpPr>
          <p:cNvPr id="8" name="Assumption 1"/>
          <p:cNvSpPr/>
          <p:nvPr/>
        </p:nvSpPr>
        <p:spPr>
          <a:xfrm>
            <a:off x="6355080" y="2103120"/>
            <a:ext cx="5285232" cy="914400"/>
          </a:xfrm>
          <a:prstGeom prst="roundRect">
            <a:avLst>
              <a:gd name="adj" fmla="val 10000"/>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Today is 1 April 2026; requests arrive in time order. </a:t>
            </a:r>
            <a:r>
              <a:rPr sz="1400" b="0" i="0">
                <a:solidFill>
                  <a:srgbClr val="14232E"/>
                </a:solidFill>
                <a:latin typeface="Calibri"/>
              </a:rPr>
              <a:t>A confirmed dispatch occupies capacity for later requests (team decision).</a:t>
            </a:r>
          </a:p>
        </p:txBody>
      </p:sp>
      <p:sp>
        <p:nvSpPr>
          <p:cNvPr id="9" name="Risk 2"/>
          <p:cNvSpPr/>
          <p:nvPr/>
        </p:nvSpPr>
        <p:spPr>
          <a:xfrm>
            <a:off x="548640" y="3127248"/>
            <a:ext cx="5532120" cy="914400"/>
          </a:xfrm>
          <a:prstGeom prst="roundRect">
            <a:avLst>
              <a:gd name="adj" fmla="val 10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On the official data we only tie the simple rule. </a:t>
            </a:r>
            <a:r>
              <a:rPr sz="1400" b="0" i="0">
                <a:solidFill>
                  <a:srgbClr val="14232E"/>
                </a:solidFill>
                <a:latin typeface="Calibri"/>
              </a:rPr>
              <a:t>Our edge shows on jittered and stressed data. We report both, and where the baseline wins.</a:t>
            </a:r>
          </a:p>
        </p:txBody>
      </p:sp>
      <p:sp>
        <p:nvSpPr>
          <p:cNvPr id="10" name="Assumption 2"/>
          <p:cNvSpPr/>
          <p:nvPr/>
        </p:nvSpPr>
        <p:spPr>
          <a:xfrm>
            <a:off x="6355080" y="3127248"/>
            <a:ext cx="5285232" cy="914400"/>
          </a:xfrm>
          <a:prstGeom prst="roundRect">
            <a:avLst>
              <a:gd name="adj" fmla="val 10000"/>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Standing constraints persist. </a:t>
            </a:r>
            <a:r>
              <a:rPr sz="1400" b="0" i="0">
                <a:solidFill>
                  <a:srgbClr val="14232E"/>
                </a:solidFill>
                <a:latin typeface="Calibri"/>
              </a:rPr>
              <a:t>“Nothing new to QuickStitch this week” applies to every later request, with who set it.</a:t>
            </a:r>
          </a:p>
        </p:txBody>
      </p:sp>
      <p:sp>
        <p:nvSpPr>
          <p:cNvPr id="11" name="Risk 3"/>
          <p:cNvSpPr/>
          <p:nvPr/>
        </p:nvSpPr>
        <p:spPr>
          <a:xfrm>
            <a:off x="548640" y="4151376"/>
            <a:ext cx="5532120" cy="914400"/>
          </a:xfrm>
          <a:prstGeom prst="roundRect">
            <a:avLst>
              <a:gd name="adj" fmla="val 10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The cheap model misreads messages. </a:t>
            </a:r>
            <a:r>
              <a:rPr sz="1400" b="0" i="0">
                <a:solidFill>
                  <a:srgbClr val="14232E"/>
                </a:solidFill>
                <a:latin typeface="Calibri"/>
              </a:rPr>
              <a:t>GPT-5 nano: 86% right behaviour before our checks. A teammate-written held-out inbox is still to come.</a:t>
            </a:r>
          </a:p>
        </p:txBody>
      </p:sp>
      <p:sp>
        <p:nvSpPr>
          <p:cNvPr id="12" name="Assumption 3"/>
          <p:cNvSpPr/>
          <p:nvPr/>
        </p:nvSpPr>
        <p:spPr>
          <a:xfrm>
            <a:off x="6355080" y="4151376"/>
            <a:ext cx="5285232" cy="914400"/>
          </a:xfrm>
          <a:prstGeom prst="roundRect">
            <a:avLst>
              <a:gd name="adj" fmla="val 10000"/>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Two dates per estimate. </a:t>
            </a:r>
            <a:r>
              <a:rPr sz="1400" b="0" i="0">
                <a:solidFill>
                  <a:srgbClr val="14232E"/>
                </a:solidFill>
                <a:latin typeface="Calibri"/>
              </a:rPr>
              <a:t>Expected: queue + work + expected rework + transport. If reworked: work takes half as long again (simulator rule).</a:t>
            </a:r>
          </a:p>
        </p:txBody>
      </p:sp>
      <p:sp>
        <p:nvSpPr>
          <p:cNvPr id="13" name="Risk 4"/>
          <p:cNvSpPr/>
          <p:nvPr/>
        </p:nvSpPr>
        <p:spPr>
          <a:xfrm>
            <a:off x="548640" y="5175504"/>
            <a:ext cx="5532120" cy="914400"/>
          </a:xfrm>
          <a:prstGeom prst="roundRect">
            <a:avLst>
              <a:gd name="adj" fmla="val 10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The simulator is a what-if replay. </a:t>
            </a:r>
            <a:r>
              <a:rPr sz="1400" b="0" i="0">
                <a:solidFill>
                  <a:srgbClr val="14232E"/>
                </a:solidFill>
                <a:latin typeface="Calibri"/>
              </a:rPr>
              <a:t>With Sundays off, the simple rule goes from 1.7% to 3.7% late. We report that separately.</a:t>
            </a:r>
          </a:p>
        </p:txBody>
      </p:sp>
      <p:sp>
        <p:nvSpPr>
          <p:cNvPr id="14" name="Assumption 4"/>
          <p:cNvSpPr/>
          <p:nvPr/>
        </p:nvSpPr>
        <p:spPr>
          <a:xfrm>
            <a:off x="6355080" y="5175504"/>
            <a:ext cx="5285232" cy="914400"/>
          </a:xfrm>
          <a:prstGeom prst="roundRect">
            <a:avLst>
              <a:gd name="adj" fmla="val 10000"/>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400" b="1" i="0">
                <a:solidFill>
                  <a:srgbClr val="14232E"/>
                </a:solidFill>
                <a:latin typeface="Calibri"/>
              </a:rPr>
              <a:t>The data has no customer prices and no history. </a:t>
            </a:r>
            <a:r>
              <a:rPr sz="1400" b="0" i="0">
                <a:solidFill>
                  <a:srgbClr val="14232E"/>
                </a:solidFill>
                <a:latin typeface="Calibri"/>
              </a:rPr>
              <a:t>Questions about either are declined, never invented.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Sprint 2, 30 October: from a working loop to evidence we can defend</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8</a:t>
            </a:r>
          </a:p>
        </p:txBody>
      </p:sp>
      <p:sp>
        <p:nvSpPr>
          <p:cNvPr id="5" name="Align and freeze"/>
          <p:cNvSpPr/>
          <p:nvPr/>
        </p:nvSpPr>
        <p:spPr>
          <a:xfrm>
            <a:off x="548640" y="1783080"/>
            <a:ext cx="2651760" cy="1691640"/>
          </a:xfrm>
          <a:prstGeom prst="roundRect">
            <a:avLst>
              <a:gd name="adj" fmla="val 648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0" bIns="0">
            <a:noAutofit/>
          </a:bodyPr>
          <a:lstStyle/>
          <a:p>
            <a:pPr algn="l">
              <a:lnSpc>
                <a:spcPct val="100000"/>
              </a:lnSpc>
              <a:spcBef>
                <a:spcPts val="1000"/>
              </a:spcBef>
              <a:spcAft>
                <a:spcPts val="200"/>
              </a:spcAft>
            </a:pPr>
            <a:r>
              <a:rPr sz="1300" b="1" i="0">
                <a:solidFill>
                  <a:srgbClr val="1C5CAB"/>
                </a:solidFill>
                <a:latin typeface="Calibri"/>
              </a:rPr>
              <a:t>5 – 9 Oct</a:t>
            </a:r>
          </a:p>
          <a:p>
            <a:pPr algn="l">
              <a:lnSpc>
                <a:spcPct val="100000"/>
              </a:lnSpc>
              <a:spcBef>
                <a:spcPts val="0"/>
              </a:spcBef>
              <a:spcAft>
                <a:spcPts val="400"/>
              </a:spcAft>
            </a:pPr>
            <a:r>
              <a:rPr sz="1700" b="1" i="0">
                <a:solidFill>
                  <a:srgbClr val="14232E"/>
                </a:solidFill>
                <a:latin typeface="Calibri"/>
              </a:rPr>
              <a:t>Align and freeze</a:t>
            </a:r>
          </a:p>
          <a:p>
            <a:pPr algn="l">
              <a:lnSpc>
                <a:spcPct val="100000"/>
              </a:lnSpc>
              <a:spcBef>
                <a:spcPts val="0"/>
              </a:spcBef>
              <a:spcAft>
                <a:spcPts val="0"/>
              </a:spcAft>
            </a:pPr>
            <a:r>
              <a:rPr sz="1350" b="0" i="0">
                <a:solidFill>
                  <a:srgbClr val="14232E"/>
                </a:solidFill>
                <a:latin typeface="Calibri"/>
              </a:rPr>
              <a:t>Gold labels frozen on 7 Oct; round-2 code to merge.</a:t>
            </a:r>
          </a:p>
        </p:txBody>
      </p:sp>
      <p:sp>
        <p:nvSpPr>
          <p:cNvPr id="6" name="Sprint 1"/>
          <p:cNvSpPr/>
          <p:nvPr/>
        </p:nvSpPr>
        <p:spPr>
          <a:xfrm>
            <a:off x="3346704" y="1783080"/>
            <a:ext cx="2651760" cy="1691640"/>
          </a:xfrm>
          <a:prstGeom prst="roundRect">
            <a:avLst>
              <a:gd name="adj" fmla="val 648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0" bIns="0">
            <a:noAutofit/>
          </a:bodyPr>
          <a:lstStyle/>
          <a:p>
            <a:pPr algn="l">
              <a:lnSpc>
                <a:spcPct val="100000"/>
              </a:lnSpc>
              <a:spcBef>
                <a:spcPts val="1000"/>
              </a:spcBef>
              <a:spcAft>
                <a:spcPts val="200"/>
              </a:spcAft>
            </a:pPr>
            <a:r>
              <a:rPr sz="1300" b="1" i="0">
                <a:solidFill>
                  <a:srgbClr val="1C5CAB"/>
                </a:solidFill>
                <a:latin typeface="Calibri"/>
              </a:rPr>
              <a:t>10 – 16 Oct</a:t>
            </a:r>
          </a:p>
          <a:p>
            <a:pPr algn="l">
              <a:lnSpc>
                <a:spcPct val="100000"/>
              </a:lnSpc>
              <a:spcBef>
                <a:spcPts val="0"/>
              </a:spcBef>
              <a:spcAft>
                <a:spcPts val="400"/>
              </a:spcAft>
            </a:pPr>
            <a:r>
              <a:rPr sz="1700" b="1" i="0">
                <a:solidFill>
                  <a:srgbClr val="14232E"/>
                </a:solidFill>
                <a:latin typeface="Calibri"/>
              </a:rPr>
              <a:t>Sprint 1</a:t>
            </a:r>
          </a:p>
          <a:p>
            <a:pPr algn="l">
              <a:lnSpc>
                <a:spcPct val="100000"/>
              </a:lnSpc>
              <a:spcBef>
                <a:spcPts val="0"/>
              </a:spcBef>
              <a:spcAft>
                <a:spcPts val="0"/>
              </a:spcAft>
            </a:pPr>
            <a:r>
              <a:rPr sz="1350" b="0" i="0">
                <a:solidFill>
                  <a:srgbClr val="14232E"/>
                </a:solidFill>
                <a:latin typeface="Calibri"/>
              </a:rPr>
              <a:t>Rehearse twice; present live on 16 Oct.</a:t>
            </a:r>
          </a:p>
        </p:txBody>
      </p:sp>
      <p:sp>
        <p:nvSpPr>
          <p:cNvPr id="7" name="Evidence"/>
          <p:cNvSpPr/>
          <p:nvPr/>
        </p:nvSpPr>
        <p:spPr>
          <a:xfrm>
            <a:off x="6144768" y="1783080"/>
            <a:ext cx="2651760" cy="1691640"/>
          </a:xfrm>
          <a:prstGeom prst="roundRect">
            <a:avLst>
              <a:gd name="adj" fmla="val 648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0" bIns="0">
            <a:noAutofit/>
          </a:bodyPr>
          <a:lstStyle/>
          <a:p>
            <a:pPr algn="l">
              <a:lnSpc>
                <a:spcPct val="100000"/>
              </a:lnSpc>
              <a:spcBef>
                <a:spcPts val="1000"/>
              </a:spcBef>
              <a:spcAft>
                <a:spcPts val="200"/>
              </a:spcAft>
            </a:pPr>
            <a:r>
              <a:rPr sz="1300" b="1" i="0">
                <a:solidFill>
                  <a:srgbClr val="1C5CAB"/>
                </a:solidFill>
                <a:latin typeface="Calibri"/>
              </a:rPr>
              <a:t>17 – 23 Oct</a:t>
            </a:r>
          </a:p>
          <a:p>
            <a:pPr algn="l">
              <a:lnSpc>
                <a:spcPct val="100000"/>
              </a:lnSpc>
              <a:spcBef>
                <a:spcPts val="0"/>
              </a:spcBef>
              <a:spcAft>
                <a:spcPts val="400"/>
              </a:spcAft>
            </a:pPr>
            <a:r>
              <a:rPr sz="1700" b="1" i="0">
                <a:solidFill>
                  <a:srgbClr val="14232E"/>
                </a:solidFill>
                <a:latin typeface="Calibri"/>
              </a:rPr>
              <a:t>Evidence</a:t>
            </a:r>
          </a:p>
          <a:p>
            <a:pPr algn="l">
              <a:lnSpc>
                <a:spcPct val="100000"/>
              </a:lnSpc>
              <a:spcBef>
                <a:spcPts val="0"/>
              </a:spcBef>
              <a:spcAft>
                <a:spcPts val="0"/>
              </a:spcAft>
            </a:pPr>
            <a:r>
              <a:rPr sz="1350" b="0" i="0">
                <a:solidFill>
                  <a:srgbClr val="14232E"/>
                </a:solidFill>
                <a:latin typeface="Calibri"/>
              </a:rPr>
              <a:t>Held-out inbox written and frozen; user test with 3 people; closed-workshop detection.</a:t>
            </a:r>
          </a:p>
        </p:txBody>
      </p:sp>
      <p:sp>
        <p:nvSpPr>
          <p:cNvPr id="8" name="Ship"/>
          <p:cNvSpPr/>
          <p:nvPr/>
        </p:nvSpPr>
        <p:spPr>
          <a:xfrm>
            <a:off x="8942832" y="1783080"/>
            <a:ext cx="2651760" cy="1691640"/>
          </a:xfrm>
          <a:prstGeom prst="roundRect">
            <a:avLst>
              <a:gd name="adj" fmla="val 648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0" bIns="0">
            <a:noAutofit/>
          </a:bodyPr>
          <a:lstStyle/>
          <a:p>
            <a:pPr algn="l">
              <a:lnSpc>
                <a:spcPct val="100000"/>
              </a:lnSpc>
              <a:spcBef>
                <a:spcPts val="1000"/>
              </a:spcBef>
              <a:spcAft>
                <a:spcPts val="200"/>
              </a:spcAft>
            </a:pPr>
            <a:r>
              <a:rPr sz="1300" b="1" i="0">
                <a:solidFill>
                  <a:srgbClr val="1C5CAB"/>
                </a:solidFill>
                <a:latin typeface="Calibri"/>
              </a:rPr>
              <a:t>24 – 29 Oct</a:t>
            </a:r>
          </a:p>
          <a:p>
            <a:pPr algn="l">
              <a:lnSpc>
                <a:spcPct val="100000"/>
              </a:lnSpc>
              <a:spcBef>
                <a:spcPts val="0"/>
              </a:spcBef>
              <a:spcAft>
                <a:spcPts val="400"/>
              </a:spcAft>
            </a:pPr>
            <a:r>
              <a:rPr sz="1700" b="1" i="0">
                <a:solidFill>
                  <a:srgbClr val="14232E"/>
                </a:solidFill>
                <a:latin typeface="Calibri"/>
              </a:rPr>
              <a:t>Ship</a:t>
            </a:r>
          </a:p>
          <a:p>
            <a:pPr algn="l">
              <a:lnSpc>
                <a:spcPct val="100000"/>
              </a:lnSpc>
              <a:spcBef>
                <a:spcPts val="0"/>
              </a:spcBef>
              <a:spcAft>
                <a:spcPts val="0"/>
              </a:spcAft>
            </a:pPr>
            <a:r>
              <a:rPr sz="1350" b="0" i="0">
                <a:solidFill>
                  <a:srgbClr val="14232E"/>
                </a:solidFill>
                <a:latin typeface="Calibri"/>
              </a:rPr>
              <a:t>Public demo; Evaluation draft with 10 failure cases; 5-minute video.</a:t>
            </a:r>
          </a:p>
        </p:txBody>
      </p:sp>
      <p:sp>
        <p:nvSpPr>
          <p:cNvPr id="9" name="Label"/>
          <p:cNvSpPr txBox="1"/>
          <p:nvPr/>
        </p:nvSpPr>
        <p:spPr>
          <a:xfrm>
            <a:off x="548640" y="3675887"/>
            <a:ext cx="8229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SUCCESS CRITERIA · MEASURED ON v3 DATA</a:t>
            </a:r>
          </a:p>
        </p:txBody>
      </p:sp>
      <p:sp>
        <p:nvSpPr>
          <p:cNvPr id="10" name="Criterion 1"/>
          <p:cNvSpPr/>
          <p:nvPr/>
        </p:nvSpPr>
        <p:spPr>
          <a:xfrm>
            <a:off x="548640" y="4023360"/>
            <a:ext cx="2651760" cy="2240280"/>
          </a:xfrm>
          <a:prstGeom prst="roundRect">
            <a:avLst>
              <a:gd name="adj" fmla="val 4897"/>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0" bIns="0">
            <a:noAutofit/>
          </a:bodyPr>
          <a:lstStyle/>
          <a:p>
            <a:pPr algn="l">
              <a:lnSpc>
                <a:spcPct val="95000"/>
              </a:lnSpc>
              <a:spcBef>
                <a:spcPts val="1000"/>
              </a:spcBef>
              <a:spcAft>
                <a:spcPts val="600"/>
              </a:spcAft>
            </a:pPr>
            <a:r>
              <a:rPr sz="3600" b="1" i="0">
                <a:solidFill>
                  <a:srgbClr val="1C5CAB"/>
                </a:solidFill>
                <a:latin typeface="Calibri"/>
              </a:rPr>
              <a:t>≤ 2%</a:t>
            </a:r>
          </a:p>
          <a:p>
            <a:pPr algn="l">
              <a:lnSpc>
                <a:spcPct val="100000"/>
              </a:lnSpc>
              <a:spcBef>
                <a:spcPts val="0"/>
              </a:spcBef>
              <a:spcAft>
                <a:spcPts val="0"/>
              </a:spcAft>
            </a:pPr>
            <a:r>
              <a:rPr sz="1450" b="0" i="0">
                <a:solidFill>
                  <a:srgbClr val="14232E"/>
                </a:solidFill>
                <a:latin typeface="Calibri"/>
              </a:rPr>
              <a:t>late batches on the official orders, normal and shock (10 seeds). Now 1.7% and 2.0%.</a:t>
            </a:r>
          </a:p>
        </p:txBody>
      </p:sp>
      <p:sp>
        <p:nvSpPr>
          <p:cNvPr id="11" name="Criterion 2"/>
          <p:cNvSpPr/>
          <p:nvPr/>
        </p:nvSpPr>
        <p:spPr>
          <a:xfrm>
            <a:off x="3346704" y="4023360"/>
            <a:ext cx="2651760" cy="2240280"/>
          </a:xfrm>
          <a:prstGeom prst="roundRect">
            <a:avLst>
              <a:gd name="adj" fmla="val 4897"/>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0" bIns="0">
            <a:noAutofit/>
          </a:bodyPr>
          <a:lstStyle/>
          <a:p>
            <a:pPr algn="l">
              <a:lnSpc>
                <a:spcPct val="95000"/>
              </a:lnSpc>
              <a:spcBef>
                <a:spcPts val="1000"/>
              </a:spcBef>
              <a:spcAft>
                <a:spcPts val="600"/>
              </a:spcAft>
            </a:pPr>
            <a:r>
              <a:rPr sz="3600" b="1" i="0">
                <a:solidFill>
                  <a:srgbClr val="1C5CAB"/>
                </a:solidFill>
                <a:latin typeface="Calibri"/>
              </a:rPr>
              <a:t>Beat it</a:t>
            </a:r>
          </a:p>
          <a:p>
            <a:pPr algn="l">
              <a:lnSpc>
                <a:spcPct val="100000"/>
              </a:lnSpc>
              <a:spcBef>
                <a:spcPts val="0"/>
              </a:spcBef>
              <a:spcAft>
                <a:spcPts val="0"/>
              </a:spcAft>
            </a:pPr>
            <a:r>
              <a:rPr sz="1450" b="0" i="0">
                <a:solidFill>
                  <a:srgbClr val="14232E"/>
                </a:solidFill>
                <a:latin typeface="Calibri"/>
              </a:rPr>
              <a:t>fewer late batches than the simple rule on fresh order books. Now 0.9% against 1.7%.</a:t>
            </a:r>
          </a:p>
        </p:txBody>
      </p:sp>
      <p:sp>
        <p:nvSpPr>
          <p:cNvPr id="12" name="Criterion 3"/>
          <p:cNvSpPr/>
          <p:nvPr/>
        </p:nvSpPr>
        <p:spPr>
          <a:xfrm>
            <a:off x="6144768" y="4023360"/>
            <a:ext cx="2651760" cy="2240280"/>
          </a:xfrm>
          <a:prstGeom prst="roundRect">
            <a:avLst>
              <a:gd name="adj" fmla="val 4897"/>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0" bIns="0">
            <a:noAutofit/>
          </a:bodyPr>
          <a:lstStyle/>
          <a:p>
            <a:pPr algn="l">
              <a:lnSpc>
                <a:spcPct val="95000"/>
              </a:lnSpc>
              <a:spcBef>
                <a:spcPts val="1000"/>
              </a:spcBef>
              <a:spcAft>
                <a:spcPts val="600"/>
              </a:spcAft>
            </a:pPr>
            <a:r>
              <a:rPr sz="3600" b="1" i="0">
                <a:solidFill>
                  <a:srgbClr val="1C5CAB"/>
                </a:solidFill>
                <a:latin typeface="Calibri"/>
              </a:rPr>
              <a:t>≥ 90%</a:t>
            </a:r>
          </a:p>
          <a:p>
            <a:pPr algn="l">
              <a:lnSpc>
                <a:spcPct val="100000"/>
              </a:lnSpc>
              <a:spcBef>
                <a:spcPts val="0"/>
              </a:spcBef>
              <a:spcAft>
                <a:spcPts val="0"/>
              </a:spcAft>
            </a:pPr>
            <a:r>
              <a:rPr sz="1450" b="0" i="0">
                <a:solidFill>
                  <a:srgbClr val="14232E"/>
                </a:solidFill>
                <a:latin typeface="Calibri"/>
              </a:rPr>
              <a:t>right behaviour on a held-out inbox written by teammates, labels frozen first. Now 97% (nano) and 100% (mini) on 38 AI-written messages.</a:t>
            </a:r>
          </a:p>
        </p:txBody>
      </p:sp>
      <p:sp>
        <p:nvSpPr>
          <p:cNvPr id="13" name="Criterion 4"/>
          <p:cNvSpPr/>
          <p:nvPr/>
        </p:nvSpPr>
        <p:spPr>
          <a:xfrm>
            <a:off x="8942832" y="4023360"/>
            <a:ext cx="2651760" cy="2240280"/>
          </a:xfrm>
          <a:prstGeom prst="roundRect">
            <a:avLst>
              <a:gd name="adj" fmla="val 4897"/>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0" bIns="0">
            <a:noAutofit/>
          </a:bodyPr>
          <a:lstStyle/>
          <a:p>
            <a:pPr algn="l">
              <a:lnSpc>
                <a:spcPct val="95000"/>
              </a:lnSpc>
              <a:spcBef>
                <a:spcPts val="1000"/>
              </a:spcBef>
              <a:spcAft>
                <a:spcPts val="600"/>
              </a:spcAft>
            </a:pPr>
            <a:r>
              <a:rPr sz="3600" b="1" i="0">
                <a:solidFill>
                  <a:srgbClr val="1C5CAB"/>
                </a:solidFill>
                <a:latin typeface="Calibri"/>
              </a:rPr>
              <a:t>100%</a:t>
            </a:r>
          </a:p>
          <a:p>
            <a:pPr algn="l">
              <a:lnSpc>
                <a:spcPct val="100000"/>
              </a:lnSpc>
              <a:spcBef>
                <a:spcPts val="0"/>
              </a:spcBef>
              <a:spcAft>
                <a:spcPts val="0"/>
              </a:spcAft>
            </a:pPr>
            <a:r>
              <a:rPr sz="1450" b="0" i="0">
                <a:solidFill>
                  <a:srgbClr val="14232E"/>
                </a:solidFill>
                <a:latin typeface="Calibri"/>
              </a:rPr>
              <a:t>of numbers traced; promised rework dates kept (now 100%, 99% under shock).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A · Results on v3 data, mean of 10 seeds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9</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graphicFrame>
        <p:nvGraphicFramePr>
          <p:cNvPr id="6" name="Results"/>
          <p:cNvGraphicFramePr>
            <a:graphicFrameLocks noGrp="1"/>
          </p:cNvGraphicFramePr>
          <p:nvPr/>
        </p:nvGraphicFramePr>
        <p:xfrm>
          <a:off x="548640" y="1691640"/>
          <a:ext cx="11064240" cy="4224528"/>
        </p:xfrm>
        <a:graphic>
          <a:graphicData uri="http://schemas.openxmlformats.org/drawingml/2006/table">
            <a:tbl>
              <a:tblPr>
                <a:tableStyleId>{2D5ABB26-0587-4C30-8999-92F81FD0307C}</a:tableStyleId>
              </a:tblPr>
              <a:tblGrid>
                <a:gridCol w="3063240"/>
                <a:gridCol w="822960"/>
                <a:gridCol w="960120"/>
                <a:gridCol w="1051560"/>
                <a:gridCol w="1417320"/>
                <a:gridCol w="1188720"/>
                <a:gridCol w="1097280"/>
                <a:gridCol w="1463040"/>
              </a:tblGrid>
              <a:tr h="352044">
                <a:tc>
                  <a:txBody>
                    <a:bodyPr wrap="square"/>
                    <a:lstStyle/>
                    <a:p>
                      <a:pPr algn="l"/>
                      <a:r>
                        <a:rPr sz="1250" b="1">
                          <a:solidFill>
                            <a:srgbClr val="FFFFFF"/>
                          </a:solidFill>
                          <a:latin typeface="Calibri"/>
                        </a:rPr>
                        <a:t>Policy</a:t>
                      </a:r>
                    </a:p>
                  </a:txBody>
                  <a:tcPr marL="73152" marR="73152" marT="18288" marB="18288" anchor="ctr">
                    <a:solidFill>
                      <a:srgbClr val="0F2B3A"/>
                    </a:solidFill>
                  </a:tcPr>
                </a:tc>
                <a:tc>
                  <a:txBody>
                    <a:bodyPr wrap="square"/>
                    <a:lstStyle/>
                    <a:p>
                      <a:pPr algn="r"/>
                      <a:r>
                        <a:rPr sz="1250" b="1">
                          <a:solidFill>
                            <a:srgbClr val="FFFFFF"/>
                          </a:solidFill>
                          <a:latin typeface="Calibri"/>
                        </a:rPr>
                        <a:t>Late %</a:t>
                      </a:r>
                    </a:p>
                  </a:txBody>
                  <a:tcPr marL="73152" marR="73152" marT="18288" marB="18288" anchor="ctr">
                    <a:solidFill>
                      <a:srgbClr val="0F2B3A"/>
                    </a:solidFill>
                  </a:tcPr>
                </a:tc>
                <a:tc>
                  <a:txBody>
                    <a:bodyPr wrap="square"/>
                    <a:lstStyle/>
                    <a:p>
                      <a:pPr algn="r"/>
                      <a:r>
                        <a:rPr sz="1250" b="1">
                          <a:solidFill>
                            <a:srgbClr val="FFFFFF"/>
                          </a:solidFill>
                          <a:latin typeface="Calibri"/>
                        </a:rPr>
                        <a:t>Late days</a:t>
                      </a:r>
                    </a:p>
                  </a:txBody>
                  <a:tcPr marL="73152" marR="73152" marT="18288" marB="18288" anchor="ctr">
                    <a:solidFill>
                      <a:srgbClr val="0F2B3A"/>
                    </a:solidFill>
                  </a:tcPr>
                </a:tc>
                <a:tc>
                  <a:txBody>
                    <a:bodyPr wrap="square"/>
                    <a:lstStyle/>
                    <a:p>
                      <a:pPr algn="r"/>
                      <a:r>
                        <a:rPr sz="1250" b="1">
                          <a:solidFill>
                            <a:srgbClr val="FFFFFF"/>
                          </a:solidFill>
                          <a:latin typeface="Calibri"/>
                        </a:rPr>
                        <a:t>Mean days</a:t>
                      </a:r>
                    </a:p>
                  </a:txBody>
                  <a:tcPr marL="73152" marR="73152" marT="18288" marB="18288" anchor="ctr">
                    <a:solidFill>
                      <a:srgbClr val="0F2B3A"/>
                    </a:solidFill>
                  </a:tcPr>
                </a:tc>
                <a:tc>
                  <a:txBody>
                    <a:bodyPr wrap="square"/>
                    <a:lstStyle/>
                    <a:p>
                      <a:pPr algn="r"/>
                      <a:r>
                        <a:rPr sz="1250" b="1">
                          <a:solidFill>
                            <a:srgbClr val="FFFFFF"/>
                          </a:solidFill>
                          <a:latin typeface="Calibri"/>
                        </a:rPr>
                        <a:t>Defective pcs %</a:t>
                      </a:r>
                    </a:p>
                  </a:txBody>
                  <a:tcPr marL="73152" marR="73152" marT="18288" marB="18288" anchor="ctr">
                    <a:solidFill>
                      <a:srgbClr val="0F2B3A"/>
                    </a:solidFill>
                  </a:tcPr>
                </a:tc>
                <a:tc>
                  <a:txBody>
                    <a:bodyPr wrap="square"/>
                    <a:lstStyle/>
                    <a:p>
                      <a:pPr algn="r"/>
                      <a:r>
                        <a:rPr sz="1250" b="1">
                          <a:solidFill>
                            <a:srgbClr val="FFFFFF"/>
                          </a:solidFill>
                          <a:latin typeface="Calibri"/>
                        </a:rPr>
                        <a:t>Max share %</a:t>
                      </a:r>
                    </a:p>
                  </a:txBody>
                  <a:tcPr marL="73152" marR="73152" marT="18288" marB="18288" anchor="ctr">
                    <a:solidFill>
                      <a:srgbClr val="0F2B3A"/>
                    </a:solidFill>
                  </a:tcPr>
                </a:tc>
                <a:tc>
                  <a:txBody>
                    <a:bodyPr wrap="square"/>
                    <a:lstStyle/>
                    <a:p>
                      <a:pPr algn="r"/>
                      <a:r>
                        <a:rPr sz="1250" b="1">
                          <a:solidFill>
                            <a:srgbClr val="FFFFFF"/>
                          </a:solidFill>
                          <a:latin typeface="Calibri"/>
                        </a:rPr>
                        <a:t>Cost</a:t>
                      </a:r>
                    </a:p>
                  </a:txBody>
                  <a:tcPr marL="73152" marR="73152" marT="18288" marB="18288" anchor="ctr">
                    <a:solidFill>
                      <a:srgbClr val="0F2B3A"/>
                    </a:solidFill>
                  </a:tcPr>
                </a:tc>
                <a:tc>
                  <a:txBody>
                    <a:bodyPr wrap="square"/>
                    <a:lstStyle/>
                    <a:p>
                      <a:pPr algn="r"/>
                      <a:r>
                        <a:rPr sz="1250" b="1">
                          <a:solidFill>
                            <a:srgbClr val="FFFFFF"/>
                          </a:solidFill>
                          <a:latin typeface="Calibri"/>
                        </a:rPr>
                        <a:t>Late % in shock</a:t>
                      </a:r>
                    </a:p>
                  </a:txBody>
                  <a:tcPr marL="73152" marR="73152" marT="18288" marB="18288" anchor="ctr">
                    <a:solidFill>
                      <a:srgbClr val="0F2B3A"/>
                    </a:solidFill>
                  </a:tcPr>
                </a:tc>
              </a:tr>
              <a:tr h="352044">
                <a:tc>
                  <a:txBody>
                    <a:bodyPr wrap="square"/>
                    <a:lstStyle/>
                    <a:p>
                      <a:pPr algn="l"/>
                      <a:r>
                        <a:rPr sz="1250" b="0">
                          <a:solidFill>
                            <a:srgbClr val="14232E"/>
                          </a:solidFill>
                          <a:latin typeface="Calibri"/>
                        </a:rPr>
                        <a:t>random  (official)</a:t>
                      </a:r>
                    </a:p>
                  </a:txBody>
                  <a:tcPr marL="73152" marR="73152" marT="18288" marB="18288" anchor="ctr">
                    <a:solidFill>
                      <a:srgbClr val="FFFFFF"/>
                    </a:solidFill>
                  </a:tcPr>
                </a:tc>
                <a:tc>
                  <a:txBody>
                    <a:bodyPr wrap="square"/>
                    <a:lstStyle/>
                    <a:p>
                      <a:pPr algn="r"/>
                      <a:r>
                        <a:rPr sz="1250" b="0">
                          <a:solidFill>
                            <a:srgbClr val="14232E"/>
                          </a:solidFill>
                          <a:latin typeface="Calibri"/>
                        </a:rPr>
                        <a:t>34.2</a:t>
                      </a:r>
                    </a:p>
                  </a:txBody>
                  <a:tcPr marL="73152" marR="73152" marT="18288" marB="18288" anchor="ctr">
                    <a:solidFill>
                      <a:srgbClr val="FFFFFF"/>
                    </a:solidFill>
                  </a:tcPr>
                </a:tc>
                <a:tc>
                  <a:txBody>
                    <a:bodyPr wrap="square"/>
                    <a:lstStyle/>
                    <a:p>
                      <a:pPr algn="r"/>
                      <a:r>
                        <a:rPr sz="1250" b="0">
                          <a:solidFill>
                            <a:srgbClr val="14232E"/>
                          </a:solidFill>
                          <a:latin typeface="Calibri"/>
                        </a:rPr>
                        <a:t>6.13</a:t>
                      </a:r>
                    </a:p>
                  </a:txBody>
                  <a:tcPr marL="73152" marR="73152" marT="18288" marB="18288" anchor="ctr">
                    <a:solidFill>
                      <a:srgbClr val="FFFFFF"/>
                    </a:solidFill>
                  </a:tcPr>
                </a:tc>
                <a:tc>
                  <a:txBody>
                    <a:bodyPr wrap="square"/>
                    <a:lstStyle/>
                    <a:p>
                      <a:pPr algn="r"/>
                      <a:r>
                        <a:rPr sz="1250" b="0">
                          <a:solidFill>
                            <a:srgbClr val="14232E"/>
                          </a:solidFill>
                          <a:latin typeface="Calibri"/>
                        </a:rPr>
                        <a:t>21.9</a:t>
                      </a:r>
                    </a:p>
                  </a:txBody>
                  <a:tcPr marL="73152" marR="73152" marT="18288" marB="18288" anchor="ctr">
                    <a:solidFill>
                      <a:srgbClr val="FFFFFF"/>
                    </a:solidFill>
                  </a:tcPr>
                </a:tc>
                <a:tc>
                  <a:txBody>
                    <a:bodyPr wrap="square"/>
                    <a:lstStyle/>
                    <a:p>
                      <a:pPr algn="r"/>
                      <a:r>
                        <a:rPr sz="1250" b="0">
                          <a:solidFill>
                            <a:srgbClr val="14232E"/>
                          </a:solidFill>
                          <a:latin typeface="Calibri"/>
                        </a:rPr>
                        <a:t>5.6</a:t>
                      </a:r>
                    </a:p>
                  </a:txBody>
                  <a:tcPr marL="73152" marR="73152" marT="18288" marB="18288" anchor="ctr">
                    <a:solidFill>
                      <a:srgbClr val="FFFFFF"/>
                    </a:solidFill>
                  </a:tcPr>
                </a:tc>
                <a:tc>
                  <a:txBody>
                    <a:bodyPr wrap="square"/>
                    <a:lstStyle/>
                    <a:p>
                      <a:pPr algn="r"/>
                      <a:r>
                        <a:rPr sz="1250" b="0">
                          <a:solidFill>
                            <a:srgbClr val="14232E"/>
                          </a:solidFill>
                          <a:latin typeface="Calibri"/>
                        </a:rPr>
                        <a:t>23</a:t>
                      </a:r>
                    </a:p>
                  </a:txBody>
                  <a:tcPr marL="73152" marR="73152" marT="18288" marB="18288" anchor="ctr">
                    <a:solidFill>
                      <a:srgbClr val="FFFFFF"/>
                    </a:solidFill>
                  </a:tcPr>
                </a:tc>
                <a:tc>
                  <a:txBody>
                    <a:bodyPr wrap="square"/>
                    <a:lstStyle/>
                    <a:p>
                      <a:pPr algn="r"/>
                      <a:r>
                        <a:rPr sz="1250" b="0">
                          <a:solidFill>
                            <a:srgbClr val="14232E"/>
                          </a:solidFill>
                          <a:latin typeface="Calibri"/>
                        </a:rPr>
                        <a:t>111,780</a:t>
                      </a:r>
                    </a:p>
                  </a:txBody>
                  <a:tcPr marL="73152" marR="73152" marT="18288" marB="18288" anchor="ctr">
                    <a:solidFill>
                      <a:srgbClr val="FFFFFF"/>
                    </a:solidFill>
                  </a:tcPr>
                </a:tc>
                <a:tc>
                  <a:txBody>
                    <a:bodyPr wrap="square"/>
                    <a:lstStyle/>
                    <a:p>
                      <a:pPr algn="r"/>
                      <a:r>
                        <a:rPr sz="1250" b="0">
                          <a:solidFill>
                            <a:srgbClr val="14232E"/>
                          </a:solidFill>
                          <a:latin typeface="Calibri"/>
                        </a:rPr>
                        <a:t>38.2</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greedy_biggest  (official)</a:t>
                      </a:r>
                    </a:p>
                  </a:txBody>
                  <a:tcPr marL="73152" marR="73152" marT="18288" marB="18288" anchor="ctr">
                    <a:solidFill>
                      <a:srgbClr val="FFFFFF"/>
                    </a:solidFill>
                  </a:tcPr>
                </a:tc>
                <a:tc>
                  <a:txBody>
                    <a:bodyPr wrap="square"/>
                    <a:lstStyle/>
                    <a:p>
                      <a:pPr algn="r"/>
                      <a:r>
                        <a:rPr sz="1250" b="0">
                          <a:solidFill>
                            <a:srgbClr val="14232E"/>
                          </a:solidFill>
                          <a:latin typeface="Calibri"/>
                        </a:rPr>
                        <a:t>84.2</a:t>
                      </a:r>
                    </a:p>
                  </a:txBody>
                  <a:tcPr marL="73152" marR="73152" marT="18288" marB="18288" anchor="ctr">
                    <a:solidFill>
                      <a:srgbClr val="FFFFFF"/>
                    </a:solidFill>
                  </a:tcPr>
                </a:tc>
                <a:tc>
                  <a:txBody>
                    <a:bodyPr wrap="square"/>
                    <a:lstStyle/>
                    <a:p>
                      <a:pPr algn="r"/>
                      <a:r>
                        <a:rPr sz="1250" b="0">
                          <a:solidFill>
                            <a:srgbClr val="14232E"/>
                          </a:solidFill>
                          <a:latin typeface="Calibri"/>
                        </a:rPr>
                        <a:t>26.53</a:t>
                      </a:r>
                    </a:p>
                  </a:txBody>
                  <a:tcPr marL="73152" marR="73152" marT="18288" marB="18288" anchor="ctr">
                    <a:solidFill>
                      <a:srgbClr val="FFFFFF"/>
                    </a:solidFill>
                  </a:tcPr>
                </a:tc>
                <a:tc>
                  <a:txBody>
                    <a:bodyPr wrap="square"/>
                    <a:lstStyle/>
                    <a:p>
                      <a:pPr algn="r"/>
                      <a:r>
                        <a:rPr sz="1250" b="0">
                          <a:solidFill>
                            <a:srgbClr val="14232E"/>
                          </a:solidFill>
                          <a:latin typeface="Calibri"/>
                        </a:rPr>
                        <a:t>50.3</a:t>
                      </a:r>
                    </a:p>
                  </a:txBody>
                  <a:tcPr marL="73152" marR="73152" marT="18288" marB="18288" anchor="ctr">
                    <a:solidFill>
                      <a:srgbClr val="FFFFFF"/>
                    </a:solidFill>
                  </a:tcPr>
                </a:tc>
                <a:tc>
                  <a:txBody>
                    <a:bodyPr wrap="square"/>
                    <a:lstStyle/>
                    <a:p>
                      <a:pPr algn="r"/>
                      <a:r>
                        <a:rPr sz="1250" b="0">
                          <a:solidFill>
                            <a:srgbClr val="14232E"/>
                          </a:solidFill>
                          <a:latin typeface="Calibri"/>
                        </a:rPr>
                        <a:t>5.3</a:t>
                      </a:r>
                    </a:p>
                  </a:txBody>
                  <a:tcPr marL="73152" marR="73152" marT="18288" marB="18288" anchor="ctr">
                    <a:solidFill>
                      <a:srgbClr val="FFFFFF"/>
                    </a:solidFill>
                  </a:tcPr>
                </a:tc>
                <a:tc>
                  <a:txBody>
                    <a:bodyPr wrap="square"/>
                    <a:lstStyle/>
                    <a:p>
                      <a:pPr algn="r"/>
                      <a:r>
                        <a:rPr sz="1250" b="0">
                          <a:solidFill>
                            <a:srgbClr val="14232E"/>
                          </a:solidFill>
                          <a:latin typeface="Calibri"/>
                        </a:rPr>
                        <a:t>70</a:t>
                      </a:r>
                    </a:p>
                  </a:txBody>
                  <a:tcPr marL="73152" marR="73152" marT="18288" marB="18288" anchor="ctr">
                    <a:solidFill>
                      <a:srgbClr val="FFFFFF"/>
                    </a:solidFill>
                  </a:tcPr>
                </a:tc>
                <a:tc>
                  <a:txBody>
                    <a:bodyPr wrap="square"/>
                    <a:lstStyle/>
                    <a:p>
                      <a:pPr algn="r"/>
                      <a:r>
                        <a:rPr sz="1250" b="0">
                          <a:solidFill>
                            <a:srgbClr val="14232E"/>
                          </a:solidFill>
                          <a:latin typeface="Calibri"/>
                        </a:rPr>
                        <a:t>108,430</a:t>
                      </a:r>
                    </a:p>
                  </a:txBody>
                  <a:tcPr marL="73152" marR="73152" marT="18288" marB="18288" anchor="ctr">
                    <a:solidFill>
                      <a:srgbClr val="FFFFFF"/>
                    </a:solidFill>
                  </a:tcPr>
                </a:tc>
                <a:tc>
                  <a:txBody>
                    <a:bodyPr wrap="square"/>
                    <a:lstStyle/>
                    <a:p>
                      <a:pPr algn="r"/>
                      <a:r>
                        <a:rPr sz="1250" b="0">
                          <a:solidFill>
                            <a:srgbClr val="14232E"/>
                          </a:solidFill>
                          <a:latin typeface="Calibri"/>
                        </a:rPr>
                        <a:t>84.9</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cheapest  (official)</a:t>
                      </a:r>
                    </a:p>
                  </a:txBody>
                  <a:tcPr marL="73152" marR="73152" marT="18288" marB="18288" anchor="ctr">
                    <a:solidFill>
                      <a:srgbClr val="FFFFFF"/>
                    </a:solidFill>
                  </a:tcPr>
                </a:tc>
                <a:tc>
                  <a:txBody>
                    <a:bodyPr wrap="square"/>
                    <a:lstStyle/>
                    <a:p>
                      <a:pPr algn="r"/>
                      <a:r>
                        <a:rPr sz="1250" b="0">
                          <a:solidFill>
                            <a:srgbClr val="14232E"/>
                          </a:solidFill>
                          <a:latin typeface="Calibri"/>
                        </a:rPr>
                        <a:t>91.8</a:t>
                      </a:r>
                    </a:p>
                  </a:txBody>
                  <a:tcPr marL="73152" marR="73152" marT="18288" marB="18288" anchor="ctr">
                    <a:solidFill>
                      <a:srgbClr val="FFFFFF"/>
                    </a:solidFill>
                  </a:tcPr>
                </a:tc>
                <a:tc>
                  <a:txBody>
                    <a:bodyPr wrap="square"/>
                    <a:lstStyle/>
                    <a:p>
                      <a:pPr algn="r"/>
                      <a:r>
                        <a:rPr sz="1250" b="0">
                          <a:solidFill>
                            <a:srgbClr val="14232E"/>
                          </a:solidFill>
                          <a:latin typeface="Calibri"/>
                        </a:rPr>
                        <a:t>81.92</a:t>
                      </a:r>
                    </a:p>
                  </a:txBody>
                  <a:tcPr marL="73152" marR="73152" marT="18288" marB="18288" anchor="ctr">
                    <a:solidFill>
                      <a:srgbClr val="FFFFFF"/>
                    </a:solidFill>
                  </a:tcPr>
                </a:tc>
                <a:tc>
                  <a:txBody>
                    <a:bodyPr wrap="square"/>
                    <a:lstStyle/>
                    <a:p>
                      <a:pPr algn="r"/>
                      <a:r>
                        <a:rPr sz="1250" b="0">
                          <a:solidFill>
                            <a:srgbClr val="14232E"/>
                          </a:solidFill>
                          <a:latin typeface="Calibri"/>
                        </a:rPr>
                        <a:t>106.2</a:t>
                      </a:r>
                    </a:p>
                  </a:txBody>
                  <a:tcPr marL="73152" marR="73152" marT="18288" marB="18288" anchor="ctr">
                    <a:solidFill>
                      <a:srgbClr val="FFFFFF"/>
                    </a:solidFill>
                  </a:tcPr>
                </a:tc>
                <a:tc>
                  <a:txBody>
                    <a:bodyPr wrap="square"/>
                    <a:lstStyle/>
                    <a:p>
                      <a:pPr algn="r"/>
                      <a:r>
                        <a:rPr sz="1250" b="0">
                          <a:solidFill>
                            <a:srgbClr val="14232E"/>
                          </a:solidFill>
                          <a:latin typeface="Calibri"/>
                        </a:rPr>
                        <a:t>8.2</a:t>
                      </a:r>
                    </a:p>
                  </a:txBody>
                  <a:tcPr marL="73152" marR="73152" marT="18288" marB="18288" anchor="ctr">
                    <a:solidFill>
                      <a:srgbClr val="FFFFFF"/>
                    </a:solidFill>
                  </a:tcPr>
                </a:tc>
                <a:tc>
                  <a:txBody>
                    <a:bodyPr wrap="square"/>
                    <a:lstStyle/>
                    <a:p>
                      <a:pPr algn="r"/>
                      <a:r>
                        <a:rPr sz="1250" b="0">
                          <a:solidFill>
                            <a:srgbClr val="14232E"/>
                          </a:solidFill>
                          <a:latin typeface="Calibri"/>
                        </a:rPr>
                        <a:t>70</a:t>
                      </a:r>
                    </a:p>
                  </a:txBody>
                  <a:tcPr marL="73152" marR="73152" marT="18288" marB="18288" anchor="ctr">
                    <a:solidFill>
                      <a:srgbClr val="FFFFFF"/>
                    </a:solidFill>
                  </a:tcPr>
                </a:tc>
                <a:tc>
                  <a:txBody>
                    <a:bodyPr wrap="square"/>
                    <a:lstStyle/>
                    <a:p>
                      <a:pPr algn="r"/>
                      <a:r>
                        <a:rPr sz="1250" b="0">
                          <a:solidFill>
                            <a:srgbClr val="14232E"/>
                          </a:solidFill>
                          <a:latin typeface="Calibri"/>
                        </a:rPr>
                        <a:t>85,960</a:t>
                      </a:r>
                    </a:p>
                  </a:txBody>
                  <a:tcPr marL="73152" marR="73152" marT="18288" marB="18288" anchor="ctr">
                    <a:solidFill>
                      <a:srgbClr val="FFFFFF"/>
                    </a:solidFill>
                  </a:tcPr>
                </a:tc>
                <a:tc>
                  <a:txBody>
                    <a:bodyPr wrap="square"/>
                    <a:lstStyle/>
                    <a:p>
                      <a:pPr algn="r"/>
                      <a:r>
                        <a:rPr sz="1250" b="0">
                          <a:solidFill>
                            <a:srgbClr val="14232E"/>
                          </a:solidFill>
                          <a:latin typeface="Calibri"/>
                        </a:rPr>
                        <a:t>91.8</a:t>
                      </a:r>
                    </a:p>
                  </a:txBody>
                  <a:tcPr marL="73152" marR="73152" marT="18288" marB="18288" anchor="ctr">
                    <a:solidFill>
                      <a:srgbClr val="FFFFFF"/>
                    </a:solidFill>
                  </a:tcPr>
                </a:tc>
              </a:tr>
              <a:tr h="352044">
                <a:tc>
                  <a:txBody>
                    <a:bodyPr wrap="square"/>
                    <a:lstStyle/>
                    <a:p>
                      <a:pPr algn="l"/>
                      <a:r>
                        <a:rPr sz="1250" b="1">
                          <a:solidFill>
                            <a:srgbClr val="14232E"/>
                          </a:solidFill>
                          <a:latin typeface="Calibri"/>
                        </a:rPr>
                        <a:t>earliest_finish  (simple rule)</a:t>
                      </a:r>
                    </a:p>
                  </a:txBody>
                  <a:tcPr marL="73152" marR="73152" marT="18288" marB="18288" anchor="ctr">
                    <a:solidFill>
                      <a:srgbClr val="FDEBE3"/>
                    </a:solidFill>
                  </a:tcPr>
                </a:tc>
                <a:tc>
                  <a:txBody>
                    <a:bodyPr wrap="square"/>
                    <a:lstStyle/>
                    <a:p>
                      <a:pPr algn="r"/>
                      <a:r>
                        <a:rPr sz="1250" b="1">
                          <a:solidFill>
                            <a:srgbClr val="14232E"/>
                          </a:solidFill>
                          <a:latin typeface="Calibri"/>
                        </a:rPr>
                        <a:t>1.7</a:t>
                      </a:r>
                    </a:p>
                  </a:txBody>
                  <a:tcPr marL="73152" marR="73152" marT="18288" marB="18288" anchor="ctr">
                    <a:solidFill>
                      <a:srgbClr val="FDEBE3"/>
                    </a:solidFill>
                  </a:tcPr>
                </a:tc>
                <a:tc>
                  <a:txBody>
                    <a:bodyPr wrap="square"/>
                    <a:lstStyle/>
                    <a:p>
                      <a:pPr algn="r"/>
                      <a:r>
                        <a:rPr sz="1250" b="1">
                          <a:solidFill>
                            <a:srgbClr val="14232E"/>
                          </a:solidFill>
                          <a:latin typeface="Calibri"/>
                        </a:rPr>
                        <a:t>0.18</a:t>
                      </a:r>
                    </a:p>
                  </a:txBody>
                  <a:tcPr marL="73152" marR="73152" marT="18288" marB="18288" anchor="ctr">
                    <a:solidFill>
                      <a:srgbClr val="FDEBE3"/>
                    </a:solidFill>
                  </a:tcPr>
                </a:tc>
                <a:tc>
                  <a:txBody>
                    <a:bodyPr wrap="square"/>
                    <a:lstStyle/>
                    <a:p>
                      <a:pPr algn="r"/>
                      <a:r>
                        <a:rPr sz="1250" b="1">
                          <a:solidFill>
                            <a:srgbClr val="14232E"/>
                          </a:solidFill>
                          <a:latin typeface="Calibri"/>
                        </a:rPr>
                        <a:t>8.3</a:t>
                      </a:r>
                    </a:p>
                  </a:txBody>
                  <a:tcPr marL="73152" marR="73152" marT="18288" marB="18288" anchor="ctr">
                    <a:solidFill>
                      <a:srgbClr val="FDEBE3"/>
                    </a:solidFill>
                  </a:tcPr>
                </a:tc>
                <a:tc>
                  <a:txBody>
                    <a:bodyPr wrap="square"/>
                    <a:lstStyle/>
                    <a:p>
                      <a:pPr algn="r"/>
                      <a:r>
                        <a:rPr sz="1250" b="1">
                          <a:solidFill>
                            <a:srgbClr val="14232E"/>
                          </a:solidFill>
                          <a:latin typeface="Calibri"/>
                        </a:rPr>
                        <a:t>7.2</a:t>
                      </a:r>
                    </a:p>
                  </a:txBody>
                  <a:tcPr marL="73152" marR="73152" marT="18288" marB="18288" anchor="ctr">
                    <a:solidFill>
                      <a:srgbClr val="FDEBE3"/>
                    </a:solidFill>
                  </a:tcPr>
                </a:tc>
                <a:tc>
                  <a:txBody>
                    <a:bodyPr wrap="square"/>
                    <a:lstStyle/>
                    <a:p>
                      <a:pPr algn="r"/>
                      <a:r>
                        <a:rPr sz="1250" b="1">
                          <a:solidFill>
                            <a:srgbClr val="14232E"/>
                          </a:solidFill>
                          <a:latin typeface="Calibri"/>
                        </a:rPr>
                        <a:t>26</a:t>
                      </a:r>
                    </a:p>
                  </a:txBody>
                  <a:tcPr marL="73152" marR="73152" marT="18288" marB="18288" anchor="ctr">
                    <a:solidFill>
                      <a:srgbClr val="FDEBE3"/>
                    </a:solidFill>
                  </a:tcPr>
                </a:tc>
                <a:tc>
                  <a:txBody>
                    <a:bodyPr wrap="square"/>
                    <a:lstStyle/>
                    <a:p>
                      <a:pPr algn="r"/>
                      <a:r>
                        <a:rPr sz="1250" b="1">
                          <a:solidFill>
                            <a:srgbClr val="14232E"/>
                          </a:solidFill>
                          <a:latin typeface="Calibri"/>
                        </a:rPr>
                        <a:t>115,566</a:t>
                      </a:r>
                    </a:p>
                  </a:txBody>
                  <a:tcPr marL="73152" marR="73152" marT="18288" marB="18288" anchor="ctr">
                    <a:solidFill>
                      <a:srgbClr val="FDEBE3"/>
                    </a:solidFill>
                  </a:tcPr>
                </a:tc>
                <a:tc>
                  <a:txBody>
                    <a:bodyPr wrap="square"/>
                    <a:lstStyle/>
                    <a:p>
                      <a:pPr algn="r"/>
                      <a:r>
                        <a:rPr sz="1250" b="1">
                          <a:solidFill>
                            <a:srgbClr val="14232E"/>
                          </a:solidFill>
                          <a:latin typeface="Calibri"/>
                        </a:rPr>
                        <a:t>1.9</a:t>
                      </a:r>
                    </a:p>
                  </a:txBody>
                  <a:tcPr marL="73152" marR="73152" marT="18288" marB="18288" anchor="ctr">
                    <a:solidFill>
                      <a:srgbClr val="FDEBE3"/>
                    </a:solidFill>
                  </a:tcPr>
                </a:tc>
              </a:tr>
              <a:tr h="352044">
                <a:tc>
                  <a:txBody>
                    <a:bodyPr wrap="square"/>
                    <a:lstStyle/>
                    <a:p>
                      <a:pPr algn="l"/>
                      <a:r>
                        <a:rPr sz="1250" b="1">
                          <a:solidFill>
                            <a:srgbClr val="14232E"/>
                          </a:solidFill>
                          <a:latin typeface="Calibri"/>
                        </a:rPr>
                        <a:t>lateness: specialist-first rule  (ours)</a:t>
                      </a:r>
                    </a:p>
                  </a:txBody>
                  <a:tcPr marL="73152" marR="73152" marT="18288" marB="18288" anchor="ctr">
                    <a:solidFill>
                      <a:srgbClr val="E6F0FC"/>
                    </a:solidFill>
                  </a:tcPr>
                </a:tc>
                <a:tc>
                  <a:txBody>
                    <a:bodyPr wrap="square"/>
                    <a:lstStyle/>
                    <a:p>
                      <a:pPr algn="r"/>
                      <a:r>
                        <a:rPr sz="1250" b="1">
                          <a:solidFill>
                            <a:srgbClr val="14232E"/>
                          </a:solidFill>
                          <a:latin typeface="Calibri"/>
                        </a:rPr>
                        <a:t>1.7</a:t>
                      </a:r>
                    </a:p>
                  </a:txBody>
                  <a:tcPr marL="73152" marR="73152" marT="18288" marB="18288" anchor="ctr">
                    <a:solidFill>
                      <a:srgbClr val="E6F0FC"/>
                    </a:solidFill>
                  </a:tcPr>
                </a:tc>
                <a:tc>
                  <a:txBody>
                    <a:bodyPr wrap="square"/>
                    <a:lstStyle/>
                    <a:p>
                      <a:pPr algn="r"/>
                      <a:r>
                        <a:rPr sz="1250" b="1">
                          <a:solidFill>
                            <a:srgbClr val="14232E"/>
                          </a:solidFill>
                          <a:latin typeface="Calibri"/>
                        </a:rPr>
                        <a:t>0.09</a:t>
                      </a:r>
                    </a:p>
                  </a:txBody>
                  <a:tcPr marL="73152" marR="73152" marT="18288" marB="18288" anchor="ctr">
                    <a:solidFill>
                      <a:srgbClr val="E6F0FC"/>
                    </a:solidFill>
                  </a:tcPr>
                </a:tc>
                <a:tc>
                  <a:txBody>
                    <a:bodyPr wrap="square"/>
                    <a:lstStyle/>
                    <a:p>
                      <a:pPr algn="r"/>
                      <a:r>
                        <a:rPr sz="1250" b="1">
                          <a:solidFill>
                            <a:srgbClr val="14232E"/>
                          </a:solidFill>
                          <a:latin typeface="Calibri"/>
                        </a:rPr>
                        <a:t>9.3</a:t>
                      </a:r>
                    </a:p>
                  </a:txBody>
                  <a:tcPr marL="73152" marR="73152" marT="18288" marB="18288" anchor="ctr">
                    <a:solidFill>
                      <a:srgbClr val="E6F0FC"/>
                    </a:solidFill>
                  </a:tcPr>
                </a:tc>
                <a:tc>
                  <a:txBody>
                    <a:bodyPr wrap="square"/>
                    <a:lstStyle/>
                    <a:p>
                      <a:pPr algn="r"/>
                      <a:r>
                        <a:rPr sz="1250" b="1">
                          <a:solidFill>
                            <a:srgbClr val="14232E"/>
                          </a:solidFill>
                          <a:latin typeface="Calibri"/>
                        </a:rPr>
                        <a:t>7.7</a:t>
                      </a:r>
                    </a:p>
                  </a:txBody>
                  <a:tcPr marL="73152" marR="73152" marT="18288" marB="18288" anchor="ctr">
                    <a:solidFill>
                      <a:srgbClr val="E6F0FC"/>
                    </a:solidFill>
                  </a:tcPr>
                </a:tc>
                <a:tc>
                  <a:txBody>
                    <a:bodyPr wrap="square"/>
                    <a:lstStyle/>
                    <a:p>
                      <a:pPr algn="r"/>
                      <a:r>
                        <a:rPr sz="1250" b="1">
                          <a:solidFill>
                            <a:srgbClr val="14232E"/>
                          </a:solidFill>
                          <a:latin typeface="Calibri"/>
                        </a:rPr>
                        <a:t>28</a:t>
                      </a:r>
                    </a:p>
                  </a:txBody>
                  <a:tcPr marL="73152" marR="73152" marT="18288" marB="18288" anchor="ctr">
                    <a:solidFill>
                      <a:srgbClr val="E6F0FC"/>
                    </a:solidFill>
                  </a:tcPr>
                </a:tc>
                <a:tc>
                  <a:txBody>
                    <a:bodyPr wrap="square"/>
                    <a:lstStyle/>
                    <a:p>
                      <a:pPr algn="r"/>
                      <a:r>
                        <a:rPr sz="1250" b="1">
                          <a:solidFill>
                            <a:srgbClr val="14232E"/>
                          </a:solidFill>
                          <a:latin typeface="Calibri"/>
                        </a:rPr>
                        <a:t>115,438</a:t>
                      </a:r>
                    </a:p>
                  </a:txBody>
                  <a:tcPr marL="73152" marR="73152" marT="18288" marB="18288" anchor="ctr">
                    <a:solidFill>
                      <a:srgbClr val="E6F0FC"/>
                    </a:solidFill>
                  </a:tcPr>
                </a:tc>
                <a:tc>
                  <a:txBody>
                    <a:bodyPr wrap="square"/>
                    <a:lstStyle/>
                    <a:p>
                      <a:pPr algn="r"/>
                      <a:r>
                        <a:rPr sz="1250" b="1">
                          <a:solidFill>
                            <a:srgbClr val="14232E"/>
                          </a:solidFill>
                          <a:latin typeface="Calibri"/>
                        </a:rPr>
                        <a:t>2.0</a:t>
                      </a:r>
                    </a:p>
                  </a:txBody>
                  <a:tcPr marL="73152" marR="73152" marT="18288" marB="18288" anchor="ctr">
                    <a:solidFill>
                      <a:srgbClr val="E6F0FC"/>
                    </a:solidFill>
                  </a:tcPr>
                </a:tc>
              </a:tr>
              <a:tr h="352044">
                <a:tc>
                  <a:txBody>
                    <a:bodyPr wrap="square"/>
                    <a:lstStyle/>
                    <a:p>
                      <a:pPr algn="l"/>
                      <a:r>
                        <a:rPr sz="1250" b="0">
                          <a:solidFill>
                            <a:srgbClr val="14232E"/>
                          </a:solidFill>
                          <a:latin typeface="Calibri"/>
                        </a:rPr>
                        <a:t>use_slack: latest safe finish  (ours)</a:t>
                      </a:r>
                    </a:p>
                  </a:txBody>
                  <a:tcPr marL="73152" marR="73152" marT="18288" marB="18288" anchor="ctr">
                    <a:solidFill>
                      <a:srgbClr val="FFFFFF"/>
                    </a:solidFill>
                  </a:tcPr>
                </a:tc>
                <a:tc>
                  <a:txBody>
                    <a:bodyPr wrap="square"/>
                    <a:lstStyle/>
                    <a:p>
                      <a:pPr algn="r"/>
                      <a:r>
                        <a:rPr sz="1250" b="0">
                          <a:solidFill>
                            <a:srgbClr val="14232E"/>
                          </a:solidFill>
                          <a:latin typeface="Calibri"/>
                        </a:rPr>
                        <a:t>1.0</a:t>
                      </a:r>
                    </a:p>
                  </a:txBody>
                  <a:tcPr marL="73152" marR="73152" marT="18288" marB="18288" anchor="ctr">
                    <a:solidFill>
                      <a:srgbClr val="FFFFFF"/>
                    </a:solidFill>
                  </a:tcPr>
                </a:tc>
                <a:tc>
                  <a:txBody>
                    <a:bodyPr wrap="square"/>
                    <a:lstStyle/>
                    <a:p>
                      <a:pPr algn="r"/>
                      <a:r>
                        <a:rPr sz="1250" b="0">
                          <a:solidFill>
                            <a:srgbClr val="14232E"/>
                          </a:solidFill>
                          <a:latin typeface="Calibri"/>
                        </a:rPr>
                        <a:t>0.07</a:t>
                      </a:r>
                    </a:p>
                  </a:txBody>
                  <a:tcPr marL="73152" marR="73152" marT="18288" marB="18288" anchor="ctr">
                    <a:solidFill>
                      <a:srgbClr val="FFFFFF"/>
                    </a:solidFill>
                  </a:tcPr>
                </a:tc>
                <a:tc>
                  <a:txBody>
                    <a:bodyPr wrap="square"/>
                    <a:lstStyle/>
                    <a:p>
                      <a:pPr algn="r"/>
                      <a:r>
                        <a:rPr sz="1250" b="0">
                          <a:solidFill>
                            <a:srgbClr val="14232E"/>
                          </a:solidFill>
                          <a:latin typeface="Calibri"/>
                        </a:rPr>
                        <a:t>14.0</a:t>
                      </a:r>
                    </a:p>
                  </a:txBody>
                  <a:tcPr marL="73152" marR="73152" marT="18288" marB="18288" anchor="ctr">
                    <a:solidFill>
                      <a:srgbClr val="FFFFFF"/>
                    </a:solidFill>
                  </a:tcPr>
                </a:tc>
                <a:tc>
                  <a:txBody>
                    <a:bodyPr wrap="square"/>
                    <a:lstStyle/>
                    <a:p>
                      <a:pPr algn="r"/>
                      <a:r>
                        <a:rPr sz="1250" b="0">
                          <a:solidFill>
                            <a:srgbClr val="14232E"/>
                          </a:solidFill>
                          <a:latin typeface="Calibri"/>
                        </a:rPr>
                        <a:t>6.8</a:t>
                      </a:r>
                    </a:p>
                  </a:txBody>
                  <a:tcPr marL="73152" marR="73152" marT="18288" marB="18288" anchor="ctr">
                    <a:solidFill>
                      <a:srgbClr val="FFFFFF"/>
                    </a:solidFill>
                  </a:tcPr>
                </a:tc>
                <a:tc>
                  <a:txBody>
                    <a:bodyPr wrap="square"/>
                    <a:lstStyle/>
                    <a:p>
                      <a:pPr algn="r"/>
                      <a:r>
                        <a:rPr sz="1250" b="0">
                          <a:solidFill>
                            <a:srgbClr val="14232E"/>
                          </a:solidFill>
                          <a:latin typeface="Calibri"/>
                        </a:rPr>
                        <a:t>32</a:t>
                      </a:r>
                    </a:p>
                  </a:txBody>
                  <a:tcPr marL="73152" marR="73152" marT="18288" marB="18288" anchor="ctr">
                    <a:solidFill>
                      <a:srgbClr val="FFFFFF"/>
                    </a:solidFill>
                  </a:tcPr>
                </a:tc>
                <a:tc>
                  <a:txBody>
                    <a:bodyPr wrap="square"/>
                    <a:lstStyle/>
                    <a:p>
                      <a:pPr algn="r"/>
                      <a:r>
                        <a:rPr sz="1250" b="0">
                          <a:solidFill>
                            <a:srgbClr val="14232E"/>
                          </a:solidFill>
                          <a:latin typeface="Calibri"/>
                        </a:rPr>
                        <a:t>105,502</a:t>
                      </a:r>
                    </a:p>
                  </a:txBody>
                  <a:tcPr marL="73152" marR="73152" marT="18288" marB="18288" anchor="ctr">
                    <a:solidFill>
                      <a:srgbClr val="FFFFFF"/>
                    </a:solidFill>
                  </a:tcPr>
                </a:tc>
                <a:tc>
                  <a:txBody>
                    <a:bodyPr wrap="square"/>
                    <a:lstStyle/>
                    <a:p>
                      <a:pPr algn="r"/>
                      <a:r>
                        <a:rPr sz="1250" b="0">
                          <a:solidFill>
                            <a:srgbClr val="14232E"/>
                          </a:solidFill>
                          <a:latin typeface="Calibri"/>
                        </a:rPr>
                        <a:t>1.7</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lateness, round 1  (ours)</a:t>
                      </a:r>
                    </a:p>
                  </a:txBody>
                  <a:tcPr marL="73152" marR="73152" marT="18288" marB="18288" anchor="ctr">
                    <a:solidFill>
                      <a:srgbClr val="FFFFFF"/>
                    </a:solidFill>
                  </a:tcPr>
                </a:tc>
                <a:tc>
                  <a:txBody>
                    <a:bodyPr wrap="square"/>
                    <a:lstStyle/>
                    <a:p>
                      <a:pPr algn="r"/>
                      <a:r>
                        <a:rPr sz="1250" b="0">
                          <a:solidFill>
                            <a:srgbClr val="14232E"/>
                          </a:solidFill>
                          <a:latin typeface="Calibri"/>
                        </a:rPr>
                        <a:t>1.7</a:t>
                      </a:r>
                    </a:p>
                  </a:txBody>
                  <a:tcPr marL="73152" marR="73152" marT="18288" marB="18288" anchor="ctr">
                    <a:solidFill>
                      <a:srgbClr val="FFFFFF"/>
                    </a:solidFill>
                  </a:tcPr>
                </a:tc>
                <a:tc>
                  <a:txBody>
                    <a:bodyPr wrap="square"/>
                    <a:lstStyle/>
                    <a:p>
                      <a:pPr algn="r"/>
                      <a:r>
                        <a:rPr sz="1250" b="0">
                          <a:solidFill>
                            <a:srgbClr val="14232E"/>
                          </a:solidFill>
                          <a:latin typeface="Calibri"/>
                        </a:rPr>
                        <a:t>0.18</a:t>
                      </a:r>
                    </a:p>
                  </a:txBody>
                  <a:tcPr marL="73152" marR="73152" marT="18288" marB="18288" anchor="ctr">
                    <a:solidFill>
                      <a:srgbClr val="FFFFFF"/>
                    </a:solidFill>
                  </a:tcPr>
                </a:tc>
                <a:tc>
                  <a:txBody>
                    <a:bodyPr wrap="square"/>
                    <a:lstStyle/>
                    <a:p>
                      <a:pPr algn="r"/>
                      <a:r>
                        <a:rPr sz="1250" b="0">
                          <a:solidFill>
                            <a:srgbClr val="14232E"/>
                          </a:solidFill>
                          <a:latin typeface="Calibri"/>
                        </a:rPr>
                        <a:t>8.2</a:t>
                      </a:r>
                    </a:p>
                  </a:txBody>
                  <a:tcPr marL="73152" marR="73152" marT="18288" marB="18288" anchor="ctr">
                    <a:solidFill>
                      <a:srgbClr val="FFFFFF"/>
                    </a:solidFill>
                  </a:tcPr>
                </a:tc>
                <a:tc>
                  <a:txBody>
                    <a:bodyPr wrap="square"/>
                    <a:lstStyle/>
                    <a:p>
                      <a:pPr algn="r"/>
                      <a:r>
                        <a:rPr sz="1250" b="0">
                          <a:solidFill>
                            <a:srgbClr val="14232E"/>
                          </a:solidFill>
                          <a:latin typeface="Calibri"/>
                        </a:rPr>
                        <a:t>7.5</a:t>
                      </a:r>
                    </a:p>
                  </a:txBody>
                  <a:tcPr marL="73152" marR="73152" marT="18288" marB="18288" anchor="ctr">
                    <a:solidFill>
                      <a:srgbClr val="FFFFFF"/>
                    </a:solidFill>
                  </a:tcPr>
                </a:tc>
                <a:tc>
                  <a:txBody>
                    <a:bodyPr wrap="square"/>
                    <a:lstStyle/>
                    <a:p>
                      <a:pPr algn="r"/>
                      <a:r>
                        <a:rPr sz="1250" b="0">
                          <a:solidFill>
                            <a:srgbClr val="14232E"/>
                          </a:solidFill>
                          <a:latin typeface="Calibri"/>
                        </a:rPr>
                        <a:t>26</a:t>
                      </a:r>
                    </a:p>
                  </a:txBody>
                  <a:tcPr marL="73152" marR="73152" marT="18288" marB="18288" anchor="ctr">
                    <a:solidFill>
                      <a:srgbClr val="FFFFFF"/>
                    </a:solidFill>
                  </a:tcPr>
                </a:tc>
                <a:tc>
                  <a:txBody>
                    <a:bodyPr wrap="square"/>
                    <a:lstStyle/>
                    <a:p>
                      <a:pPr algn="r"/>
                      <a:r>
                        <a:rPr sz="1250" b="0">
                          <a:solidFill>
                            <a:srgbClr val="14232E"/>
                          </a:solidFill>
                          <a:latin typeface="Calibri"/>
                        </a:rPr>
                        <a:t>115,592</a:t>
                      </a:r>
                    </a:p>
                  </a:txBody>
                  <a:tcPr marL="73152" marR="73152" marT="18288" marB="18288" anchor="ctr">
                    <a:solidFill>
                      <a:srgbClr val="FFFFFF"/>
                    </a:solidFill>
                  </a:tcPr>
                </a:tc>
                <a:tc>
                  <a:txBody>
                    <a:bodyPr wrap="square"/>
                    <a:lstStyle/>
                    <a:p>
                      <a:pPr algn="r"/>
                      <a:r>
                        <a:rPr sz="1250" b="0">
                          <a:solidFill>
                            <a:srgbClr val="14232E"/>
                          </a:solidFill>
                          <a:latin typeface="Calibri"/>
                        </a:rPr>
                        <a:t>1.9</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hybrid  (ours)</a:t>
                      </a:r>
                    </a:p>
                  </a:txBody>
                  <a:tcPr marL="73152" marR="73152" marT="18288" marB="18288" anchor="ctr">
                    <a:solidFill>
                      <a:srgbClr val="FFFFFF"/>
                    </a:solidFill>
                  </a:tcPr>
                </a:tc>
                <a:tc>
                  <a:txBody>
                    <a:bodyPr wrap="square"/>
                    <a:lstStyle/>
                    <a:p>
                      <a:pPr algn="r"/>
                      <a:r>
                        <a:rPr sz="1250" b="0">
                          <a:solidFill>
                            <a:srgbClr val="14232E"/>
                          </a:solidFill>
                          <a:latin typeface="Calibri"/>
                        </a:rPr>
                        <a:t>4.3</a:t>
                      </a:r>
                    </a:p>
                  </a:txBody>
                  <a:tcPr marL="73152" marR="73152" marT="18288" marB="18288" anchor="ctr">
                    <a:solidFill>
                      <a:srgbClr val="FFFFFF"/>
                    </a:solidFill>
                  </a:tcPr>
                </a:tc>
                <a:tc>
                  <a:txBody>
                    <a:bodyPr wrap="square"/>
                    <a:lstStyle/>
                    <a:p>
                      <a:pPr algn="r"/>
                      <a:r>
                        <a:rPr sz="1250" b="0">
                          <a:solidFill>
                            <a:srgbClr val="14232E"/>
                          </a:solidFill>
                          <a:latin typeface="Calibri"/>
                        </a:rPr>
                        <a:t>0.29</a:t>
                      </a:r>
                    </a:p>
                  </a:txBody>
                  <a:tcPr marL="73152" marR="73152" marT="18288" marB="18288" anchor="ctr">
                    <a:solidFill>
                      <a:srgbClr val="FFFFFF"/>
                    </a:solidFill>
                  </a:tcPr>
                </a:tc>
                <a:tc>
                  <a:txBody>
                    <a:bodyPr wrap="square"/>
                    <a:lstStyle/>
                    <a:p>
                      <a:pPr algn="r"/>
                      <a:r>
                        <a:rPr sz="1250" b="0">
                          <a:solidFill>
                            <a:srgbClr val="14232E"/>
                          </a:solidFill>
                          <a:latin typeface="Calibri"/>
                        </a:rPr>
                        <a:t>10.1</a:t>
                      </a:r>
                    </a:p>
                  </a:txBody>
                  <a:tcPr marL="73152" marR="73152" marT="18288" marB="18288" anchor="ctr">
                    <a:solidFill>
                      <a:srgbClr val="FFFFFF"/>
                    </a:solidFill>
                  </a:tcPr>
                </a:tc>
                <a:tc>
                  <a:txBody>
                    <a:bodyPr wrap="square"/>
                    <a:lstStyle/>
                    <a:p>
                      <a:pPr algn="r"/>
                      <a:r>
                        <a:rPr sz="1250" b="0">
                          <a:solidFill>
                            <a:srgbClr val="14232E"/>
                          </a:solidFill>
                          <a:latin typeface="Calibri"/>
                        </a:rPr>
                        <a:t>6.1</a:t>
                      </a:r>
                    </a:p>
                  </a:txBody>
                  <a:tcPr marL="73152" marR="73152" marT="18288" marB="18288" anchor="ctr">
                    <a:solidFill>
                      <a:srgbClr val="FFFFFF"/>
                    </a:solidFill>
                  </a:tcPr>
                </a:tc>
                <a:tc>
                  <a:txBody>
                    <a:bodyPr wrap="square"/>
                    <a:lstStyle/>
                    <a:p>
                      <a:pPr algn="r"/>
                      <a:r>
                        <a:rPr sz="1250" b="0">
                          <a:solidFill>
                            <a:srgbClr val="14232E"/>
                          </a:solidFill>
                          <a:latin typeface="Calibri"/>
                        </a:rPr>
                        <a:t>29</a:t>
                      </a:r>
                    </a:p>
                  </a:txBody>
                  <a:tcPr marL="73152" marR="73152" marT="18288" marB="18288" anchor="ctr">
                    <a:solidFill>
                      <a:srgbClr val="FFFFFF"/>
                    </a:solidFill>
                  </a:tcPr>
                </a:tc>
                <a:tc>
                  <a:txBody>
                    <a:bodyPr wrap="square"/>
                    <a:lstStyle/>
                    <a:p>
                      <a:pPr algn="r"/>
                      <a:r>
                        <a:rPr sz="1250" b="0">
                          <a:solidFill>
                            <a:srgbClr val="14232E"/>
                          </a:solidFill>
                          <a:latin typeface="Calibri"/>
                        </a:rPr>
                        <a:t>111,238</a:t>
                      </a:r>
                    </a:p>
                  </a:txBody>
                  <a:tcPr marL="73152" marR="73152" marT="18288" marB="18288" anchor="ctr">
                    <a:solidFill>
                      <a:srgbClr val="FFFFFF"/>
                    </a:solidFill>
                  </a:tcPr>
                </a:tc>
                <a:tc>
                  <a:txBody>
                    <a:bodyPr wrap="square"/>
                    <a:lstStyle/>
                    <a:p>
                      <a:pPr algn="r"/>
                      <a:r>
                        <a:rPr sz="1250" b="0">
                          <a:solidFill>
                            <a:srgbClr val="14232E"/>
                          </a:solidFill>
                          <a:latin typeface="Calibri"/>
                        </a:rPr>
                        <a:t>5.5</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defects  (ours)</a:t>
                      </a:r>
                    </a:p>
                  </a:txBody>
                  <a:tcPr marL="73152" marR="73152" marT="18288" marB="18288" anchor="ctr">
                    <a:solidFill>
                      <a:srgbClr val="FFFFFF"/>
                    </a:solidFill>
                  </a:tcPr>
                </a:tc>
                <a:tc>
                  <a:txBody>
                    <a:bodyPr wrap="square"/>
                    <a:lstStyle/>
                    <a:p>
                      <a:pPr algn="r"/>
                      <a:r>
                        <a:rPr sz="1250" b="0">
                          <a:solidFill>
                            <a:srgbClr val="14232E"/>
                          </a:solidFill>
                          <a:latin typeface="Calibri"/>
                        </a:rPr>
                        <a:t>28.7</a:t>
                      </a:r>
                    </a:p>
                  </a:txBody>
                  <a:tcPr marL="73152" marR="73152" marT="18288" marB="18288" anchor="ctr">
                    <a:solidFill>
                      <a:srgbClr val="FFFFFF"/>
                    </a:solidFill>
                  </a:tcPr>
                </a:tc>
                <a:tc>
                  <a:txBody>
                    <a:bodyPr wrap="square"/>
                    <a:lstStyle/>
                    <a:p>
                      <a:pPr algn="r"/>
                      <a:r>
                        <a:rPr sz="1250" b="0">
                          <a:solidFill>
                            <a:srgbClr val="14232E"/>
                          </a:solidFill>
                          <a:latin typeface="Calibri"/>
                        </a:rPr>
                        <a:t>2.23</a:t>
                      </a:r>
                    </a:p>
                  </a:txBody>
                  <a:tcPr marL="73152" marR="73152" marT="18288" marB="18288" anchor="ctr">
                    <a:solidFill>
                      <a:srgbClr val="FFFFFF"/>
                    </a:solidFill>
                  </a:tcPr>
                </a:tc>
                <a:tc>
                  <a:txBody>
                    <a:bodyPr wrap="square"/>
                    <a:lstStyle/>
                    <a:p>
                      <a:pPr algn="r"/>
                      <a:r>
                        <a:rPr sz="1250" b="0">
                          <a:solidFill>
                            <a:srgbClr val="14232E"/>
                          </a:solidFill>
                          <a:latin typeface="Calibri"/>
                        </a:rPr>
                        <a:t>21.1</a:t>
                      </a:r>
                    </a:p>
                  </a:txBody>
                  <a:tcPr marL="73152" marR="73152" marT="18288" marB="18288" anchor="ctr">
                    <a:solidFill>
                      <a:srgbClr val="FFFFFF"/>
                    </a:solidFill>
                  </a:tcPr>
                </a:tc>
                <a:tc>
                  <a:txBody>
                    <a:bodyPr wrap="square"/>
                    <a:lstStyle/>
                    <a:p>
                      <a:pPr algn="r"/>
                      <a:r>
                        <a:rPr sz="1250" b="0">
                          <a:solidFill>
                            <a:srgbClr val="14232E"/>
                          </a:solidFill>
                          <a:latin typeface="Calibri"/>
                        </a:rPr>
                        <a:t>5.1</a:t>
                      </a:r>
                    </a:p>
                  </a:txBody>
                  <a:tcPr marL="73152" marR="73152" marT="18288" marB="18288" anchor="ctr">
                    <a:solidFill>
                      <a:srgbClr val="FFFFFF"/>
                    </a:solidFill>
                  </a:tcPr>
                </a:tc>
                <a:tc>
                  <a:txBody>
                    <a:bodyPr wrap="square"/>
                    <a:lstStyle/>
                    <a:p>
                      <a:pPr algn="r"/>
                      <a:r>
                        <a:rPr sz="1250" b="0">
                          <a:solidFill>
                            <a:srgbClr val="14232E"/>
                          </a:solidFill>
                          <a:latin typeface="Calibri"/>
                        </a:rPr>
                        <a:t>43</a:t>
                      </a:r>
                    </a:p>
                  </a:txBody>
                  <a:tcPr marL="73152" marR="73152" marT="18288" marB="18288" anchor="ctr">
                    <a:solidFill>
                      <a:srgbClr val="FFFFFF"/>
                    </a:solidFill>
                  </a:tcPr>
                </a:tc>
                <a:tc>
                  <a:txBody>
                    <a:bodyPr wrap="square"/>
                    <a:lstStyle/>
                    <a:p>
                      <a:pPr algn="r"/>
                      <a:r>
                        <a:rPr sz="1250" b="0">
                          <a:solidFill>
                            <a:srgbClr val="14232E"/>
                          </a:solidFill>
                          <a:latin typeface="Calibri"/>
                        </a:rPr>
                        <a:t>110,396</a:t>
                      </a:r>
                    </a:p>
                  </a:txBody>
                  <a:tcPr marL="73152" marR="73152" marT="18288" marB="18288" anchor="ctr">
                    <a:solidFill>
                      <a:srgbClr val="FFFFFF"/>
                    </a:solidFill>
                  </a:tcPr>
                </a:tc>
                <a:tc>
                  <a:txBody>
                    <a:bodyPr wrap="square"/>
                    <a:lstStyle/>
                    <a:p>
                      <a:pPr algn="r"/>
                      <a:r>
                        <a:rPr sz="1250" b="0">
                          <a:solidFill>
                            <a:srgbClr val="14232E"/>
                          </a:solidFill>
                          <a:latin typeface="Calibri"/>
                        </a:rPr>
                        <a:t>31.0</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fairness  (ours)</a:t>
                      </a:r>
                    </a:p>
                  </a:txBody>
                  <a:tcPr marL="73152" marR="73152" marT="18288" marB="18288" anchor="ctr">
                    <a:solidFill>
                      <a:srgbClr val="FFFFFF"/>
                    </a:solidFill>
                  </a:tcPr>
                </a:tc>
                <a:tc>
                  <a:txBody>
                    <a:bodyPr wrap="square"/>
                    <a:lstStyle/>
                    <a:p>
                      <a:pPr algn="r"/>
                      <a:r>
                        <a:rPr sz="1250" b="0">
                          <a:solidFill>
                            <a:srgbClr val="14232E"/>
                          </a:solidFill>
                          <a:latin typeface="Calibri"/>
                        </a:rPr>
                        <a:t>6.8</a:t>
                      </a:r>
                    </a:p>
                  </a:txBody>
                  <a:tcPr marL="73152" marR="73152" marT="18288" marB="18288" anchor="ctr">
                    <a:solidFill>
                      <a:srgbClr val="FFFFFF"/>
                    </a:solidFill>
                  </a:tcPr>
                </a:tc>
                <a:tc>
                  <a:txBody>
                    <a:bodyPr wrap="square"/>
                    <a:lstStyle/>
                    <a:p>
                      <a:pPr algn="r"/>
                      <a:r>
                        <a:rPr sz="1250" b="0">
                          <a:solidFill>
                            <a:srgbClr val="14232E"/>
                          </a:solidFill>
                          <a:latin typeface="Calibri"/>
                        </a:rPr>
                        <a:t>0.64</a:t>
                      </a:r>
                    </a:p>
                  </a:txBody>
                  <a:tcPr marL="73152" marR="73152" marT="18288" marB="18288" anchor="ctr">
                    <a:solidFill>
                      <a:srgbClr val="FFFFFF"/>
                    </a:solidFill>
                  </a:tcPr>
                </a:tc>
                <a:tc>
                  <a:txBody>
                    <a:bodyPr wrap="square"/>
                    <a:lstStyle/>
                    <a:p>
                      <a:pPr algn="r"/>
                      <a:r>
                        <a:rPr sz="1250" b="0">
                          <a:solidFill>
                            <a:srgbClr val="14232E"/>
                          </a:solidFill>
                          <a:latin typeface="Calibri"/>
                        </a:rPr>
                        <a:t>12.6</a:t>
                      </a:r>
                    </a:p>
                  </a:txBody>
                  <a:tcPr marL="73152" marR="73152" marT="18288" marB="18288" anchor="ctr">
                    <a:solidFill>
                      <a:srgbClr val="FFFFFF"/>
                    </a:solidFill>
                  </a:tcPr>
                </a:tc>
                <a:tc>
                  <a:txBody>
                    <a:bodyPr wrap="square"/>
                    <a:lstStyle/>
                    <a:p>
                      <a:pPr algn="r"/>
                      <a:r>
                        <a:rPr sz="1250" b="0">
                          <a:solidFill>
                            <a:srgbClr val="14232E"/>
                          </a:solidFill>
                          <a:latin typeface="Calibri"/>
                        </a:rPr>
                        <a:t>7.1</a:t>
                      </a:r>
                    </a:p>
                  </a:txBody>
                  <a:tcPr marL="73152" marR="73152" marT="18288" marB="18288" anchor="ctr">
                    <a:solidFill>
                      <a:srgbClr val="FFFFFF"/>
                    </a:solidFill>
                  </a:tcPr>
                </a:tc>
                <a:tc>
                  <a:txBody>
                    <a:bodyPr wrap="square"/>
                    <a:lstStyle/>
                    <a:p>
                      <a:pPr algn="r"/>
                      <a:r>
                        <a:rPr sz="1250" b="0">
                          <a:solidFill>
                            <a:srgbClr val="14232E"/>
                          </a:solidFill>
                          <a:latin typeface="Calibri"/>
                        </a:rPr>
                        <a:t>20</a:t>
                      </a:r>
                    </a:p>
                  </a:txBody>
                  <a:tcPr marL="73152" marR="73152" marT="18288" marB="18288" anchor="ctr">
                    <a:solidFill>
                      <a:srgbClr val="FFFFFF"/>
                    </a:solidFill>
                  </a:tcPr>
                </a:tc>
                <a:tc>
                  <a:txBody>
                    <a:bodyPr wrap="square"/>
                    <a:lstStyle/>
                    <a:p>
                      <a:pPr algn="r"/>
                      <a:r>
                        <a:rPr sz="1250" b="0">
                          <a:solidFill>
                            <a:srgbClr val="14232E"/>
                          </a:solidFill>
                          <a:latin typeface="Calibri"/>
                        </a:rPr>
                        <a:t>113,088</a:t>
                      </a:r>
                    </a:p>
                  </a:txBody>
                  <a:tcPr marL="73152" marR="73152" marT="18288" marB="18288" anchor="ctr">
                    <a:solidFill>
                      <a:srgbClr val="FFFFFF"/>
                    </a:solidFill>
                  </a:tcPr>
                </a:tc>
                <a:tc>
                  <a:txBody>
                    <a:bodyPr wrap="square"/>
                    <a:lstStyle/>
                    <a:p>
                      <a:pPr algn="r"/>
                      <a:r>
                        <a:rPr sz="1250" b="0">
                          <a:solidFill>
                            <a:srgbClr val="14232E"/>
                          </a:solidFill>
                          <a:latin typeface="Calibri"/>
                        </a:rPr>
                        <a:t>10.1</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cost  (ours)</a:t>
                      </a:r>
                    </a:p>
                  </a:txBody>
                  <a:tcPr marL="73152" marR="73152" marT="18288" marB="18288" anchor="ctr">
                    <a:solidFill>
                      <a:srgbClr val="FFFFFF"/>
                    </a:solidFill>
                  </a:tcPr>
                </a:tc>
                <a:tc>
                  <a:txBody>
                    <a:bodyPr wrap="square"/>
                    <a:lstStyle/>
                    <a:p>
                      <a:pPr algn="r"/>
                      <a:r>
                        <a:rPr sz="1250" b="0">
                          <a:solidFill>
                            <a:srgbClr val="14232E"/>
                          </a:solidFill>
                          <a:latin typeface="Calibri"/>
                        </a:rPr>
                        <a:t>4.4</a:t>
                      </a:r>
                    </a:p>
                  </a:txBody>
                  <a:tcPr marL="73152" marR="73152" marT="18288" marB="18288" anchor="ctr">
                    <a:solidFill>
                      <a:srgbClr val="FFFFFF"/>
                    </a:solidFill>
                  </a:tcPr>
                </a:tc>
                <a:tc>
                  <a:txBody>
                    <a:bodyPr wrap="square"/>
                    <a:lstStyle/>
                    <a:p>
                      <a:pPr algn="r"/>
                      <a:r>
                        <a:rPr sz="1250" b="0">
                          <a:solidFill>
                            <a:srgbClr val="14232E"/>
                          </a:solidFill>
                          <a:latin typeface="Calibri"/>
                        </a:rPr>
                        <a:t>0.24</a:t>
                      </a:r>
                    </a:p>
                  </a:txBody>
                  <a:tcPr marL="73152" marR="73152" marT="18288" marB="18288" anchor="ctr">
                    <a:solidFill>
                      <a:srgbClr val="FFFFFF"/>
                    </a:solidFill>
                  </a:tcPr>
                </a:tc>
                <a:tc>
                  <a:txBody>
                    <a:bodyPr wrap="square"/>
                    <a:lstStyle/>
                    <a:p>
                      <a:pPr algn="r"/>
                      <a:r>
                        <a:rPr sz="1250" b="0">
                          <a:solidFill>
                            <a:srgbClr val="14232E"/>
                          </a:solidFill>
                          <a:latin typeface="Calibri"/>
                        </a:rPr>
                        <a:t>17.2</a:t>
                      </a:r>
                    </a:p>
                  </a:txBody>
                  <a:tcPr marL="73152" marR="73152" marT="18288" marB="18288" anchor="ctr">
                    <a:solidFill>
                      <a:srgbClr val="FFFFFF"/>
                    </a:solidFill>
                  </a:tcPr>
                </a:tc>
                <a:tc>
                  <a:txBody>
                    <a:bodyPr wrap="square"/>
                    <a:lstStyle/>
                    <a:p>
                      <a:pPr algn="r"/>
                      <a:r>
                        <a:rPr sz="1250" b="0">
                          <a:solidFill>
                            <a:srgbClr val="14232E"/>
                          </a:solidFill>
                          <a:latin typeface="Calibri"/>
                        </a:rPr>
                        <a:t>5.7</a:t>
                      </a:r>
                    </a:p>
                  </a:txBody>
                  <a:tcPr marL="73152" marR="73152" marT="18288" marB="18288" anchor="ctr">
                    <a:solidFill>
                      <a:srgbClr val="FFFFFF"/>
                    </a:solidFill>
                  </a:tcPr>
                </a:tc>
                <a:tc>
                  <a:txBody>
                    <a:bodyPr wrap="square"/>
                    <a:lstStyle/>
                    <a:p>
                      <a:pPr algn="r"/>
                      <a:r>
                        <a:rPr sz="1250" b="0">
                          <a:solidFill>
                            <a:srgbClr val="14232E"/>
                          </a:solidFill>
                          <a:latin typeface="Calibri"/>
                        </a:rPr>
                        <a:t>38</a:t>
                      </a:r>
                    </a:p>
                  </a:txBody>
                  <a:tcPr marL="73152" marR="73152" marT="18288" marB="18288" anchor="ctr">
                    <a:solidFill>
                      <a:srgbClr val="FFFFFF"/>
                    </a:solidFill>
                  </a:tcPr>
                </a:tc>
                <a:tc>
                  <a:txBody>
                    <a:bodyPr wrap="square"/>
                    <a:lstStyle/>
                    <a:p>
                      <a:pPr algn="r"/>
                      <a:r>
                        <a:rPr sz="1250" b="0">
                          <a:solidFill>
                            <a:srgbClr val="14232E"/>
                          </a:solidFill>
                          <a:latin typeface="Calibri"/>
                        </a:rPr>
                        <a:t>100,931</a:t>
                      </a:r>
                    </a:p>
                  </a:txBody>
                  <a:tcPr marL="73152" marR="73152" marT="18288" marB="18288" anchor="ctr">
                    <a:solidFill>
                      <a:srgbClr val="FFFFFF"/>
                    </a:solidFill>
                  </a:tcPr>
                </a:tc>
                <a:tc>
                  <a:txBody>
                    <a:bodyPr wrap="square"/>
                    <a:lstStyle/>
                    <a:p>
                      <a:pPr algn="r"/>
                      <a:r>
                        <a:rPr sz="1250" b="0">
                          <a:solidFill>
                            <a:srgbClr val="14232E"/>
                          </a:solidFill>
                          <a:latin typeface="Calibri"/>
                        </a:rPr>
                        <a:t>5.2</a:t>
                      </a:r>
                    </a:p>
                  </a:txBody>
                  <a:tcPr marL="73152" marR="73152" marT="18288" marB="18288" anchor="ctr">
                    <a:solidFill>
                      <a:srgbClr val="FFFFFF"/>
                    </a:solidFill>
                  </a:tcPr>
                </a:tc>
              </a:tr>
            </a:tbl>
          </a:graphicData>
        </a:graphic>
      </p:graphicFrame>
      <p:sp>
        <p:nvSpPr>
          <p:cNvPr id="7" name="Note"/>
          <p:cNvSpPr txBox="1"/>
          <p:nvPr/>
        </p:nvSpPr>
        <p:spPr>
          <a:xfrm>
            <a:off x="548640" y="6035040"/>
            <a:ext cx="11064240" cy="36576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52606B"/>
                </a:solidFill>
                <a:latin typeface="Calibri"/>
              </a:rPr>
              <a:t>simulate.py v3, commit 1c6cb61. use_slack is late less often and costs less, but takes 14 days on average. Single-seed defect draws move defective pcs by about ±2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B · How the desk sorted the 30 messages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10</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sp>
        <p:nvSpPr>
          <p:cNvPr id="6" name="R01"/>
          <p:cNvSpPr/>
          <p:nvPr/>
        </p:nvSpPr>
        <p:spPr>
          <a:xfrm>
            <a:off x="548640" y="1783080"/>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R01</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7" name="R02"/>
          <p:cNvSpPr/>
          <p:nvPr/>
        </p:nvSpPr>
        <p:spPr>
          <a:xfrm>
            <a:off x="2404872" y="1783080"/>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R02</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8" name="R03"/>
          <p:cNvSpPr/>
          <p:nvPr/>
        </p:nvSpPr>
        <p:spPr>
          <a:xfrm>
            <a:off x="4261103" y="1783080"/>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R03</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9" name="R04"/>
          <p:cNvSpPr/>
          <p:nvPr/>
        </p:nvSpPr>
        <p:spPr>
          <a:xfrm>
            <a:off x="6117336" y="1783080"/>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R04</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0" name="R05"/>
          <p:cNvSpPr/>
          <p:nvPr/>
        </p:nvSpPr>
        <p:spPr>
          <a:xfrm>
            <a:off x="7973567" y="1783080"/>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R05</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11" name="R06"/>
          <p:cNvSpPr/>
          <p:nvPr/>
        </p:nvSpPr>
        <p:spPr>
          <a:xfrm>
            <a:off x="9829799" y="1783080"/>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2" name="R07"/>
          <p:cNvSpPr/>
          <p:nvPr/>
        </p:nvSpPr>
        <p:spPr>
          <a:xfrm>
            <a:off x="548640"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3" name="R08"/>
          <p:cNvSpPr/>
          <p:nvPr/>
        </p:nvSpPr>
        <p:spPr>
          <a:xfrm>
            <a:off x="2404872" y="2523744"/>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R08</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14" name="R09"/>
          <p:cNvSpPr/>
          <p:nvPr/>
        </p:nvSpPr>
        <p:spPr>
          <a:xfrm>
            <a:off x="4261103"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R09</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15" name="R10"/>
          <p:cNvSpPr/>
          <p:nvPr/>
        </p:nvSpPr>
        <p:spPr>
          <a:xfrm>
            <a:off x="6117336" y="2523744"/>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16" name="R11"/>
          <p:cNvSpPr/>
          <p:nvPr/>
        </p:nvSpPr>
        <p:spPr>
          <a:xfrm>
            <a:off x="7973567" y="2523744"/>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R11</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17" name="R12"/>
          <p:cNvSpPr/>
          <p:nvPr/>
        </p:nvSpPr>
        <p:spPr>
          <a:xfrm>
            <a:off x="9829799"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R12</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18" name="R13"/>
          <p:cNvSpPr/>
          <p:nvPr/>
        </p:nvSpPr>
        <p:spPr>
          <a:xfrm>
            <a:off x="548640" y="3264408"/>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R13</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19" name="R14"/>
          <p:cNvSpPr/>
          <p:nvPr/>
        </p:nvSpPr>
        <p:spPr>
          <a:xfrm>
            <a:off x="2404872" y="3264408"/>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R14</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20" name="R15"/>
          <p:cNvSpPr/>
          <p:nvPr/>
        </p:nvSpPr>
        <p:spPr>
          <a:xfrm>
            <a:off x="4261103" y="3264408"/>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R15</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21" name="R16"/>
          <p:cNvSpPr/>
          <p:nvPr/>
        </p:nvSpPr>
        <p:spPr>
          <a:xfrm>
            <a:off x="6117336" y="3264408"/>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2" name="R17"/>
          <p:cNvSpPr/>
          <p:nvPr/>
        </p:nvSpPr>
        <p:spPr>
          <a:xfrm>
            <a:off x="7973567" y="3264408"/>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3" name="R18"/>
          <p:cNvSpPr/>
          <p:nvPr/>
        </p:nvSpPr>
        <p:spPr>
          <a:xfrm>
            <a:off x="9829799" y="3264408"/>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R18</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24" name="R19"/>
          <p:cNvSpPr/>
          <p:nvPr/>
        </p:nvSpPr>
        <p:spPr>
          <a:xfrm>
            <a:off x="548640" y="4005072"/>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R19</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25" name="R20"/>
          <p:cNvSpPr/>
          <p:nvPr/>
        </p:nvSpPr>
        <p:spPr>
          <a:xfrm>
            <a:off x="2404872" y="4005072"/>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26" name="R21"/>
          <p:cNvSpPr/>
          <p:nvPr/>
        </p:nvSpPr>
        <p:spPr>
          <a:xfrm>
            <a:off x="4261103"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R21</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27" name="R22"/>
          <p:cNvSpPr/>
          <p:nvPr/>
        </p:nvSpPr>
        <p:spPr>
          <a:xfrm>
            <a:off x="6117336"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R22</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8" name="R23"/>
          <p:cNvSpPr/>
          <p:nvPr/>
        </p:nvSpPr>
        <p:spPr>
          <a:xfrm>
            <a:off x="7973567"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R23</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9" name="R24"/>
          <p:cNvSpPr/>
          <p:nvPr/>
        </p:nvSpPr>
        <p:spPr>
          <a:xfrm>
            <a:off x="9829799" y="4005072"/>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R24</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30" name="R25"/>
          <p:cNvSpPr/>
          <p:nvPr/>
        </p:nvSpPr>
        <p:spPr>
          <a:xfrm>
            <a:off x="548640"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R25</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31" name="R26"/>
          <p:cNvSpPr/>
          <p:nvPr/>
        </p:nvSpPr>
        <p:spPr>
          <a:xfrm>
            <a:off x="2404872"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32" name="R27"/>
          <p:cNvSpPr/>
          <p:nvPr/>
        </p:nvSpPr>
        <p:spPr>
          <a:xfrm>
            <a:off x="4261103"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33" name="R28"/>
          <p:cNvSpPr/>
          <p:nvPr/>
        </p:nvSpPr>
        <p:spPr>
          <a:xfrm>
            <a:off x="6117336" y="4745736"/>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R28</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34" name="R29"/>
          <p:cNvSpPr/>
          <p:nvPr/>
        </p:nvSpPr>
        <p:spPr>
          <a:xfrm>
            <a:off x="7973567" y="4745736"/>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R29</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35" name="R30"/>
          <p:cNvSpPr/>
          <p:nvPr/>
        </p:nvSpPr>
        <p:spPr>
          <a:xfrm>
            <a:off x="9829799" y="4745736"/>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R30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36" name="Legend swatch"/>
          <p:cNvSpPr/>
          <p:nvPr/>
        </p:nvSpPr>
        <p:spPr>
          <a:xfrm>
            <a:off x="548640" y="5596128"/>
            <a:ext cx="1828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gend label"/>
          <p:cNvSpPr txBox="1"/>
          <p:nvPr/>
        </p:nvSpPr>
        <p:spPr>
          <a:xfrm>
            <a:off x="822959"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allocate</a:t>
            </a:r>
          </a:p>
        </p:txBody>
      </p:sp>
      <p:sp>
        <p:nvSpPr>
          <p:cNvPr id="38" name="Legend swatch"/>
          <p:cNvSpPr/>
          <p:nvPr/>
        </p:nvSpPr>
        <p:spPr>
          <a:xfrm>
            <a:off x="2395728" y="5596128"/>
            <a:ext cx="182880" cy="182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egend label"/>
          <p:cNvSpPr txBox="1"/>
          <p:nvPr/>
        </p:nvSpPr>
        <p:spPr>
          <a:xfrm>
            <a:off x="2670048"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no on-time option</a:t>
            </a:r>
          </a:p>
        </p:txBody>
      </p:sp>
      <p:sp>
        <p:nvSpPr>
          <p:cNvPr id="40" name="Legend swatch"/>
          <p:cNvSpPr/>
          <p:nvPr/>
        </p:nvSpPr>
        <p:spPr>
          <a:xfrm>
            <a:off x="4242816" y="5596128"/>
            <a:ext cx="18288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egend label"/>
          <p:cNvSpPr txBox="1"/>
          <p:nvPr/>
        </p:nvSpPr>
        <p:spPr>
          <a:xfrm>
            <a:off x="4517136"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ask: which order</a:t>
            </a:r>
          </a:p>
        </p:txBody>
      </p:sp>
      <p:sp>
        <p:nvSpPr>
          <p:cNvPr id="42" name="Legend swatch"/>
          <p:cNvSpPr/>
          <p:nvPr/>
        </p:nvSpPr>
        <p:spPr>
          <a:xfrm>
            <a:off x="6089904" y="5596128"/>
            <a:ext cx="182880" cy="18288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egend label"/>
          <p:cNvSpPr txBox="1"/>
          <p:nvPr/>
        </p:nvSpPr>
        <p:spPr>
          <a:xfrm>
            <a:off x="6364224"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ask: missing info</a:t>
            </a:r>
          </a:p>
        </p:txBody>
      </p:sp>
      <p:sp>
        <p:nvSpPr>
          <p:cNvPr id="44" name="Legend swatch"/>
          <p:cNvSpPr/>
          <p:nvPr/>
        </p:nvSpPr>
        <p:spPr>
          <a:xfrm>
            <a:off x="7936992" y="5596128"/>
            <a:ext cx="182880" cy="182880"/>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egend label"/>
          <p:cNvSpPr txBox="1"/>
          <p:nvPr/>
        </p:nvSpPr>
        <p:spPr>
          <a:xfrm>
            <a:off x="8211312"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refuse</a:t>
            </a:r>
          </a:p>
        </p:txBody>
      </p:sp>
      <p:sp>
        <p:nvSpPr>
          <p:cNvPr id="46" name="Legend swatch"/>
          <p:cNvSpPr/>
          <p:nvPr/>
        </p:nvSpPr>
        <p:spPr>
          <a:xfrm>
            <a:off x="9784080" y="5596128"/>
            <a:ext cx="182880" cy="182880"/>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egend label"/>
          <p:cNvSpPr txBox="1"/>
          <p:nvPr/>
        </p:nvSpPr>
        <p:spPr>
          <a:xfrm>
            <a:off x="10058400"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can't answer</a:t>
            </a:r>
          </a:p>
        </p:txBody>
      </p:sp>
      <p:sp>
        <p:nvSpPr>
          <p:cNvPr id="48" name="Note"/>
          <p:cNvSpPr txBox="1"/>
          <p:nvPr/>
        </p:nvSpPr>
        <p:spPr>
          <a:xfrm>
            <a:off x="548640" y="5943600"/>
            <a:ext cx="11064240" cy="45720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52606B"/>
                </a:solidFill>
                <a:latin typeface="Calibri"/>
              </a:rPr>
              <a:t>★ changed by the instructor in v3. Shown with the morning queues; the counts by kind match the instructor's published mix. Processed in order, 11 of the 13 on-time requests stay on time (R21 is 1 day late; R25 is 1 day late); at most 12 can.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C · The language layer, measured on two inboxes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11</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pic>
        <p:nvPicPr>
          <p:cNvPr id="6" name="Picture" descr="Bars of right-behaviour rate for the rule parser, GPT-5 nano and GPT-5 mini on the official 30 and on 38 new messages, before and after round 2"/>
          <p:cNvPicPr>
            <a:picLocks noChangeAspect="1"/>
          </p:cNvPicPr>
          <p:nvPr/>
        </p:nvPicPr>
        <p:blipFill>
          <a:blip r:embed="rId2"/>
          <a:stretch>
            <a:fillRect/>
          </a:stretch>
        </p:blipFill>
        <p:spPr>
          <a:xfrm>
            <a:off x="548640" y="1645920"/>
            <a:ext cx="10424160" cy="3145536"/>
          </a:xfrm>
          <a:prstGeom prst="rect">
            <a:avLst/>
          </a:prstGeom>
        </p:spPr>
      </p:pic>
      <p:sp>
        <p:nvSpPr>
          <p:cNvPr id="7" name="Reading"/>
          <p:cNvSpPr txBox="1"/>
          <p:nvPr/>
        </p:nvSpPr>
        <p:spPr>
          <a:xfrm>
            <a:off x="548640" y="4864608"/>
            <a:ext cx="11064240" cy="1417320"/>
          </a:xfrm>
          <a:prstGeom prst="rect">
            <a:avLst/>
          </a:prstGeom>
          <a:noFill/>
        </p:spPr>
        <p:txBody>
          <a:bodyPr wrap="square" lIns="0" rIns="0" tIns="0" bIns="0" anchor="t">
            <a:noAutofit/>
          </a:bodyPr>
          <a:lstStyle/>
          <a:p>
            <a:pPr algn="l" marL="201168" indent="-201168">
              <a:lnSpc>
                <a:spcPct val="100000"/>
              </a:lnSpc>
              <a:spcBef>
                <a:spcPts val="0"/>
              </a:spcBef>
              <a:spcAft>
                <a:spcPts val="600"/>
              </a:spcAft>
              <a:buFont typeface="Arial"/>
              <a:buChar char="•"/>
            </a:pPr>
            <a:r>
              <a:rPr sz="1400" b="1" i="0">
                <a:solidFill>
                  <a:srgbClr val="14232E"/>
                </a:solidFill>
                <a:latin typeface="Calibri"/>
              </a:rPr>
              <a:t>The rule parser was built around the 30: </a:t>
            </a:r>
            <a:r>
              <a:rPr sz="1400" b="0" i="0">
                <a:solidFill>
                  <a:srgbClr val="14232E"/>
                </a:solidFill>
                <a:latin typeface="Calibri"/>
              </a:rPr>
              <a:t>100% there, 84% on new wording at first try.</a:t>
            </a:r>
          </a:p>
          <a:p>
            <a:pPr algn="l" marL="201168" indent="-201168">
              <a:lnSpc>
                <a:spcPct val="100000"/>
              </a:lnSpc>
              <a:spcBef>
                <a:spcPts val="0"/>
              </a:spcBef>
              <a:spcAft>
                <a:spcPts val="600"/>
              </a:spcAft>
              <a:buFont typeface="Arial"/>
              <a:buChar char="•"/>
            </a:pPr>
            <a:r>
              <a:rPr sz="1400" b="1" i="0">
                <a:solidFill>
                  <a:srgbClr val="14232E"/>
                </a:solidFill>
                <a:latin typeface="Calibri"/>
              </a:rPr>
              <a:t>Model choice matters: </a:t>
            </a:r>
            <a:r>
              <a:rPr sz="1400" b="0" i="0">
                <a:solidFill>
                  <a:srgbClr val="14232E"/>
                </a:solidFill>
                <a:latin typeface="Calibri"/>
              </a:rPr>
              <a:t>with the round-1 prompt GPT-5 nano gets 86% of the 30 right, GPT-5 mini 100%. After our checks nano still misreads one new phrasing (a date “sooner than planned, not said when”) in 3 runs of 3.</a:t>
            </a:r>
          </a:p>
          <a:p>
            <a:pPr algn="l" marL="201168" indent="-201168">
              <a:lnSpc>
                <a:spcPct val="100000"/>
              </a:lnSpc>
              <a:spcBef>
                <a:spcPts val="0"/>
              </a:spcBef>
              <a:spcAft>
                <a:spcPts val="0"/>
              </a:spcAft>
              <a:buFont typeface="Arial"/>
              <a:buChar char="•"/>
            </a:pPr>
            <a:r>
              <a:rPr sz="1400" b="1" i="0">
                <a:solidFill>
                  <a:srgbClr val="14232E"/>
                </a:solidFill>
                <a:latin typeface="Calibri"/>
              </a:rPr>
              <a:t>Not a clean test yet: </a:t>
            </a:r>
            <a:r>
              <a:rPr sz="1400" b="0" i="0">
                <a:solidFill>
                  <a:srgbClr val="14232E"/>
                </a:solidFill>
                <a:latin typeface="Calibri"/>
              </a:rPr>
              <a:t>the 38 new messages are AI-written and two of our fixes came from errors seen on them. The held-out inbox will be written by teammates.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D · Promised dates, and a six-day week</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12</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sp>
        <p:nvSpPr>
          <p:cNvPr id="6" name="Label"/>
          <p:cNvSpPr txBox="1"/>
          <p:nvPr/>
        </p:nvSpPr>
        <p:spPr>
          <a:xfrm>
            <a:off x="548640" y="1783080"/>
            <a:ext cx="54864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QUOTING TWO DATES · 1,200 BATCHES, LATENESS RULE</a:t>
            </a:r>
          </a:p>
        </p:txBody>
      </p:sp>
      <p:sp>
        <p:nvSpPr>
          <p:cNvPr id="7" name="Stat"/>
          <p:cNvSpPr txBox="1"/>
          <p:nvPr/>
        </p:nvSpPr>
        <p:spPr>
          <a:xfrm>
            <a:off x="548640" y="2148840"/>
            <a:ext cx="512064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94%</a:t>
            </a:r>
          </a:p>
        </p:txBody>
      </p:sp>
      <p:sp>
        <p:nvSpPr>
          <p:cNvPr id="8" name="Stat label"/>
          <p:cNvSpPr txBox="1"/>
          <p:nvPr/>
        </p:nvSpPr>
        <p:spPr>
          <a:xfrm>
            <a:off x="548640" y="2788920"/>
            <a:ext cx="5120640" cy="82296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of expected dates hold. Every miss in normal runs is a defect rework.</a:t>
            </a:r>
          </a:p>
        </p:txBody>
      </p:sp>
      <p:sp>
        <p:nvSpPr>
          <p:cNvPr id="9" name="Stat"/>
          <p:cNvSpPr txBox="1"/>
          <p:nvPr/>
        </p:nvSpPr>
        <p:spPr>
          <a:xfrm>
            <a:off x="548640" y="3749039"/>
            <a:ext cx="512064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100%</a:t>
            </a:r>
          </a:p>
        </p:txBody>
      </p:sp>
      <p:sp>
        <p:nvSpPr>
          <p:cNvPr id="10" name="Stat label"/>
          <p:cNvSpPr txBox="1"/>
          <p:nvPr/>
        </p:nvSpPr>
        <p:spPr>
          <a:xfrm>
            <a:off x="548640" y="4389120"/>
            <a:ext cx="5120640" cy="82296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of “if reworked” dates hold (99.2% with a workshop closed). They are 1.8 days later on average.</a:t>
            </a:r>
          </a:p>
        </p:txBody>
      </p:sp>
      <p:sp>
        <p:nvSpPr>
          <p:cNvPr id="11" name="Label"/>
          <p:cNvSpPr txBox="1"/>
          <p:nvPr/>
        </p:nvSpPr>
        <p:spPr>
          <a:xfrm>
            <a:off x="6309360" y="1783080"/>
            <a:ext cx="54864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SUNDAYS OFF, AS THE PRIMER SAYS · LATE BATCHES %</a:t>
            </a:r>
          </a:p>
        </p:txBody>
      </p:sp>
      <p:graphicFrame>
        <p:nvGraphicFramePr>
          <p:cNvPr id="12" name="Sundays"/>
          <p:cNvGraphicFramePr>
            <a:graphicFrameLocks noGrp="1"/>
          </p:cNvGraphicFramePr>
          <p:nvPr/>
        </p:nvGraphicFramePr>
        <p:xfrm>
          <a:off x="6309360" y="2148840"/>
          <a:ext cx="5330952" cy="2057400"/>
        </p:xfrm>
        <a:graphic>
          <a:graphicData uri="http://schemas.openxmlformats.org/drawingml/2006/table">
            <a:tbl>
              <a:tblPr>
                <a:tableStyleId>{2D5ABB26-0587-4C30-8999-92F81FD0307C}</a:tableStyleId>
              </a:tblPr>
              <a:tblGrid>
                <a:gridCol w="2788920"/>
                <a:gridCol w="1417320"/>
                <a:gridCol w="1124712"/>
              </a:tblGrid>
              <a:tr h="411480">
                <a:tc>
                  <a:txBody>
                    <a:bodyPr wrap="square"/>
                    <a:lstStyle/>
                    <a:p>
                      <a:pPr algn="l"/>
                      <a:r>
                        <a:rPr sz="1300" b="1">
                          <a:solidFill>
                            <a:srgbClr val="FFFFFF"/>
                          </a:solidFill>
                          <a:latin typeface="Calibri"/>
                        </a:rPr>
                        <a:t>Policy</a:t>
                      </a:r>
                    </a:p>
                  </a:txBody>
                  <a:tcPr marL="73152" marR="73152" marT="18288" marB="18288" anchor="ctr">
                    <a:solidFill>
                      <a:srgbClr val="0F2B3A"/>
                    </a:solidFill>
                  </a:tcPr>
                </a:tc>
                <a:tc>
                  <a:txBody>
                    <a:bodyPr wrap="square"/>
                    <a:lstStyle/>
                    <a:p>
                      <a:pPr algn="r"/>
                      <a:r>
                        <a:rPr sz="1300" b="1">
                          <a:solidFill>
                            <a:srgbClr val="FFFFFF"/>
                          </a:solidFill>
                          <a:latin typeface="Calibri"/>
                        </a:rPr>
                        <a:t>Seven-day week</a:t>
                      </a:r>
                    </a:p>
                  </a:txBody>
                  <a:tcPr marL="73152" marR="73152" marT="18288" marB="18288" anchor="ctr">
                    <a:solidFill>
                      <a:srgbClr val="0F2B3A"/>
                    </a:solidFill>
                  </a:tcPr>
                </a:tc>
                <a:tc>
                  <a:txBody>
                    <a:bodyPr wrap="square"/>
                    <a:lstStyle/>
                    <a:p>
                      <a:pPr algn="r"/>
                      <a:r>
                        <a:rPr sz="1300" b="1">
                          <a:solidFill>
                            <a:srgbClr val="FFFFFF"/>
                          </a:solidFill>
                          <a:latin typeface="Calibri"/>
                        </a:rPr>
                        <a:t>Sundays off</a:t>
                      </a:r>
                    </a:p>
                  </a:txBody>
                  <a:tcPr marL="73152" marR="73152" marT="18288" marB="18288" anchor="ctr">
                    <a:solidFill>
                      <a:srgbClr val="0F2B3A"/>
                    </a:solidFill>
                  </a:tcPr>
                </a:tc>
              </a:tr>
              <a:tr h="411480">
                <a:tc>
                  <a:txBody>
                    <a:bodyPr wrap="square"/>
                    <a:lstStyle/>
                    <a:p>
                      <a:pPr algn="l"/>
                      <a:r>
                        <a:rPr sz="1300" b="0">
                          <a:solidFill>
                            <a:srgbClr val="14232E"/>
                          </a:solidFill>
                          <a:latin typeface="Calibri"/>
                        </a:rPr>
                        <a:t>random</a:t>
                      </a:r>
                    </a:p>
                  </a:txBody>
                  <a:tcPr marL="73152" marR="73152" marT="18288" marB="18288" anchor="ctr">
                    <a:solidFill>
                      <a:srgbClr val="FFFFFF"/>
                    </a:solidFill>
                  </a:tcPr>
                </a:tc>
                <a:tc>
                  <a:txBody>
                    <a:bodyPr wrap="square"/>
                    <a:lstStyle/>
                    <a:p>
                      <a:pPr algn="r"/>
                      <a:r>
                        <a:rPr sz="1300" b="0">
                          <a:solidFill>
                            <a:srgbClr val="14232E"/>
                          </a:solidFill>
                          <a:latin typeface="Calibri"/>
                        </a:rPr>
                        <a:t>34.2</a:t>
                      </a:r>
                    </a:p>
                  </a:txBody>
                  <a:tcPr marL="73152" marR="73152" marT="18288" marB="18288" anchor="ctr">
                    <a:solidFill>
                      <a:srgbClr val="FFFFFF"/>
                    </a:solidFill>
                  </a:tcPr>
                </a:tc>
                <a:tc>
                  <a:txBody>
                    <a:bodyPr wrap="square"/>
                    <a:lstStyle/>
                    <a:p>
                      <a:pPr algn="r"/>
                      <a:r>
                        <a:rPr sz="1300" b="0">
                          <a:solidFill>
                            <a:srgbClr val="14232E"/>
                          </a:solidFill>
                          <a:latin typeface="Calibri"/>
                        </a:rPr>
                        <a:t>50.2</a:t>
                      </a:r>
                    </a:p>
                  </a:txBody>
                  <a:tcPr marL="73152" marR="73152" marT="18288" marB="18288" anchor="ctr">
                    <a:solidFill>
                      <a:srgbClr val="FFFFFF"/>
                    </a:solidFill>
                  </a:tcPr>
                </a:tc>
              </a:tr>
              <a:tr h="411480">
                <a:tc>
                  <a:txBody>
                    <a:bodyPr wrap="square"/>
                    <a:lstStyle/>
                    <a:p>
                      <a:pPr algn="l"/>
                      <a:r>
                        <a:rPr sz="1300" b="0">
                          <a:solidFill>
                            <a:srgbClr val="14232E"/>
                          </a:solidFill>
                          <a:latin typeface="Calibri"/>
                        </a:rPr>
                        <a:t>earliest_finish  (simple rule)</a:t>
                      </a:r>
                    </a:p>
                  </a:txBody>
                  <a:tcPr marL="73152" marR="73152" marT="18288" marB="18288" anchor="ctr">
                    <a:solidFill>
                      <a:srgbClr val="FDEBE3"/>
                    </a:solidFill>
                  </a:tcPr>
                </a:tc>
                <a:tc>
                  <a:txBody>
                    <a:bodyPr wrap="square"/>
                    <a:lstStyle/>
                    <a:p>
                      <a:pPr algn="r"/>
                      <a:r>
                        <a:rPr sz="1300" b="0">
                          <a:solidFill>
                            <a:srgbClr val="14232E"/>
                          </a:solidFill>
                          <a:latin typeface="Calibri"/>
                        </a:rPr>
                        <a:t>1.7</a:t>
                      </a:r>
                    </a:p>
                  </a:txBody>
                  <a:tcPr marL="73152" marR="73152" marT="18288" marB="18288" anchor="ctr">
                    <a:solidFill>
                      <a:srgbClr val="FDEBE3"/>
                    </a:solidFill>
                  </a:tcPr>
                </a:tc>
                <a:tc>
                  <a:txBody>
                    <a:bodyPr wrap="square"/>
                    <a:lstStyle/>
                    <a:p>
                      <a:pPr algn="r"/>
                      <a:r>
                        <a:rPr sz="1300" b="0">
                          <a:solidFill>
                            <a:srgbClr val="14232E"/>
                          </a:solidFill>
                          <a:latin typeface="Calibri"/>
                        </a:rPr>
                        <a:t>3.7</a:t>
                      </a:r>
                    </a:p>
                  </a:txBody>
                  <a:tcPr marL="73152" marR="73152" marT="18288" marB="18288" anchor="ctr">
                    <a:solidFill>
                      <a:srgbClr val="FDEBE3"/>
                    </a:solidFill>
                  </a:tcPr>
                </a:tc>
              </a:tr>
              <a:tr h="411480">
                <a:tc>
                  <a:txBody>
                    <a:bodyPr wrap="square"/>
                    <a:lstStyle/>
                    <a:p>
                      <a:pPr algn="l"/>
                      <a:r>
                        <a:rPr sz="1300" b="1">
                          <a:solidFill>
                            <a:srgbClr val="14232E"/>
                          </a:solidFill>
                          <a:latin typeface="Calibri"/>
                        </a:rPr>
                        <a:t>lateness rule  (ours)</a:t>
                      </a:r>
                    </a:p>
                  </a:txBody>
                  <a:tcPr marL="73152" marR="73152" marT="18288" marB="18288" anchor="ctr">
                    <a:solidFill>
                      <a:srgbClr val="E6F0FC"/>
                    </a:solidFill>
                  </a:tcPr>
                </a:tc>
                <a:tc>
                  <a:txBody>
                    <a:bodyPr wrap="square"/>
                    <a:lstStyle/>
                    <a:p>
                      <a:pPr algn="r"/>
                      <a:r>
                        <a:rPr sz="1300" b="1">
                          <a:solidFill>
                            <a:srgbClr val="14232E"/>
                          </a:solidFill>
                          <a:latin typeface="Calibri"/>
                        </a:rPr>
                        <a:t>1.7</a:t>
                      </a:r>
                    </a:p>
                  </a:txBody>
                  <a:tcPr marL="73152" marR="73152" marT="18288" marB="18288" anchor="ctr">
                    <a:solidFill>
                      <a:srgbClr val="E6F0FC"/>
                    </a:solidFill>
                  </a:tcPr>
                </a:tc>
                <a:tc>
                  <a:txBody>
                    <a:bodyPr wrap="square"/>
                    <a:lstStyle/>
                    <a:p>
                      <a:pPr algn="r"/>
                      <a:r>
                        <a:rPr sz="1300" b="1">
                          <a:solidFill>
                            <a:srgbClr val="14232E"/>
                          </a:solidFill>
                          <a:latin typeface="Calibri"/>
                        </a:rPr>
                        <a:t>2.1</a:t>
                      </a:r>
                    </a:p>
                  </a:txBody>
                  <a:tcPr marL="73152" marR="73152" marT="18288" marB="18288" anchor="ctr">
                    <a:solidFill>
                      <a:srgbClr val="E6F0FC"/>
                    </a:solidFill>
                  </a:tcPr>
                </a:tc>
              </a:tr>
              <a:tr h="411480">
                <a:tc>
                  <a:txBody>
                    <a:bodyPr wrap="square"/>
                    <a:lstStyle/>
                    <a:p>
                      <a:pPr algn="l"/>
                      <a:r>
                        <a:rPr sz="1300" b="1">
                          <a:solidFill>
                            <a:srgbClr val="14232E"/>
                          </a:solidFill>
                          <a:latin typeface="Calibri"/>
                        </a:rPr>
                        <a:t>lateness rule, estimate knows Sundays</a:t>
                      </a:r>
                    </a:p>
                  </a:txBody>
                  <a:tcPr marL="73152" marR="73152" marT="18288" marB="18288" anchor="ctr">
                    <a:solidFill>
                      <a:srgbClr val="E6F0FC"/>
                    </a:solidFill>
                  </a:tcPr>
                </a:tc>
                <a:tc>
                  <a:txBody>
                    <a:bodyPr wrap="square"/>
                    <a:lstStyle/>
                    <a:p>
                      <a:pPr algn="r"/>
                      <a:r>
                        <a:rPr sz="1300" b="1">
                          <a:solidFill>
                            <a:srgbClr val="14232E"/>
                          </a:solidFill>
                          <a:latin typeface="Calibri"/>
                        </a:rPr>
                        <a:t>1.7</a:t>
                      </a:r>
                    </a:p>
                  </a:txBody>
                  <a:tcPr marL="73152" marR="73152" marT="18288" marB="18288" anchor="ctr">
                    <a:solidFill>
                      <a:srgbClr val="E6F0FC"/>
                    </a:solidFill>
                  </a:tcPr>
                </a:tc>
                <a:tc>
                  <a:txBody>
                    <a:bodyPr wrap="square"/>
                    <a:lstStyle/>
                    <a:p>
                      <a:pPr algn="r"/>
                      <a:r>
                        <a:rPr sz="1300" b="1">
                          <a:solidFill>
                            <a:srgbClr val="14232E"/>
                          </a:solidFill>
                          <a:latin typeface="Calibri"/>
                        </a:rPr>
                        <a:t>1.8</a:t>
                      </a:r>
                    </a:p>
                  </a:txBody>
                  <a:tcPr marL="73152" marR="73152" marT="18288" marB="18288" anchor="ctr">
                    <a:solidFill>
                      <a:srgbClr val="E6F0FC"/>
                    </a:solidFill>
                  </a:tcPr>
                </a:tc>
              </a:tr>
            </a:tbl>
          </a:graphicData>
        </a:graphic>
      </p:graphicFrame>
      <p:sp>
        <p:nvSpPr>
          <p:cNvPr id="13" name="Note"/>
          <p:cNvSpPr txBox="1"/>
          <p:nvPr/>
        </p:nvSpPr>
        <p:spPr>
          <a:xfrm>
            <a:off x="6309360" y="4389120"/>
            <a:ext cx="5330952" cy="1463040"/>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52606B"/>
                </a:solidFill>
                <a:latin typeface="Calibri"/>
              </a:rPr>
              <a:t>Same orders, same defect draws; only change: no work on Sundays. The allocators are not told. With the Sunday rule switched off the variant reproduces simulate.py exactly.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Subcontracting Desk · Sprint 1</dc:title>
  <dc:subject>Sprint 1 review, 16 October 2026 (round-2 update)</dc:subject>
  <dc:creator>DSS5105 Track 2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